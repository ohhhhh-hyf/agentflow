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Lst>
  <p:notesMasterIdLst>
    <p:notesMasterId r:id="rId42"/>
  </p:notesMasterIdLst>
  <p:sldIdLst>
    <p:sldId id="677" r:id="rId3"/>
    <p:sldId id="488" r:id="rId4"/>
    <p:sldId id="703" r:id="rId5"/>
    <p:sldId id="392" r:id="rId6"/>
    <p:sldId id="704" r:id="rId7"/>
    <p:sldId id="710" r:id="rId8"/>
    <p:sldId id="711" r:id="rId9"/>
    <p:sldId id="712" r:id="rId10"/>
    <p:sldId id="407" r:id="rId11"/>
    <p:sldId id="394" r:id="rId12"/>
    <p:sldId id="713" r:id="rId13"/>
    <p:sldId id="714" r:id="rId14"/>
    <p:sldId id="715" r:id="rId15"/>
    <p:sldId id="716" r:id="rId16"/>
    <p:sldId id="402" r:id="rId17"/>
    <p:sldId id="717" r:id="rId18"/>
    <p:sldId id="718" r:id="rId19"/>
    <p:sldId id="719" r:id="rId20"/>
    <p:sldId id="720" r:id="rId21"/>
    <p:sldId id="721" r:id="rId22"/>
    <p:sldId id="722" r:id="rId23"/>
    <p:sldId id="723" r:id="rId24"/>
    <p:sldId id="724" r:id="rId25"/>
    <p:sldId id="705" r:id="rId26"/>
    <p:sldId id="725" r:id="rId27"/>
    <p:sldId id="726" r:id="rId28"/>
    <p:sldId id="727" r:id="rId29"/>
    <p:sldId id="728" r:id="rId30"/>
    <p:sldId id="708" r:id="rId31"/>
    <p:sldId id="729" r:id="rId32"/>
    <p:sldId id="731" r:id="rId33"/>
    <p:sldId id="709" r:id="rId34"/>
    <p:sldId id="732" r:id="rId35"/>
    <p:sldId id="733" r:id="rId36"/>
    <p:sldId id="734" r:id="rId37"/>
    <p:sldId id="735" r:id="rId38"/>
    <p:sldId id="736" r:id="rId39"/>
    <p:sldId id="490" r:id="rId40"/>
    <p:sldId id="737"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68">
          <p15:clr>
            <a:srgbClr val="A4A3A4"/>
          </p15:clr>
        </p15:guide>
        <p15:guide id="2" pos="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C8"/>
    <a:srgbClr val="464646"/>
    <a:srgbClr val="DC5B3E"/>
    <a:srgbClr val="7088DB"/>
    <a:srgbClr val="CF5B1B"/>
    <a:srgbClr val="38425D"/>
    <a:srgbClr val="4472C4"/>
    <a:srgbClr val="DFF0F5"/>
    <a:srgbClr val="159470"/>
    <a:srgbClr val="1573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16" d="100"/>
          <a:sy n="116" d="100"/>
        </p:scale>
        <p:origin x="-390" y="-96"/>
      </p:cViewPr>
      <p:guideLst>
        <p:guide orient="horz" pos="368"/>
        <p:guide pos="98"/>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image" Target="../media/image38.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image" Target="../media/image41.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2025/7/21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2" name="圆角矩形 1">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3" name="圆角矩形 2">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4" name="圆角矩形 3">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5" name="圆角矩形 4">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6" name="圆角矩形 5">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3_标题幻灯片">
    <p:spTree>
      <p:nvGrpSpPr>
        <p:cNvPr id="1" name=""/>
        <p:cNvGrpSpPr/>
        <p:nvPr/>
      </p:nvGrpSpPr>
      <p:grpSpPr>
        <a:xfrm>
          <a:off x="0" y="0"/>
          <a:ext cx="0" cy="0"/>
          <a:chOff x="0" y="0"/>
          <a:chExt cx="0" cy="0"/>
        </a:xfrm>
      </p:grpSpPr>
      <p:sp>
        <p:nvSpPr>
          <p:cNvPr id="10" name="矩形 9"/>
          <p:cNvSpPr/>
          <p:nvPr userDrawn="1"/>
        </p:nvSpPr>
        <p:spPr>
          <a:xfrm>
            <a:off x="0" y="5733256"/>
            <a:ext cx="12192000" cy="1124744"/>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11" name="矩形 10"/>
          <p:cNvSpPr/>
          <p:nvPr userDrawn="1"/>
        </p:nvSpPr>
        <p:spPr>
          <a:xfrm>
            <a:off x="0" y="5157192"/>
            <a:ext cx="12192000" cy="1700808"/>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
        <p:nvSpPr>
          <p:cNvPr id="12" name="矩形 11"/>
          <p:cNvSpPr/>
          <p:nvPr userDrawn="1"/>
        </p:nvSpPr>
        <p:spPr>
          <a:xfrm>
            <a:off x="0" y="4615840"/>
            <a:ext cx="12192000" cy="2242160"/>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7_标题幻灯片">
    <p:spTree>
      <p:nvGrpSpPr>
        <p:cNvPr id="1" name=""/>
        <p:cNvGrpSpPr/>
        <p:nvPr/>
      </p:nvGrpSpPr>
      <p:grpSpPr>
        <a:xfrm>
          <a:off x="0" y="0"/>
          <a:ext cx="0" cy="0"/>
          <a:chOff x="0" y="0"/>
          <a:chExt cx="0" cy="0"/>
        </a:xfrm>
      </p:grpSpPr>
      <p:sp>
        <p:nvSpPr>
          <p:cNvPr id="12" name="矩形 11"/>
          <p:cNvSpPr/>
          <p:nvPr userDrawn="1"/>
        </p:nvSpPr>
        <p:spPr>
          <a:xfrm>
            <a:off x="0" y="4057902"/>
            <a:ext cx="12192000" cy="2800097"/>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4_标题幻灯片">
    <p:spTree>
      <p:nvGrpSpPr>
        <p:cNvPr id="1" name=""/>
        <p:cNvGrpSpPr/>
        <p:nvPr/>
      </p:nvGrpSpPr>
      <p:grpSpPr>
        <a:xfrm>
          <a:off x="0" y="0"/>
          <a:ext cx="0" cy="0"/>
          <a:chOff x="0" y="0"/>
          <a:chExt cx="0" cy="0"/>
        </a:xfrm>
      </p:grpSpPr>
      <p:sp>
        <p:nvSpPr>
          <p:cNvPr id="11" name="矩形 10"/>
          <p:cNvSpPr/>
          <p:nvPr userDrawn="1"/>
        </p:nvSpPr>
        <p:spPr>
          <a:xfrm>
            <a:off x="0" y="3505783"/>
            <a:ext cx="12192000" cy="3352216"/>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8_标题幻灯片">
    <p:spTree>
      <p:nvGrpSpPr>
        <p:cNvPr id="1" name=""/>
        <p:cNvGrpSpPr/>
        <p:nvPr/>
      </p:nvGrpSpPr>
      <p:grpSpPr>
        <a:xfrm>
          <a:off x="0" y="0"/>
          <a:ext cx="0" cy="0"/>
          <a:chOff x="0" y="0"/>
          <a:chExt cx="0" cy="0"/>
        </a:xfrm>
      </p:grpSpPr>
      <p:sp>
        <p:nvSpPr>
          <p:cNvPr id="13" name="矩形 12"/>
          <p:cNvSpPr/>
          <p:nvPr userDrawn="1"/>
        </p:nvSpPr>
        <p:spPr>
          <a:xfrm>
            <a:off x="0" y="2953922"/>
            <a:ext cx="12192000" cy="3904078"/>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5_标题幻灯片">
    <p:spTree>
      <p:nvGrpSpPr>
        <p:cNvPr id="1" name=""/>
        <p:cNvGrpSpPr/>
        <p:nvPr/>
      </p:nvGrpSpPr>
      <p:grpSpPr>
        <a:xfrm>
          <a:off x="0" y="0"/>
          <a:ext cx="0" cy="0"/>
          <a:chOff x="0" y="0"/>
          <a:chExt cx="0" cy="0"/>
        </a:xfrm>
      </p:grpSpPr>
      <p:sp>
        <p:nvSpPr>
          <p:cNvPr id="12" name="矩形 11"/>
          <p:cNvSpPr/>
          <p:nvPr userDrawn="1"/>
        </p:nvSpPr>
        <p:spPr>
          <a:xfrm>
            <a:off x="0" y="2413194"/>
            <a:ext cx="12192000" cy="4444806"/>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4" name="圆角矩形 3">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6" name="圆角矩形 5">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8" name="圆角矩形 7">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0" name="矩形 9"/>
          <p:cNvSpPr/>
          <p:nvPr userDrawn="1"/>
        </p:nvSpPr>
        <p:spPr>
          <a:xfrm>
            <a:off x="0" y="1874469"/>
            <a:ext cx="12192000" cy="4983529"/>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3" name="圆角矩形 2">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4" name="圆角矩形 3">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6" name="圆角矩形 5">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9" name="矩形 8"/>
          <p:cNvSpPr/>
          <p:nvPr userDrawn="1"/>
        </p:nvSpPr>
        <p:spPr>
          <a:xfrm>
            <a:off x="0" y="1287169"/>
            <a:ext cx="12192000" cy="5570829"/>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
        <p:nvSpPr>
          <p:cNvPr id="3" name="圆角矩形 2">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4" name="圆角矩形 3">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6" name="圆角矩形 5">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a:hlinkClick r:id="rId2" action="ppaction://hlinksldjump"/>
          </p:cNvPr>
          <p:cNvSpPr/>
          <p:nvPr userDrawn="1"/>
        </p:nvSpPr>
        <p:spPr>
          <a:xfrm>
            <a:off x="633412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考点一</a:t>
            </a:r>
            <a:endParaRPr lang="zh-CN" altLang="en-US" sz="1400">
              <a:ln>
                <a:solidFill>
                  <a:schemeClr val="bg1"/>
                </a:solidFill>
              </a:ln>
              <a:solidFill>
                <a:schemeClr val="bg1"/>
              </a:solidFill>
            </a:endParaRPr>
          </a:p>
        </p:txBody>
      </p:sp>
      <p:sp>
        <p:nvSpPr>
          <p:cNvPr id="4" name="圆角矩形 3">
            <a:hlinkClick r:id="rId3" action="ppaction://hlinksldjump"/>
          </p:cNvPr>
          <p:cNvSpPr/>
          <p:nvPr userDrawn="1"/>
        </p:nvSpPr>
        <p:spPr>
          <a:xfrm>
            <a:off x="744156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考点二</a:t>
            </a:r>
            <a:endParaRPr lang="zh-CN" altLang="en-US" sz="1400">
              <a:ln>
                <a:solidFill>
                  <a:schemeClr val="bg1"/>
                </a:solidFill>
              </a:ln>
              <a:solidFill>
                <a:schemeClr val="bg1"/>
              </a:solidFill>
            </a:endParaRPr>
          </a:p>
        </p:txBody>
      </p:sp>
      <p:sp>
        <p:nvSpPr>
          <p:cNvPr id="5" name="圆角矩形 4">
            <a:hlinkClick r:id="rId3" action="ppaction://hlinksldjump"/>
          </p:cNvPr>
          <p:cNvSpPr/>
          <p:nvPr userDrawn="1"/>
        </p:nvSpPr>
        <p:spPr>
          <a:xfrm>
            <a:off x="854900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考点三</a:t>
            </a:r>
            <a:endParaRPr lang="zh-CN" altLang="en-US" sz="1400">
              <a:ln>
                <a:solidFill>
                  <a:schemeClr val="bg1"/>
                </a:solidFill>
              </a:ln>
              <a:solidFill>
                <a:schemeClr val="bg1"/>
              </a:solidFill>
            </a:endParaRPr>
          </a:p>
        </p:txBody>
      </p:sp>
      <p:sp>
        <p:nvSpPr>
          <p:cNvPr id="6" name="圆角矩形 5">
            <a:hlinkClick r:id="" action="ppaction://noaction"/>
          </p:cNvPr>
          <p:cNvSpPr/>
          <p:nvPr userDrawn="1"/>
        </p:nvSpPr>
        <p:spPr>
          <a:xfrm>
            <a:off x="965644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考点四</a:t>
            </a:r>
            <a:endParaRPr lang="zh-CN" altLang="en-US" sz="1400">
              <a:ln>
                <a:solidFill>
                  <a:schemeClr val="bg1"/>
                </a:solidFill>
              </a:ln>
              <a:solidFill>
                <a:schemeClr val="bg1"/>
              </a:solidFill>
            </a:endParaRPr>
          </a:p>
        </p:txBody>
      </p:sp>
      <p:sp>
        <p:nvSpPr>
          <p:cNvPr id="7" name="圆角矩形 6">
            <a:hlinkClick r:id="" action="ppaction://noaction"/>
          </p:cNvPr>
          <p:cNvSpPr/>
          <p:nvPr userDrawn="1"/>
        </p:nvSpPr>
        <p:spPr>
          <a:xfrm>
            <a:off x="10763885" y="6512560"/>
            <a:ext cx="1005840"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考点五</a:t>
            </a:r>
            <a:endParaRPr lang="zh-CN" altLang="en-US" sz="140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9_标题幻灯片">
    <p:spTree>
      <p:nvGrpSpPr>
        <p:cNvPr id="1" name=""/>
        <p:cNvGrpSpPr/>
        <p:nvPr/>
      </p:nvGrpSpPr>
      <p:grpSpPr>
        <a:xfrm>
          <a:off x="0" y="0"/>
          <a:ext cx="0" cy="0"/>
          <a:chOff x="0" y="0"/>
          <a:chExt cx="0" cy="0"/>
        </a:xfrm>
      </p:grpSpPr>
      <p:sp>
        <p:nvSpPr>
          <p:cNvPr id="4" name="矩形 3"/>
          <p:cNvSpPr/>
          <p:nvPr userDrawn="1"/>
        </p:nvSpPr>
        <p:spPr>
          <a:xfrm>
            <a:off x="0" y="5733256"/>
            <a:ext cx="12192000" cy="1124744"/>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28557348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0_标题幻灯片">
    <p:spTree>
      <p:nvGrpSpPr>
        <p:cNvPr id="1" name=""/>
        <p:cNvGrpSpPr/>
        <p:nvPr/>
      </p:nvGrpSpPr>
      <p:grpSpPr>
        <a:xfrm>
          <a:off x="0" y="0"/>
          <a:ext cx="0" cy="0"/>
          <a:chOff x="0" y="0"/>
          <a:chExt cx="0" cy="0"/>
        </a:xfrm>
      </p:grpSpPr>
      <p:sp>
        <p:nvSpPr>
          <p:cNvPr id="4" name="矩形 3"/>
          <p:cNvSpPr/>
          <p:nvPr userDrawn="1"/>
        </p:nvSpPr>
        <p:spPr>
          <a:xfrm>
            <a:off x="0" y="5157192"/>
            <a:ext cx="12192000" cy="1700808"/>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452971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11_标题幻灯片">
    <p:spTree>
      <p:nvGrpSpPr>
        <p:cNvPr id="1" name=""/>
        <p:cNvGrpSpPr/>
        <p:nvPr/>
      </p:nvGrpSpPr>
      <p:grpSpPr>
        <a:xfrm>
          <a:off x="0" y="0"/>
          <a:ext cx="0" cy="0"/>
          <a:chOff x="0" y="0"/>
          <a:chExt cx="0" cy="0"/>
        </a:xfrm>
      </p:grpSpPr>
      <p:sp>
        <p:nvSpPr>
          <p:cNvPr id="4" name="矩形 3"/>
          <p:cNvSpPr/>
          <p:nvPr userDrawn="1"/>
        </p:nvSpPr>
        <p:spPr>
          <a:xfrm>
            <a:off x="0" y="4615840"/>
            <a:ext cx="12192000" cy="2242160"/>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1808356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12_标题幻灯片">
    <p:spTree>
      <p:nvGrpSpPr>
        <p:cNvPr id="1" name=""/>
        <p:cNvGrpSpPr/>
        <p:nvPr/>
      </p:nvGrpSpPr>
      <p:grpSpPr>
        <a:xfrm>
          <a:off x="0" y="0"/>
          <a:ext cx="0" cy="0"/>
          <a:chOff x="0" y="0"/>
          <a:chExt cx="0" cy="0"/>
        </a:xfrm>
      </p:grpSpPr>
      <p:sp>
        <p:nvSpPr>
          <p:cNvPr id="4" name="矩形 3"/>
          <p:cNvSpPr/>
          <p:nvPr userDrawn="1"/>
        </p:nvSpPr>
        <p:spPr>
          <a:xfrm>
            <a:off x="0" y="4057902"/>
            <a:ext cx="12192000" cy="2800097"/>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29516992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13_标题幻灯片">
    <p:spTree>
      <p:nvGrpSpPr>
        <p:cNvPr id="1" name=""/>
        <p:cNvGrpSpPr/>
        <p:nvPr/>
      </p:nvGrpSpPr>
      <p:grpSpPr>
        <a:xfrm>
          <a:off x="0" y="0"/>
          <a:ext cx="0" cy="0"/>
          <a:chOff x="0" y="0"/>
          <a:chExt cx="0" cy="0"/>
        </a:xfrm>
      </p:grpSpPr>
      <p:sp>
        <p:nvSpPr>
          <p:cNvPr id="4" name="矩形 3"/>
          <p:cNvSpPr/>
          <p:nvPr userDrawn="1"/>
        </p:nvSpPr>
        <p:spPr>
          <a:xfrm>
            <a:off x="0" y="3505783"/>
            <a:ext cx="12192000" cy="3352216"/>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26392214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4_标题幻灯片">
    <p:spTree>
      <p:nvGrpSpPr>
        <p:cNvPr id="1" name=""/>
        <p:cNvGrpSpPr/>
        <p:nvPr/>
      </p:nvGrpSpPr>
      <p:grpSpPr>
        <a:xfrm>
          <a:off x="0" y="0"/>
          <a:ext cx="0" cy="0"/>
          <a:chOff x="0" y="0"/>
          <a:chExt cx="0" cy="0"/>
        </a:xfrm>
      </p:grpSpPr>
      <p:sp>
        <p:nvSpPr>
          <p:cNvPr id="4" name="矩形 3"/>
          <p:cNvSpPr/>
          <p:nvPr userDrawn="1"/>
        </p:nvSpPr>
        <p:spPr>
          <a:xfrm>
            <a:off x="0" y="2953922"/>
            <a:ext cx="12192000" cy="3904078"/>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3270342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5_标题幻灯片">
    <p:spTree>
      <p:nvGrpSpPr>
        <p:cNvPr id="1" name=""/>
        <p:cNvGrpSpPr/>
        <p:nvPr/>
      </p:nvGrpSpPr>
      <p:grpSpPr>
        <a:xfrm>
          <a:off x="0" y="0"/>
          <a:ext cx="0" cy="0"/>
          <a:chOff x="0" y="0"/>
          <a:chExt cx="0" cy="0"/>
        </a:xfrm>
      </p:grpSpPr>
      <p:sp>
        <p:nvSpPr>
          <p:cNvPr id="4" name="矩形 3"/>
          <p:cNvSpPr/>
          <p:nvPr userDrawn="1"/>
        </p:nvSpPr>
        <p:spPr>
          <a:xfrm>
            <a:off x="0" y="2413194"/>
            <a:ext cx="12192000" cy="4444806"/>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41653625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3" name="矩形 2"/>
          <p:cNvSpPr/>
          <p:nvPr userDrawn="1"/>
        </p:nvSpPr>
        <p:spPr>
          <a:xfrm>
            <a:off x="0" y="1874469"/>
            <a:ext cx="12192000" cy="4983529"/>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30205385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3" name="矩形 2"/>
          <p:cNvSpPr/>
          <p:nvPr userDrawn="1"/>
        </p:nvSpPr>
        <p:spPr>
          <a:xfrm>
            <a:off x="0" y="1287169"/>
            <a:ext cx="12192000" cy="5570829"/>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ysClr val="windowText" lastClr="000000"/>
                </a:solidFill>
              </a:ln>
            </a:endParaRPr>
          </a:p>
        </p:txBody>
      </p:sp>
    </p:spTree>
    <p:extLst>
      <p:ext uri="{BB962C8B-B14F-4D97-AF65-F5344CB8AC3E}">
        <p14:creationId xmlns:p14="http://schemas.microsoft.com/office/powerpoint/2010/main" val="29933967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8F4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92591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804665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99360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16733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350284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734198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907683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006276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354198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248794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74725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1"/>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41"/>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62642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2.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61" r:id="rId2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2025/7/21</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061125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4.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3.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oleObject" Target="../embeddings/oleObject1.bin"/><Relationship Id="rId7" Type="http://schemas.openxmlformats.org/officeDocument/2006/relationships/package" Target="../embeddings/Microsoft_Word___2.docx"/><Relationship Id="rId2" Type="http://schemas.openxmlformats.org/officeDocument/2006/relationships/slideLayout" Target="../slideLayouts/slideLayout23.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8.emf"/><Relationship Id="rId10" Type="http://schemas.openxmlformats.org/officeDocument/2006/relationships/image" Target="../media/image9.emf"/><Relationship Id="rId4" Type="http://schemas.openxmlformats.org/officeDocument/2006/relationships/package" Target="../embeddings/Microsoft_Word___1.docx"/><Relationship Id="rId9" Type="http://schemas.openxmlformats.org/officeDocument/2006/relationships/package" Target="../embeddings/Microsoft_Word___3.docx"/></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3.xml"/><Relationship Id="rId1" Type="http://schemas.openxmlformats.org/officeDocument/2006/relationships/vmlDrawing" Target="../drawings/vmlDrawing2.vml"/><Relationship Id="rId5" Type="http://schemas.openxmlformats.org/officeDocument/2006/relationships/image" Target="../media/image10.emf"/><Relationship Id="rId4" Type="http://schemas.openxmlformats.org/officeDocument/2006/relationships/package" Target="../embeddings/Microsoft_Word___4.docx"/></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2.xml"/><Relationship Id="rId1" Type="http://schemas.openxmlformats.org/officeDocument/2006/relationships/vmlDrawing" Target="../drawings/vmlDrawing3.vml"/><Relationship Id="rId5" Type="http://schemas.openxmlformats.org/officeDocument/2006/relationships/image" Target="../media/image11.emf"/><Relationship Id="rId4" Type="http://schemas.openxmlformats.org/officeDocument/2006/relationships/package" Target="../embeddings/Microsoft_Word___5.docx"/></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2.xml"/><Relationship Id="rId1" Type="http://schemas.openxmlformats.org/officeDocument/2006/relationships/vmlDrawing" Target="../drawings/vmlDrawing4.vml"/><Relationship Id="rId5" Type="http://schemas.openxmlformats.org/officeDocument/2006/relationships/image" Target="../media/image12.emf"/><Relationship Id="rId4" Type="http://schemas.openxmlformats.org/officeDocument/2006/relationships/package" Target="../embeddings/Microsoft_Word___6.docx"/></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3.xml"/><Relationship Id="rId1" Type="http://schemas.openxmlformats.org/officeDocument/2006/relationships/vmlDrawing" Target="../drawings/vmlDrawing5.vml"/><Relationship Id="rId6" Type="http://schemas.openxmlformats.org/officeDocument/2006/relationships/image" Target="../media/image14.jpeg"/><Relationship Id="rId5" Type="http://schemas.openxmlformats.org/officeDocument/2006/relationships/image" Target="../media/image13.emf"/><Relationship Id="rId4" Type="http://schemas.openxmlformats.org/officeDocument/2006/relationships/package" Target="../embeddings/Microsoft_Word___7.docx"/></Relationships>
</file>

<file path=ppt/slides/_rels/slide14.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8.bin"/><Relationship Id="rId7" Type="http://schemas.openxmlformats.org/officeDocument/2006/relationships/package" Target="../embeddings/Microsoft_Word___9.docx"/><Relationship Id="rId2" Type="http://schemas.openxmlformats.org/officeDocument/2006/relationships/slideLayout" Target="../slideLayouts/slideLayout20.xml"/><Relationship Id="rId1" Type="http://schemas.openxmlformats.org/officeDocument/2006/relationships/vmlDrawing" Target="../drawings/vmlDrawing6.vml"/><Relationship Id="rId6" Type="http://schemas.openxmlformats.org/officeDocument/2006/relationships/oleObject" Target="../embeddings/oleObject9.bin"/><Relationship Id="rId5" Type="http://schemas.openxmlformats.org/officeDocument/2006/relationships/image" Target="../media/image15.emf"/><Relationship Id="rId4" Type="http://schemas.openxmlformats.org/officeDocument/2006/relationships/package" Target="../embeddings/Microsoft_Word___8.docx"/></Relationships>
</file>

<file path=ppt/slides/_rels/slide15.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0.bin"/><Relationship Id="rId7" Type="http://schemas.openxmlformats.org/officeDocument/2006/relationships/package" Target="../embeddings/Microsoft_Word___11.docx"/><Relationship Id="rId2" Type="http://schemas.openxmlformats.org/officeDocument/2006/relationships/slideLayout" Target="../slideLayouts/slideLayout23.xml"/><Relationship Id="rId1" Type="http://schemas.openxmlformats.org/officeDocument/2006/relationships/vmlDrawing" Target="../drawings/vmlDrawing7.vml"/><Relationship Id="rId6" Type="http://schemas.openxmlformats.org/officeDocument/2006/relationships/oleObject" Target="../embeddings/oleObject11.bin"/><Relationship Id="rId5" Type="http://schemas.openxmlformats.org/officeDocument/2006/relationships/image" Target="../media/image17.emf"/><Relationship Id="rId4" Type="http://schemas.openxmlformats.org/officeDocument/2006/relationships/package" Target="../embeddings/Microsoft_Word___10.docx"/></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2.xml"/><Relationship Id="rId1" Type="http://schemas.openxmlformats.org/officeDocument/2006/relationships/vmlDrawing" Target="../drawings/vmlDrawing8.vml"/><Relationship Id="rId5" Type="http://schemas.openxmlformats.org/officeDocument/2006/relationships/image" Target="../media/image19.emf"/><Relationship Id="rId4" Type="http://schemas.openxmlformats.org/officeDocument/2006/relationships/package" Target="../embeddings/Microsoft_Word___12.docx"/></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2.xml"/><Relationship Id="rId1" Type="http://schemas.openxmlformats.org/officeDocument/2006/relationships/vmlDrawing" Target="../drawings/vmlDrawing9.vml"/><Relationship Id="rId5" Type="http://schemas.openxmlformats.org/officeDocument/2006/relationships/image" Target="../media/image20.emf"/><Relationship Id="rId4" Type="http://schemas.openxmlformats.org/officeDocument/2006/relationships/package" Target="../embeddings/Microsoft_Word___13.docx"/></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3.xml"/><Relationship Id="rId1" Type="http://schemas.openxmlformats.org/officeDocument/2006/relationships/vmlDrawing" Target="../drawings/vmlDrawing10.vml"/><Relationship Id="rId5" Type="http://schemas.openxmlformats.org/officeDocument/2006/relationships/image" Target="../media/image21.emf"/><Relationship Id="rId4" Type="http://schemas.openxmlformats.org/officeDocument/2006/relationships/package" Target="../embeddings/Microsoft_Word___14.docx"/></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2.xml"/><Relationship Id="rId1" Type="http://schemas.openxmlformats.org/officeDocument/2006/relationships/vmlDrawing" Target="../drawings/vmlDrawing11.vml"/><Relationship Id="rId5" Type="http://schemas.openxmlformats.org/officeDocument/2006/relationships/image" Target="../media/image22.emf"/><Relationship Id="rId4" Type="http://schemas.openxmlformats.org/officeDocument/2006/relationships/package" Target="../embeddings/Microsoft_Word___15.docx"/></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3.xml"/><Relationship Id="rId1" Type="http://schemas.openxmlformats.org/officeDocument/2006/relationships/vmlDrawing" Target="../drawings/vmlDrawing12.vml"/><Relationship Id="rId5" Type="http://schemas.openxmlformats.org/officeDocument/2006/relationships/image" Target="../media/image23.emf"/><Relationship Id="rId4" Type="http://schemas.openxmlformats.org/officeDocument/2006/relationships/package" Target="../embeddings/Microsoft_Word___16.docx"/></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2.xml"/><Relationship Id="rId1" Type="http://schemas.openxmlformats.org/officeDocument/2006/relationships/vmlDrawing" Target="../drawings/vmlDrawing13.vml"/><Relationship Id="rId5" Type="http://schemas.openxmlformats.org/officeDocument/2006/relationships/image" Target="../media/image24.emf"/><Relationship Id="rId4" Type="http://schemas.openxmlformats.org/officeDocument/2006/relationships/package" Target="../embeddings/Microsoft_Word___17.docx"/></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2.xml"/><Relationship Id="rId1" Type="http://schemas.openxmlformats.org/officeDocument/2006/relationships/vmlDrawing" Target="../drawings/vmlDrawing14.vml"/><Relationship Id="rId5" Type="http://schemas.openxmlformats.org/officeDocument/2006/relationships/image" Target="../media/image25.emf"/><Relationship Id="rId4" Type="http://schemas.openxmlformats.org/officeDocument/2006/relationships/package" Target="../embeddings/Microsoft_Word___18.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3.xml"/><Relationship Id="rId1" Type="http://schemas.openxmlformats.org/officeDocument/2006/relationships/vmlDrawing" Target="../drawings/vmlDrawing15.vml"/><Relationship Id="rId5" Type="http://schemas.openxmlformats.org/officeDocument/2006/relationships/image" Target="../media/image26.emf"/><Relationship Id="rId4" Type="http://schemas.openxmlformats.org/officeDocument/2006/relationships/package" Target="../embeddings/Microsoft_Word___19.docx"/></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2.xml"/><Relationship Id="rId1" Type="http://schemas.openxmlformats.org/officeDocument/2006/relationships/vmlDrawing" Target="../drawings/vmlDrawing16.vml"/><Relationship Id="rId5" Type="http://schemas.openxmlformats.org/officeDocument/2006/relationships/image" Target="../media/image27.emf"/><Relationship Id="rId4" Type="http://schemas.openxmlformats.org/officeDocument/2006/relationships/package" Target="../embeddings/Microsoft_Word___20.docx"/></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3.xml"/><Relationship Id="rId1" Type="http://schemas.openxmlformats.org/officeDocument/2006/relationships/vmlDrawing" Target="../drawings/vmlDrawing17.vml"/><Relationship Id="rId5" Type="http://schemas.openxmlformats.org/officeDocument/2006/relationships/image" Target="../media/image28.emf"/><Relationship Id="rId4" Type="http://schemas.openxmlformats.org/officeDocument/2006/relationships/package" Target="../embeddings/Microsoft_Word___21.docx"/></Relationships>
</file>

<file path=ppt/slides/_rels/slide27.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22.bin"/><Relationship Id="rId7" Type="http://schemas.openxmlformats.org/officeDocument/2006/relationships/package" Target="../embeddings/Microsoft_Word___23.docx"/><Relationship Id="rId2" Type="http://schemas.openxmlformats.org/officeDocument/2006/relationships/slideLayout" Target="../slideLayouts/slideLayout23.xml"/><Relationship Id="rId1" Type="http://schemas.openxmlformats.org/officeDocument/2006/relationships/vmlDrawing" Target="../drawings/vmlDrawing18.vml"/><Relationship Id="rId6" Type="http://schemas.openxmlformats.org/officeDocument/2006/relationships/oleObject" Target="../embeddings/oleObject23.bin"/><Relationship Id="rId5" Type="http://schemas.openxmlformats.org/officeDocument/2006/relationships/image" Target="../media/image29.emf"/><Relationship Id="rId4" Type="http://schemas.openxmlformats.org/officeDocument/2006/relationships/package" Target="../embeddings/Microsoft_Word___22.docx"/></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2.xml"/><Relationship Id="rId1" Type="http://schemas.openxmlformats.org/officeDocument/2006/relationships/vmlDrawing" Target="../drawings/vmlDrawing19.vml"/><Relationship Id="rId5" Type="http://schemas.openxmlformats.org/officeDocument/2006/relationships/image" Target="../media/image31.emf"/><Relationship Id="rId4" Type="http://schemas.openxmlformats.org/officeDocument/2006/relationships/package" Target="../embeddings/Microsoft_Word___24.docx"/></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oleObject" Target="../embeddings/oleObject25.bin"/><Relationship Id="rId7" Type="http://schemas.openxmlformats.org/officeDocument/2006/relationships/package" Target="../embeddings/Microsoft_Word___26.docx"/><Relationship Id="rId2" Type="http://schemas.openxmlformats.org/officeDocument/2006/relationships/slideLayout" Target="../slideLayouts/slideLayout22.xml"/><Relationship Id="rId1" Type="http://schemas.openxmlformats.org/officeDocument/2006/relationships/vmlDrawing" Target="../drawings/vmlDrawing20.vml"/><Relationship Id="rId6" Type="http://schemas.openxmlformats.org/officeDocument/2006/relationships/oleObject" Target="../embeddings/oleObject26.bin"/><Relationship Id="rId5" Type="http://schemas.openxmlformats.org/officeDocument/2006/relationships/image" Target="../media/image32.emf"/><Relationship Id="rId4" Type="http://schemas.openxmlformats.org/officeDocument/2006/relationships/package" Target="../embeddings/Microsoft_Word___25.docx"/><Relationship Id="rId9" Type="http://schemas.openxmlformats.org/officeDocument/2006/relationships/image" Target="../media/image34.jpe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3.xml"/><Relationship Id="rId1" Type="http://schemas.openxmlformats.org/officeDocument/2006/relationships/vmlDrawing" Target="../drawings/vmlDrawing21.vml"/><Relationship Id="rId5" Type="http://schemas.openxmlformats.org/officeDocument/2006/relationships/image" Target="../media/image35.emf"/><Relationship Id="rId4" Type="http://schemas.openxmlformats.org/officeDocument/2006/relationships/package" Target="../embeddings/Microsoft_Word___27.docx"/></Relationships>
</file>

<file path=ppt/slides/_rels/slide32.x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oleObject" Target="../embeddings/oleObject28.bin"/><Relationship Id="rId7" Type="http://schemas.openxmlformats.org/officeDocument/2006/relationships/package" Target="../embeddings/Microsoft_Word___29.docx"/><Relationship Id="rId2" Type="http://schemas.openxmlformats.org/officeDocument/2006/relationships/slideLayout" Target="../slideLayouts/slideLayout18.xml"/><Relationship Id="rId1" Type="http://schemas.openxmlformats.org/officeDocument/2006/relationships/vmlDrawing" Target="../drawings/vmlDrawing22.vml"/><Relationship Id="rId6" Type="http://schemas.openxmlformats.org/officeDocument/2006/relationships/oleObject" Target="../embeddings/oleObject29.bin"/><Relationship Id="rId5" Type="http://schemas.openxmlformats.org/officeDocument/2006/relationships/image" Target="../media/image36.emf"/><Relationship Id="rId4" Type="http://schemas.openxmlformats.org/officeDocument/2006/relationships/package" Target="../embeddings/Microsoft_Word___28.docx"/></Relationships>
</file>

<file path=ppt/slides/_rels/slide33.x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oleObject" Target="../embeddings/oleObject30.bin"/><Relationship Id="rId7" Type="http://schemas.openxmlformats.org/officeDocument/2006/relationships/package" Target="../embeddings/Microsoft_Word___31.docx"/><Relationship Id="rId2" Type="http://schemas.openxmlformats.org/officeDocument/2006/relationships/slideLayout" Target="../slideLayouts/slideLayout15.xml"/><Relationship Id="rId1" Type="http://schemas.openxmlformats.org/officeDocument/2006/relationships/vmlDrawing" Target="../drawings/vmlDrawing23.vml"/><Relationship Id="rId6" Type="http://schemas.openxmlformats.org/officeDocument/2006/relationships/oleObject" Target="../embeddings/oleObject31.bin"/><Relationship Id="rId5" Type="http://schemas.openxmlformats.org/officeDocument/2006/relationships/image" Target="../media/image38.emf"/><Relationship Id="rId4" Type="http://schemas.openxmlformats.org/officeDocument/2006/relationships/package" Target="../embeddings/Microsoft_Word___30.docx"/></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8.xml"/><Relationship Id="rId1" Type="http://schemas.openxmlformats.org/officeDocument/2006/relationships/vmlDrawing" Target="../drawings/vmlDrawing24.vml"/><Relationship Id="rId5" Type="http://schemas.openxmlformats.org/officeDocument/2006/relationships/image" Target="../media/image40.emf"/><Relationship Id="rId4" Type="http://schemas.openxmlformats.org/officeDocument/2006/relationships/package" Target="../embeddings/Microsoft_Word___32.docx"/></Relationships>
</file>

<file path=ppt/slides/_rels/slide35.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oleObject" Target="../embeddings/oleObject33.bin"/><Relationship Id="rId7" Type="http://schemas.openxmlformats.org/officeDocument/2006/relationships/package" Target="../embeddings/Microsoft_Word___34.docx"/><Relationship Id="rId2" Type="http://schemas.openxmlformats.org/officeDocument/2006/relationships/slideLayout" Target="../slideLayouts/slideLayout19.xml"/><Relationship Id="rId1" Type="http://schemas.openxmlformats.org/officeDocument/2006/relationships/vmlDrawing" Target="../drawings/vmlDrawing25.vml"/><Relationship Id="rId6" Type="http://schemas.openxmlformats.org/officeDocument/2006/relationships/oleObject" Target="../embeddings/oleObject34.bin"/><Relationship Id="rId11" Type="http://schemas.openxmlformats.org/officeDocument/2006/relationships/image" Target="../media/image43.emf"/><Relationship Id="rId5" Type="http://schemas.openxmlformats.org/officeDocument/2006/relationships/image" Target="../media/image41.emf"/><Relationship Id="rId10" Type="http://schemas.openxmlformats.org/officeDocument/2006/relationships/package" Target="../embeddings/Microsoft_Word___35.docx"/><Relationship Id="rId4" Type="http://schemas.openxmlformats.org/officeDocument/2006/relationships/package" Target="../embeddings/Microsoft_Word___33.docx"/><Relationship Id="rId9" Type="http://schemas.openxmlformats.org/officeDocument/2006/relationships/oleObject" Target="../embeddings/oleObject35.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3.xml"/><Relationship Id="rId1" Type="http://schemas.openxmlformats.org/officeDocument/2006/relationships/vmlDrawing" Target="../drawings/vmlDrawing26.vml"/><Relationship Id="rId5" Type="http://schemas.openxmlformats.org/officeDocument/2006/relationships/image" Target="../media/image44.emf"/><Relationship Id="rId4" Type="http://schemas.openxmlformats.org/officeDocument/2006/relationships/package" Target="../embeddings/Microsoft_Word___36.docx"/></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2.xml"/><Relationship Id="rId1" Type="http://schemas.openxmlformats.org/officeDocument/2006/relationships/vmlDrawing" Target="../drawings/vmlDrawing27.vml"/><Relationship Id="rId5" Type="http://schemas.openxmlformats.org/officeDocument/2006/relationships/image" Target="../media/image45.emf"/><Relationship Id="rId4" Type="http://schemas.openxmlformats.org/officeDocument/2006/relationships/package" Target="../embeddings/Microsoft_Word___37.docx"/></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48.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25.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65797" y="519978"/>
            <a:ext cx="4047903" cy="461665"/>
          </a:xfrm>
          <a:prstGeom prst="rect">
            <a:avLst/>
          </a:prstGeom>
        </p:spPr>
        <p:txBody>
          <a:bodyPr wrap="none">
            <a:spAutoFit/>
          </a:bodyPr>
          <a:lstStyle/>
          <a:p>
            <a:pPr algn="dist"/>
            <a:r>
              <a:rPr lang="zh-CN" altLang="en-US" sz="2400" b="1" spc="600" smtClean="0">
                <a:solidFill>
                  <a:srgbClr val="757C82"/>
                </a:solidFill>
                <a:latin typeface="阿里巴巴普惠体"/>
                <a:ea typeface="微软雅黑"/>
                <a:sym typeface="阿里巴巴普惠体"/>
              </a:rPr>
              <a:t>高中同步学案优化</a:t>
            </a:r>
            <a:r>
              <a:rPr lang="zh-CN" altLang="en-US" sz="2400" b="1" spc="600">
                <a:solidFill>
                  <a:srgbClr val="757C82"/>
                </a:solidFill>
                <a:latin typeface="阿里巴巴普惠体"/>
                <a:ea typeface="微软雅黑"/>
                <a:sym typeface="阿里巴巴普惠体"/>
              </a:rPr>
              <a:t>设计</a:t>
            </a:r>
          </a:p>
        </p:txBody>
      </p:sp>
      <p:cxnSp>
        <p:nvCxnSpPr>
          <p:cNvPr id="3" name="直接连接符 2"/>
          <p:cNvCxnSpPr/>
          <p:nvPr/>
        </p:nvCxnSpPr>
        <p:spPr>
          <a:xfrm>
            <a:off x="2282351" y="1003843"/>
            <a:ext cx="3676091"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94482" y="974358"/>
            <a:ext cx="3826174" cy="307777"/>
          </a:xfrm>
          <a:prstGeom prst="rect">
            <a:avLst/>
          </a:prstGeom>
        </p:spPr>
        <p:txBody>
          <a:bodyPr wrap="square">
            <a:spAutoFit/>
          </a:bodyPr>
          <a:lstStyle/>
          <a:p>
            <a:pPr algn="dist"/>
            <a:r>
              <a:rPr lang="en-US" altLang="zh-CN" sz="1400" b="1" spc="-150" dirty="0" smtClean="0">
                <a:solidFill>
                  <a:srgbClr val="757C82"/>
                </a:solidFill>
                <a:latin typeface="阿里巴巴普惠体"/>
                <a:ea typeface="微软雅黑"/>
                <a:sym typeface="阿里巴巴普惠体"/>
              </a:rPr>
              <a:t>GAO ZHONG TONG BU XUE AN YOU HAU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7" name="矩形 6"/>
            <p:cNvSpPr/>
            <p:nvPr/>
          </p:nvSpPr>
          <p:spPr>
            <a:xfrm>
              <a:off x="3519320" y="3509472"/>
              <a:ext cx="8158783" cy="707963"/>
            </a:xfrm>
            <a:prstGeom prst="rect">
              <a:avLst/>
            </a:prstGeom>
          </p:spPr>
          <p:txBody>
            <a:bodyPr wrap="square">
              <a:spAutoFit/>
            </a:bodyPr>
            <a:lstStyle/>
            <a:p>
              <a:pPr algn="ctr"/>
              <a:r>
                <a:rPr lang="en-US" altLang="zh-CN" sz="4000" b="1" dirty="0">
                  <a:solidFill>
                    <a:schemeClr val="bg1"/>
                  </a:solidFill>
                  <a:latin typeface="阿里巴巴普惠体"/>
                  <a:ea typeface="微软雅黑"/>
                  <a:sym typeface="阿里巴巴普惠体"/>
                </a:rPr>
                <a:t>5.4.3</a:t>
              </a:r>
              <a:r>
                <a:rPr lang="zh-CN" altLang="en-US" sz="4000" b="1" dirty="0">
                  <a:solidFill>
                    <a:schemeClr val="bg1"/>
                  </a:solidFill>
                  <a:latin typeface="阿里巴巴普惠体"/>
                  <a:ea typeface="微软雅黑"/>
                  <a:sym typeface="阿里巴巴普惠体"/>
                </a:rPr>
                <a:t>　正切函数的性质与图象</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smtClean="0">
                <a:solidFill>
                  <a:schemeClr val="bg1"/>
                </a:solidFill>
                <a:latin typeface="阿里巴巴普惠体"/>
                <a:ea typeface="微软雅黑"/>
                <a:cs typeface="Open Sans" panose="020B0606030504020204" pitchFamily="34" charset="0"/>
                <a:sym typeface="阿里巴巴普惠体"/>
              </a:rPr>
              <a:t>第五章</a:t>
            </a:r>
          </a:p>
        </p:txBody>
      </p:sp>
      <p:pic>
        <p:nvPicPr>
          <p:cNvPr id="10" name="图片 9" descr="e37b0ec1d4924ecca897357d279cf883"/>
          <p:cNvPicPr>
            <a:picLocks noChangeAspect="1"/>
          </p:cNvPicPr>
          <p:nvPr/>
        </p:nvPicPr>
        <p:blipFill>
          <a:blip r:embed="rId2" cstate="email">
            <a:extLst>
              <a:ext uri="{BEBA8EAE-BF5A-486C-A8C5-ECC9F3942E4B}">
                <a14:imgProps xmlns:a14="http://schemas.microsoft.com/office/drawing/2010/main">
                  <a14:imgLayer r:embed="rId3">
                    <a14:imgEffect>
                      <a14:sharpenSoften amount="-50000"/>
                    </a14:imgEffect>
                    <a14:imgEffect>
                      <a14:saturation sat="0"/>
                    </a14:imgEffect>
                  </a14:imgLayer>
                </a14:imgProps>
              </a:ext>
              <a:ext uri="{28A0092B-C50C-407E-A947-70E740481C1C}">
                <a14:useLocalDpi xmlns:a14="http://schemas.microsoft.com/office/drawing/2010/main"/>
              </a:ext>
            </a:extLst>
          </a:blip>
          <a:stretch>
            <a:fillRect/>
          </a:stretch>
        </p:blipFill>
        <p:spPr>
          <a:xfrm>
            <a:off x="801370" y="175260"/>
            <a:ext cx="1453515" cy="1453515"/>
          </a:xfrm>
          <a:prstGeom prst="rect">
            <a:avLst/>
          </a:prstGeom>
        </p:spPr>
      </p:pic>
      <p:sp>
        <p:nvSpPr>
          <p:cNvPr id="12" name="矩形 11"/>
          <p:cNvSpPr/>
          <p:nvPr/>
        </p:nvSpPr>
        <p:spPr>
          <a:xfrm>
            <a:off x="3467215" y="5744048"/>
            <a:ext cx="4982454" cy="470257"/>
          </a:xfrm>
          <a:prstGeom prst="rect">
            <a:avLst/>
          </a:prstGeom>
        </p:spPr>
        <p:txBody>
          <a:bodyPr wrap="none">
            <a:spAutoFit/>
          </a:bodyPr>
          <a:lstStyle/>
          <a:p>
            <a:pPr marL="342900" lvl="0" indent="-342900" algn="ctr" fontAlgn="base">
              <a:lnSpc>
                <a:spcPct val="110000"/>
              </a:lnSpc>
              <a:spcBef>
                <a:spcPct val="0"/>
              </a:spcBef>
              <a:spcAft>
                <a:spcPct val="0"/>
              </a:spcAft>
            </a:pPr>
            <a:r>
              <a:rPr lang="zh-CN" altLang="en-US" sz="2400" kern="0" dirty="0" smtClean="0">
                <a:solidFill>
                  <a:srgbClr val="000000"/>
                </a:solidFill>
                <a:latin typeface="微软雅黑" panose="020B0503020204020204" pitchFamily="34" charset="-122"/>
                <a:ea typeface="微软雅黑" panose="020B0503020204020204" pitchFamily="34" charset="-122"/>
              </a:rPr>
              <a:t>第一</a:t>
            </a:r>
            <a:r>
              <a:rPr lang="en-US" altLang="zh-CN" sz="2400" kern="0" dirty="0" smtClean="0">
                <a:solidFill>
                  <a:srgbClr val="000000"/>
                </a:solidFill>
                <a:latin typeface="微软雅黑" panose="020B0503020204020204" pitchFamily="34" charset="-122"/>
                <a:ea typeface="微软雅黑" panose="020B0503020204020204" pitchFamily="34" charset="-122"/>
              </a:rPr>
              <a:t>PPT</a:t>
            </a:r>
            <a:r>
              <a:rPr lang="zh-CN" altLang="en-US" sz="2400" kern="0" dirty="0" smtClean="0">
                <a:solidFill>
                  <a:srgbClr val="000000"/>
                </a:solidFill>
                <a:latin typeface="微软雅黑" panose="020B0503020204020204" pitchFamily="34" charset="-122"/>
                <a:ea typeface="微软雅黑" panose="020B0503020204020204" pitchFamily="34" charset="-122"/>
              </a:rPr>
              <a:t>模板网</a:t>
            </a:r>
            <a:r>
              <a:rPr lang="en-US" altLang="zh-CN" sz="2400" kern="0" dirty="0" smtClean="0">
                <a:solidFill>
                  <a:srgbClr val="000000"/>
                </a:solidFill>
                <a:latin typeface="微软雅黑" panose="020B0503020204020204" pitchFamily="34" charset="-122"/>
                <a:ea typeface="微软雅黑" panose="020B0503020204020204" pitchFamily="34" charset="-122"/>
              </a:rPr>
              <a:t>-WWW.1PPT.COM</a:t>
            </a:r>
            <a:endParaRPr lang="en-US" altLang="zh-CN" sz="2400" kern="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latin typeface="阿里巴巴普惠体"/>
                <a:ea typeface="微软雅黑"/>
                <a:cs typeface="+mn-ea"/>
                <a:sym typeface="阿里巴巴普惠体"/>
              </a:rPr>
              <a:t>内容索引</a:t>
            </a:r>
            <a:endParaRPr kumimoji="1" lang="zh-CN" altLang="en-US" sz="4800" dirty="0">
              <a:solidFill>
                <a:srgbClr val="2C3814"/>
              </a:solidFill>
              <a:latin typeface="阿里巴巴普惠体"/>
              <a:ea typeface="微软雅黑"/>
              <a:cs typeface="+mn-ea"/>
              <a:sym typeface="阿里巴巴普惠体"/>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672261"/>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阿里巴巴普惠体"/>
                <a:ea typeface="微软雅黑"/>
                <a:sym typeface="阿里巴巴普惠体"/>
              </a:endParaRPr>
            </a:p>
          </p:txBody>
        </p:sp>
        <p:sp>
          <p:nvSpPr>
            <p:cNvPr id="45" name="TextBox 7"/>
            <p:cNvSpPr txBox="1"/>
            <p:nvPr/>
          </p:nvSpPr>
          <p:spPr>
            <a:xfrm>
              <a:off x="3717320" y="687170"/>
              <a:ext cx="676868" cy="613427"/>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阿里巴巴普惠体"/>
                  <a:ea typeface="微软雅黑"/>
                  <a:sym typeface="阿里巴巴普惠体"/>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阿里巴巴普惠体"/>
                <a:ea typeface="微软雅黑"/>
                <a:sym typeface="阿里巴巴普惠体"/>
              </a:endParaRPr>
            </a:p>
          </p:txBody>
        </p:sp>
      </p:grpSp>
      <p:grpSp>
        <p:nvGrpSpPr>
          <p:cNvPr id="46" name="组合 45"/>
          <p:cNvGrpSpPr/>
          <p:nvPr/>
        </p:nvGrpSpPr>
        <p:grpSpPr>
          <a:xfrm>
            <a:off x="4764013" y="3238838"/>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阿里巴巴普惠体"/>
                <a:ea typeface="微软雅黑"/>
                <a:sym typeface="阿里巴巴普惠体"/>
              </a:endParaRPr>
            </a:p>
          </p:txBody>
        </p:sp>
        <p:sp>
          <p:nvSpPr>
            <p:cNvPr id="48" name="TextBox 10"/>
            <p:cNvSpPr txBox="1"/>
            <p:nvPr/>
          </p:nvSpPr>
          <p:spPr>
            <a:xfrm>
              <a:off x="3717321" y="1736701"/>
              <a:ext cx="676868" cy="613427"/>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阿里巴巴普惠体"/>
                  <a:ea typeface="微软雅黑"/>
                  <a:sym typeface="阿里巴巴普惠体"/>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阿里巴巴普惠体"/>
                <a:ea typeface="微软雅黑"/>
                <a:sym typeface="阿里巴巴普惠体"/>
              </a:endParaRPr>
            </a:p>
          </p:txBody>
        </p:sp>
      </p:grpSp>
      <p:sp>
        <p:nvSpPr>
          <p:cNvPr id="52" name="矩形 51">
            <a:hlinkClick r:id="rId2" action="ppaction://hlinksldjump"/>
          </p:cNvPr>
          <p:cNvSpPr/>
          <p:nvPr/>
        </p:nvSpPr>
        <p:spPr>
          <a:xfrm>
            <a:off x="5678538" y="1764727"/>
            <a:ext cx="2759089" cy="502445"/>
          </a:xfrm>
          <a:prstGeom prst="rect">
            <a:avLst/>
          </a:prstGeom>
        </p:spPr>
        <p:txBody>
          <a:bodyPr wrap="none">
            <a:spAutoFit/>
          </a:bodyPr>
          <a:lstStyle/>
          <a:p>
            <a:pPr defTabSz="1219200"/>
            <a:r>
              <a:rPr lang="zh-CN" altLang="en-US" sz="2665" b="1" smtClean="0">
                <a:solidFill>
                  <a:srgbClr val="4D4D4D"/>
                </a:solidFill>
                <a:latin typeface="阿里巴巴普惠体"/>
                <a:ea typeface="微软雅黑"/>
                <a:cs typeface="方正姚体" panose="02010601030101010101" charset="-122"/>
                <a:sym typeface="阿里巴巴普惠体"/>
              </a:rPr>
              <a:t>课前篇  自主预习</a:t>
            </a:r>
            <a:endParaRPr lang="zh-CN" altLang="en-US" sz="2665" b="1" dirty="0">
              <a:solidFill>
                <a:srgbClr val="4D4D4D"/>
              </a:solidFill>
              <a:latin typeface="阿里巴巴普惠体"/>
              <a:ea typeface="微软雅黑"/>
              <a:cs typeface="方正姚体" panose="02010601030101010101" charset="-122"/>
              <a:sym typeface="阿里巴巴普惠体"/>
            </a:endParaRPr>
          </a:p>
        </p:txBody>
      </p:sp>
      <p:sp>
        <p:nvSpPr>
          <p:cNvPr id="53" name="矩形 52">
            <a:hlinkClick r:id="rId3" action="ppaction://hlinksldjump"/>
          </p:cNvPr>
          <p:cNvSpPr/>
          <p:nvPr/>
        </p:nvSpPr>
        <p:spPr>
          <a:xfrm>
            <a:off x="5678538" y="3349585"/>
            <a:ext cx="2759089" cy="502445"/>
          </a:xfrm>
          <a:prstGeom prst="rect">
            <a:avLst/>
          </a:prstGeom>
        </p:spPr>
        <p:txBody>
          <a:bodyPr wrap="none">
            <a:spAutoFit/>
          </a:bodyPr>
          <a:lstStyle/>
          <a:p>
            <a:pPr defTabSz="1219200"/>
            <a:r>
              <a:rPr lang="zh-CN" altLang="en-US" sz="2665" b="1" smtClean="0">
                <a:solidFill>
                  <a:srgbClr val="4D4D4D"/>
                </a:solidFill>
                <a:latin typeface="阿里巴巴普惠体"/>
                <a:ea typeface="微软雅黑"/>
                <a:cs typeface="方正姚体" panose="02010601030101010101" charset="-122"/>
                <a:sym typeface="阿里巴巴普惠体"/>
              </a:rPr>
              <a:t>课堂篇  探究学习</a:t>
            </a:r>
            <a:endParaRPr lang="zh-CN" altLang="en-US" sz="2665" b="1" dirty="0">
              <a:solidFill>
                <a:srgbClr val="4D4D4D"/>
              </a:solidFill>
              <a:latin typeface="阿里巴巴普惠体"/>
              <a:ea typeface="微软雅黑"/>
              <a:cs typeface="方正姚体" panose="02010601030101010101" charset="-122"/>
              <a:sym typeface="阿里巴巴普惠体"/>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407327"/>
            <a:ext cx="1620957"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en-US" sz="2800" smtClean="0">
                <a:solidFill>
                  <a:srgbClr val="CF5B1B"/>
                </a:solidFill>
                <a:latin typeface="阿里巴巴普惠体"/>
                <a:ea typeface="微软雅黑"/>
                <a:cs typeface="Times New Roman" panose="02020603050405020304" pitchFamily="18" charset="0"/>
                <a:sym typeface="阿里巴巴普惠体"/>
              </a:rPr>
              <a:t>课标阐释</a:t>
            </a:r>
            <a:endParaRPr lang="zh-CN" altLang="zh-CN" sz="2800">
              <a:solidFill>
                <a:srgbClr val="000000"/>
              </a:solidFill>
              <a:latin typeface="阿里巴巴普惠体"/>
              <a:ea typeface="微软雅黑"/>
              <a:cs typeface="Times New Roman" panose="02020603050405020304" pitchFamily="18" charset="0"/>
              <a:sym typeface="阿里巴巴普惠体"/>
            </a:endParaRPr>
          </a:p>
        </p:txBody>
      </p:sp>
      <p:sp>
        <p:nvSpPr>
          <p:cNvPr id="5" name="矩形 4"/>
          <p:cNvSpPr>
            <a:spLocks noChangeAspect="1"/>
          </p:cNvSpPr>
          <p:nvPr/>
        </p:nvSpPr>
        <p:spPr>
          <a:xfrm>
            <a:off x="381000" y="2135741"/>
            <a:ext cx="1620957"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en-US" sz="2800" smtClean="0">
                <a:solidFill>
                  <a:srgbClr val="CF5B1B"/>
                </a:solidFill>
                <a:latin typeface="阿里巴巴普惠体"/>
                <a:ea typeface="微软雅黑"/>
                <a:cs typeface="Times New Roman" panose="02020603050405020304" pitchFamily="18" charset="0"/>
                <a:sym typeface="阿里巴巴普惠体"/>
              </a:rPr>
              <a:t>思维脉络</a:t>
            </a:r>
            <a:endParaRPr lang="zh-CN" altLang="zh-CN" sz="2800">
              <a:solidFill>
                <a:srgbClr val="000000"/>
              </a:solidFill>
              <a:latin typeface="阿里巴巴普惠体"/>
              <a:ea typeface="微软雅黑"/>
              <a:cs typeface="Times New Roman" panose="02020603050405020304" pitchFamily="18" charset="0"/>
              <a:sym typeface="阿里巴巴普惠体"/>
            </a:endParaRPr>
          </a:p>
        </p:txBody>
      </p:sp>
      <p:sp>
        <p:nvSpPr>
          <p:cNvPr id="2" name="矩形 1"/>
          <p:cNvSpPr>
            <a:spLocks noChangeAspect="1"/>
          </p:cNvSpPr>
          <p:nvPr/>
        </p:nvSpPr>
        <p:spPr>
          <a:xfrm>
            <a:off x="381000" y="1000917"/>
            <a:ext cx="11430000" cy="116506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阿里巴巴普惠体"/>
                <a:ea typeface="微软雅黑"/>
                <a:cs typeface="Times New Roman" panose="02020603050405020304" pitchFamily="18" charset="0"/>
                <a:sym typeface="阿里巴巴普惠体"/>
              </a:rPr>
              <a:t>1</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了解正切函数图象的画法</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理解并掌握正切函数的性质</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数学抽象</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pPr>
            <a:r>
              <a:rPr lang="en-US" altLang="zh-CN" sz="2800" b="1" dirty="0">
                <a:solidFill>
                  <a:srgbClr val="000000"/>
                </a:solidFill>
                <a:latin typeface="阿里巴巴普惠体"/>
                <a:ea typeface="微软雅黑"/>
                <a:sym typeface="阿里巴巴普惠体"/>
              </a:rPr>
              <a:t>2</a:t>
            </a:r>
            <a:r>
              <a:rPr lang="en-US" altLang="zh-CN" sz="2800" i="1"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能利用正切函数的图象及性质解决有关问题</a:t>
            </a:r>
            <a:r>
              <a:rPr lang="en-US" altLang="zh-CN" sz="2800" i="1" dirty="0">
                <a:solidFill>
                  <a:srgbClr val="000000"/>
                </a:solidFill>
                <a:latin typeface="阿里巴巴普惠体"/>
                <a:ea typeface="微软雅黑"/>
                <a:sym typeface="阿里巴巴普惠体"/>
              </a:rPr>
              <a:t>.</a:t>
            </a:r>
            <a:r>
              <a:rPr lang="en-US" altLang="zh-CN" sz="2800" dirty="0">
                <a:solidFill>
                  <a:srgbClr val="000000"/>
                </a:solidFill>
                <a:latin typeface="阿里巴巴普惠体"/>
                <a:ea typeface="微软雅黑"/>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逻辑推理</a:t>
            </a:r>
            <a:r>
              <a:rPr lang="en-US" altLang="zh-CN" sz="2800" dirty="0">
                <a:solidFill>
                  <a:srgbClr val="000000"/>
                </a:solidFill>
                <a:latin typeface="阿里巴巴普惠体"/>
                <a:ea typeface="微软雅黑"/>
                <a:sym typeface="阿里巴巴普惠体"/>
              </a:rPr>
              <a:t>)</a:t>
            </a:r>
            <a:endParaRPr lang="zh-CN" altLang="en-US" sz="2800" dirty="0">
              <a:latin typeface="阿里巴巴普惠体"/>
              <a:ea typeface="微软雅黑"/>
              <a:sym typeface="阿里巴巴普惠体"/>
            </a:endParaRPr>
          </a:p>
        </p:txBody>
      </p:sp>
      <p:pic>
        <p:nvPicPr>
          <p:cNvPr id="7" name="A204.eps"/>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293366" y="2422262"/>
            <a:ext cx="4689653" cy="3447476"/>
          </a:xfrm>
          <a:prstGeom prst="rect">
            <a:avLst/>
          </a:prstGeom>
        </p:spPr>
      </p:pic>
    </p:spTree>
    <p:extLst>
      <p:ext uri="{BB962C8B-B14F-4D97-AF65-F5344CB8AC3E}">
        <p14:creationId xmlns:p14="http://schemas.microsoft.com/office/powerpoint/2010/main" val="42742557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940601"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879736"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55261" y="2585720"/>
            <a:ext cx="6252845" cy="922020"/>
          </a:xfrm>
          <a:prstGeom prst="rect">
            <a:avLst/>
          </a:prstGeom>
          <a:noFill/>
        </p:spPr>
        <p:txBody>
          <a:bodyPr wrap="square" rtlCol="0">
            <a:spAutoFit/>
          </a:bodyPr>
          <a:lstStyle/>
          <a:p>
            <a:pPr algn="ctr"/>
            <a:r>
              <a:rPr lang="zh-CN" altLang="en-US" sz="5400" b="1" smtClean="0">
                <a:solidFill>
                  <a:srgbClr val="4D4D4D"/>
                </a:solidFill>
                <a:latin typeface="阿里巴巴普惠体"/>
                <a:ea typeface="微软雅黑"/>
                <a:cs typeface="方正姚体" panose="02010601030101010101" charset="-122"/>
                <a:sym typeface="阿里巴巴普惠体"/>
              </a:rPr>
              <a:t>课前篇  自主预习</a:t>
            </a:r>
            <a:endParaRPr lang="zh-CN" altLang="en-US" sz="5400" b="1">
              <a:solidFill>
                <a:srgbClr val="4D4D4D"/>
              </a:solidFill>
              <a:latin typeface="阿里巴巴普惠体"/>
              <a:ea typeface="微软雅黑"/>
              <a:cs typeface="方正姚体" panose="02010601030101010101" charset="-122"/>
              <a:sym typeface="阿里巴巴普惠体"/>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97576"/>
            <a:ext cx="11430000" cy="569386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CF5B1B"/>
                </a:solidFill>
                <a:latin typeface="阿里巴巴普惠体"/>
                <a:ea typeface="微软雅黑"/>
                <a:cs typeface="Times New Roman" panose="02020603050405020304" pitchFamily="18" charset="0"/>
                <a:sym typeface="阿里巴巴普惠体"/>
              </a:rPr>
              <a:t>[</a:t>
            </a:r>
            <a:r>
              <a:rPr lang="zh-CN" altLang="zh-CN" sz="2800" dirty="0">
                <a:solidFill>
                  <a:srgbClr val="CF5B1B"/>
                </a:solidFill>
                <a:latin typeface="阿里巴巴普惠体"/>
                <a:ea typeface="微软雅黑"/>
                <a:cs typeface="Times New Roman" panose="02020603050405020304" pitchFamily="18" charset="0"/>
                <a:sym typeface="阿里巴巴普惠体"/>
              </a:rPr>
              <a:t>激趣诱思</a:t>
            </a:r>
            <a:r>
              <a:rPr lang="en-US" altLang="zh-CN" sz="2800" dirty="0" smtClean="0">
                <a:solidFill>
                  <a:srgbClr val="CF5B1B"/>
                </a:solidFill>
                <a:latin typeface="阿里巴巴普惠体"/>
                <a:ea typeface="微软雅黑"/>
                <a:cs typeface="Times New Roman" panose="02020603050405020304" pitchFamily="18" charset="0"/>
                <a:sym typeface="阿里巴巴普惠体"/>
              </a:rPr>
              <a:t>]</a:t>
            </a:r>
          </a:p>
          <a:p>
            <a:pPr>
              <a:lnSpc>
                <a:spcPct val="130000"/>
              </a:lnSpc>
              <a:spcAft>
                <a:spcPts val="0"/>
              </a:spcAft>
              <a:tabLst>
                <a:tab pos="1188085" algn="l"/>
                <a:tab pos="2163445" algn="l"/>
                <a:tab pos="3142615" algn="l"/>
                <a:tab pos="4190365" algn="l"/>
              </a:tabLst>
            </a:pPr>
            <a:endParaRPr lang="en-US" altLang="zh-CN" sz="2800" dirty="0">
              <a:solidFill>
                <a:srgbClr val="CF5B1B"/>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endParaRPr lang="en-US" altLang="zh-CN" sz="2800" dirty="0" smtClean="0">
              <a:solidFill>
                <a:srgbClr val="CF5B1B"/>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endParaRPr lang="en-US" altLang="zh-CN" sz="2800" dirty="0">
              <a:solidFill>
                <a:srgbClr val="CF5B1B"/>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endParaRPr lang="en-US" altLang="zh-CN" sz="2800" dirty="0" smtClean="0">
              <a:solidFill>
                <a:srgbClr val="CF5B1B"/>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类似于正弦函数</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我们可以定义正切函数</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y=</a:t>
            </a:r>
            <a:r>
              <a:rPr lang="en-US" altLang="zh-CN" sz="2800" dirty="0">
                <a:solidFill>
                  <a:srgbClr val="000000"/>
                </a:solidFill>
                <a:latin typeface="阿里巴巴普惠体"/>
                <a:ea typeface="微软雅黑"/>
                <a:cs typeface="Times New Roman" panose="02020603050405020304" pitchFamily="18" charset="0"/>
                <a:sym typeface="阿里巴巴普惠体"/>
              </a:rPr>
              <a:t>tan </a:t>
            </a:r>
            <a:r>
              <a:rPr lang="en-US" altLang="zh-CN" sz="2800" i="1" dirty="0">
                <a:solidFill>
                  <a:srgbClr val="000000"/>
                </a:solidFill>
                <a:latin typeface="阿里巴巴普惠体"/>
                <a:ea typeface="微软雅黑"/>
                <a:cs typeface="Times New Roman" panose="02020603050405020304" pitchFamily="18" charset="0"/>
                <a:sym typeface="阿里巴巴普惠体"/>
              </a:rPr>
              <a:t>x</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其中</a:t>
            </a:r>
            <a:r>
              <a:rPr lang="en-US" altLang="zh-CN" sz="2800" i="1" dirty="0">
                <a:solidFill>
                  <a:srgbClr val="000000"/>
                </a:solidFill>
                <a:latin typeface="阿里巴巴普惠体"/>
                <a:ea typeface="微软雅黑"/>
                <a:cs typeface="Times New Roman" panose="02020603050405020304" pitchFamily="18" charset="0"/>
                <a:sym typeface="阿里巴巴普惠体"/>
              </a:rPr>
              <a:t>x</a:t>
            </a:r>
            <a:r>
              <a:rPr lang="zh-CN" altLang="zh-CN" sz="2800" dirty="0">
                <a:solidFill>
                  <a:srgbClr val="000000"/>
                </a:solidFill>
                <a:latin typeface="阿里巴巴普惠体"/>
                <a:ea typeface="微软雅黑"/>
                <a:cs typeface="Times New Roman" panose="02020603050405020304" pitchFamily="18" charset="0"/>
                <a:sym typeface="阿里巴巴普惠体"/>
              </a:rPr>
              <a:t>是自变量</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对任意一个</a:t>
            </a:r>
            <a:r>
              <a:rPr lang="en-US" altLang="zh-CN" sz="2800" i="1" dirty="0">
                <a:solidFill>
                  <a:srgbClr val="000000"/>
                </a:solidFill>
                <a:latin typeface="阿里巴巴普惠体"/>
                <a:ea typeface="微软雅黑"/>
                <a:cs typeface="Times New Roman" panose="02020603050405020304" pitchFamily="18" charset="0"/>
                <a:sym typeface="阿里巴巴普惠体"/>
              </a:rPr>
              <a:t>x</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按照这个对应关系</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都有唯一确定的正切值与之对应</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我们在正弦函数中</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研究了它的图象</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以及定义域、值域、单调性、奇偶性等性质</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那么</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正切函数的图象有什么特点</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它又有哪些上述的性质呢</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pic>
        <p:nvPicPr>
          <p:cNvPr id="3" name="A205.eps" descr="id:2147516076;FounderCES"/>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116668" y="747809"/>
            <a:ext cx="6006783" cy="3135882"/>
          </a:xfrm>
          <a:prstGeom prst="rect">
            <a:avLst/>
          </a:prstGeom>
        </p:spPr>
      </p:pic>
    </p:spTree>
    <p:extLst>
      <p:ext uri="{BB962C8B-B14F-4D97-AF65-F5344CB8AC3E}">
        <p14:creationId xmlns:p14="http://schemas.microsoft.com/office/powerpoint/2010/main" val="21953723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94495"/>
            <a:ext cx="1925527"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a:solidFill>
                  <a:srgbClr val="CF5B1B"/>
                </a:solidFill>
                <a:latin typeface="阿里巴巴普惠体"/>
                <a:ea typeface="微软雅黑"/>
                <a:cs typeface="Times New Roman" panose="02020603050405020304" pitchFamily="18" charset="0"/>
                <a:sym typeface="阿里巴巴普惠体"/>
              </a:rPr>
              <a:t>[</a:t>
            </a:r>
            <a:r>
              <a:rPr lang="zh-CN" altLang="zh-CN" sz="2800">
                <a:solidFill>
                  <a:srgbClr val="CF5B1B"/>
                </a:solidFill>
                <a:latin typeface="阿里巴巴普惠体"/>
                <a:ea typeface="微软雅黑"/>
                <a:cs typeface="Times New Roman" panose="02020603050405020304" pitchFamily="18" charset="0"/>
                <a:sym typeface="阿里巴巴普惠体"/>
              </a:rPr>
              <a:t>知识点拨</a:t>
            </a:r>
            <a:r>
              <a:rPr lang="en-US" altLang="zh-CN" sz="2800" smtClean="0">
                <a:solidFill>
                  <a:srgbClr val="CF5B1B"/>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sp>
        <p:nvSpPr>
          <p:cNvPr id="3" name="矩形 2"/>
          <p:cNvSpPr>
            <a:spLocks noChangeAspect="1"/>
          </p:cNvSpPr>
          <p:nvPr/>
        </p:nvSpPr>
        <p:spPr>
          <a:xfrm>
            <a:off x="381000" y="946981"/>
            <a:ext cx="5081840"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知识点</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正切函数的图象与</a:t>
            </a:r>
            <a:r>
              <a:rPr lang="zh-CN" altLang="zh-CN" sz="2800" dirty="0" smtClean="0">
                <a:solidFill>
                  <a:srgbClr val="000000"/>
                </a:solidFill>
                <a:latin typeface="阿里巴巴普惠体"/>
                <a:ea typeface="微软雅黑"/>
                <a:cs typeface="Times New Roman" panose="02020603050405020304" pitchFamily="18" charset="0"/>
                <a:sym typeface="阿里巴巴普惠体"/>
              </a:rPr>
              <a:t>性质</a:t>
            </a:r>
            <a:r>
              <a:rPr lang="en-US" altLang="zh-CN" sz="2800" dirty="0" smtClean="0">
                <a:solidFill>
                  <a:srgbClr val="000000"/>
                </a:solidFill>
                <a:latin typeface="阿里巴巴普惠体"/>
                <a:ea typeface="微软雅黑"/>
                <a:cs typeface="Times New Roman" panose="02020603050405020304" pitchFamily="18" charset="0"/>
                <a:sym typeface="阿里巴巴普惠体"/>
              </a:rPr>
              <a:t> </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pic>
        <p:nvPicPr>
          <p:cNvPr id="4" name="图片 3"/>
          <p:cNvPicPr>
            <a:picLocks noChangeAspect="1"/>
          </p:cNvPicPr>
          <p:nvPr/>
        </p:nvPicPr>
        <p:blipFill>
          <a:blip r:embed="rId2">
            <a:clrChange>
              <a:clrFrom>
                <a:srgbClr val="FFFFFF"/>
              </a:clrFrom>
              <a:clrTo>
                <a:srgbClr val="FFFFFF">
                  <a:alpha val="0"/>
                </a:srgbClr>
              </a:clrTo>
            </a:clrChange>
          </a:blip>
          <a:stretch>
            <a:fillRect/>
          </a:stretch>
        </p:blipFill>
        <p:spPr>
          <a:xfrm>
            <a:off x="3589962" y="4723007"/>
            <a:ext cx="4987230" cy="794337"/>
          </a:xfrm>
          <a:prstGeom prst="rect">
            <a:avLst/>
          </a:prstGeom>
        </p:spPr>
      </p:pic>
      <p:graphicFrame>
        <p:nvGraphicFramePr>
          <p:cNvPr id="5" name="表格 4"/>
          <p:cNvGraphicFramePr>
            <a:graphicFrameLocks noGrp="1" noChangeAspect="1"/>
          </p:cNvGraphicFramePr>
          <p:nvPr>
            <p:extLst>
              <p:ext uri="{D42A27DB-BD31-4B8C-83A1-F6EECF244321}">
                <p14:modId xmlns:p14="http://schemas.microsoft.com/office/powerpoint/2010/main" val="1328806190"/>
              </p:ext>
            </p:extLst>
          </p:nvPr>
        </p:nvGraphicFramePr>
        <p:xfrm>
          <a:off x="381000" y="1599467"/>
          <a:ext cx="11430000" cy="4053840"/>
        </p:xfrm>
        <a:graphic>
          <a:graphicData uri="http://schemas.openxmlformats.org/drawingml/2006/table">
            <a:tbl>
              <a:tblPr firstRow="1" firstCol="1" bandRow="1"/>
              <a:tblGrid>
                <a:gridCol w="1242317"/>
                <a:gridCol w="10187683"/>
              </a:tblGrid>
              <a:tr h="0">
                <a:tc>
                  <a:txBody>
                    <a:bodyPr/>
                    <a:lstStyle/>
                    <a:p>
                      <a:pPr>
                        <a:lnSpc>
                          <a:spcPct val="150000"/>
                        </a:lnSpc>
                        <a:spcAft>
                          <a:spcPts val="0"/>
                        </a:spcAft>
                        <a:tabLst>
                          <a:tab pos="1188085" algn="l"/>
                          <a:tab pos="2163445" algn="l"/>
                          <a:tab pos="3142615" algn="l"/>
                          <a:tab pos="4190365" algn="l"/>
                        </a:tabLst>
                      </a:pPr>
                      <a:r>
                        <a:rPr lang="zh-CN" sz="2800" dirty="0">
                          <a:solidFill>
                            <a:srgbClr val="000000"/>
                          </a:solidFill>
                          <a:effectLst/>
                          <a:latin typeface="阿里巴巴普惠体"/>
                          <a:ea typeface="微软雅黑"/>
                          <a:cs typeface="Times New Roman" panose="02020603050405020304" pitchFamily="18" charset="0"/>
                          <a:sym typeface="阿里巴巴普惠体"/>
                        </a:rPr>
                        <a:t>解析式</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dirty="0">
                          <a:solidFill>
                            <a:srgbClr val="000000"/>
                          </a:solidFill>
                          <a:effectLst/>
                          <a:latin typeface="阿里巴巴普惠体"/>
                          <a:ea typeface="微软雅黑"/>
                          <a:cs typeface="Times New Roman" panose="02020603050405020304" pitchFamily="18" charset="0"/>
                          <a:sym typeface="阿里巴巴普惠体"/>
                        </a:rPr>
                        <a:t>y=tan x</a:t>
                      </a:r>
                      <a:endParaRPr lang="zh-CN" sz="2800" dirty="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50000"/>
                        </a:lnSpc>
                        <a:spcAft>
                          <a:spcPts val="0"/>
                        </a:spcAft>
                        <a:tabLst>
                          <a:tab pos="1188085" algn="l"/>
                          <a:tab pos="2163445" algn="l"/>
                          <a:tab pos="3142615" algn="l"/>
                          <a:tab pos="4190365" algn="l"/>
                        </a:tabLst>
                      </a:pPr>
                      <a:r>
                        <a:rPr lang="zh-CN" sz="2800">
                          <a:solidFill>
                            <a:srgbClr val="000000"/>
                          </a:solidFill>
                          <a:effectLst/>
                          <a:latin typeface="阿里巴巴普惠体"/>
                          <a:ea typeface="微软雅黑"/>
                          <a:cs typeface="Times New Roman" panose="02020603050405020304" pitchFamily="18" charset="0"/>
                          <a:sym typeface="阿里巴巴普惠体"/>
                        </a:rPr>
                        <a:t>图象</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阿里巴巴普惠体"/>
                          <a:ea typeface="微软雅黑"/>
                          <a:cs typeface="Times New Roman" panose="02020603050405020304" pitchFamily="18" charset="0"/>
                          <a:sym typeface="阿里巴巴普惠体"/>
                        </a:rPr>
                        <a:t> </a:t>
                      </a:r>
                      <a:endParaRPr lang="en-US" sz="2800" smtClean="0">
                        <a:solidFill>
                          <a:srgbClr val="000000"/>
                        </a:solidFill>
                        <a:effectLst/>
                        <a:latin typeface="阿里巴巴普惠体"/>
                        <a:ea typeface="微软雅黑"/>
                        <a:cs typeface="Times New Roman" panose="02020603050405020304" pitchFamily="18" charset="0"/>
                        <a:sym typeface="阿里巴巴普惠体"/>
                      </a:endParaRPr>
                    </a:p>
                    <a:p>
                      <a:pPr>
                        <a:lnSpc>
                          <a:spcPct val="100000"/>
                        </a:lnSpc>
                        <a:spcAft>
                          <a:spcPts val="0"/>
                        </a:spcAft>
                        <a:tabLst>
                          <a:tab pos="1188085" algn="l"/>
                          <a:tab pos="2163445" algn="l"/>
                          <a:tab pos="3142615" algn="l"/>
                          <a:tab pos="4190365" algn="l"/>
                        </a:tabLst>
                      </a:pPr>
                      <a:endParaRPr lang="en-US" altLang="zh-CN" sz="2800" smtClean="0">
                        <a:solidFill>
                          <a:srgbClr val="000000"/>
                        </a:solidFill>
                        <a:effectLst/>
                        <a:latin typeface="阿里巴巴普惠体"/>
                        <a:ea typeface="微软雅黑"/>
                        <a:cs typeface="Times New Roman" panose="02020603050405020304" pitchFamily="18" charset="0"/>
                        <a:sym typeface="阿里巴巴普惠体"/>
                      </a:endParaRPr>
                    </a:p>
                    <a:p>
                      <a:pPr>
                        <a:lnSpc>
                          <a:spcPct val="150000"/>
                        </a:lnSpc>
                        <a:spcAft>
                          <a:spcPts val="0"/>
                        </a:spcAft>
                        <a:tabLst>
                          <a:tab pos="1188085" algn="l"/>
                          <a:tab pos="2163445" algn="l"/>
                          <a:tab pos="3142615" algn="l"/>
                          <a:tab pos="4190365" algn="l"/>
                        </a:tabLst>
                      </a:pPr>
                      <a:endParaRPr lang="en-US" altLang="zh-CN" sz="2800" smtClean="0">
                        <a:solidFill>
                          <a:srgbClr val="000000"/>
                        </a:solidFill>
                        <a:effectLst/>
                        <a:latin typeface="阿里巴巴普惠体"/>
                        <a:ea typeface="微软雅黑"/>
                        <a:cs typeface="Times New Roman" panose="02020603050405020304" pitchFamily="18" charset="0"/>
                        <a:sym typeface="阿里巴巴普惠体"/>
                      </a:endParaRPr>
                    </a:p>
                    <a:p>
                      <a:pPr>
                        <a:lnSpc>
                          <a:spcPct val="150000"/>
                        </a:lnSpc>
                        <a:spcAft>
                          <a:spcPts val="0"/>
                        </a:spcAft>
                        <a:tabLst>
                          <a:tab pos="1188085" algn="l"/>
                          <a:tab pos="2163445" algn="l"/>
                          <a:tab pos="3142615" algn="l"/>
                          <a:tab pos="4190365" algn="l"/>
                        </a:tabLst>
                      </a:pPr>
                      <a:endParaRPr lang="zh-CN" sz="28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50000"/>
                        </a:lnSpc>
                        <a:spcAft>
                          <a:spcPts val="0"/>
                        </a:spcAft>
                        <a:tabLst>
                          <a:tab pos="1188085" algn="l"/>
                          <a:tab pos="2163445" algn="l"/>
                          <a:tab pos="3142615" algn="l"/>
                          <a:tab pos="4190365" algn="l"/>
                        </a:tabLst>
                      </a:pPr>
                      <a:r>
                        <a:rPr lang="zh-CN" sz="2800">
                          <a:solidFill>
                            <a:srgbClr val="000000"/>
                          </a:solidFill>
                          <a:effectLst/>
                          <a:latin typeface="阿里巴巴普惠体"/>
                          <a:ea typeface="微软雅黑"/>
                          <a:cs typeface="Times New Roman" panose="02020603050405020304" pitchFamily="18" charset="0"/>
                          <a:sym typeface="阿里巴巴普惠体"/>
                        </a:rPr>
                        <a:t>定义域</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fontAlgn="ctr">
                        <a:lnSpc>
                          <a:spcPct val="250000"/>
                        </a:lnSpc>
                        <a:spcAft>
                          <a:spcPts val="0"/>
                        </a:spcAft>
                        <a:tabLst>
                          <a:tab pos="1188085" algn="l"/>
                          <a:tab pos="2163445" algn="l"/>
                          <a:tab pos="3142615" algn="l"/>
                          <a:tab pos="4190365" algn="l"/>
                        </a:tabLst>
                      </a:pPr>
                      <a:r>
                        <a:rPr lang="en-US" sz="2800" dirty="0">
                          <a:solidFill>
                            <a:srgbClr val="000000"/>
                          </a:solidFill>
                          <a:effectLst/>
                          <a:latin typeface="阿里巴巴普惠体"/>
                          <a:ea typeface="微软雅黑"/>
                          <a:cs typeface="Times New Roman" panose="02020603050405020304" pitchFamily="18" charset="0"/>
                          <a:sym typeface="阿里巴巴普惠体"/>
                        </a:rPr>
                        <a:t> </a:t>
                      </a:r>
                      <a:endParaRPr lang="zh-CN" sz="2800" dirty="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6" name="图片 5"/>
          <p:cNvPicPr>
            <a:picLocks noChangeAspect="1"/>
          </p:cNvPicPr>
          <p:nvPr/>
        </p:nvPicPr>
        <p:blipFill>
          <a:blip r:embed="rId3" cstate="email">
            <a:clrChange>
              <a:clrFrom>
                <a:srgbClr val="FFFFFF"/>
              </a:clrFrom>
              <a:clrTo>
                <a:srgbClr val="FFFFFF">
                  <a:alpha val="0"/>
                </a:srgbClr>
              </a:clrTo>
            </a:clrChange>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a:ext>
            </a:extLst>
          </a:blip>
          <a:stretch>
            <a:fillRect/>
          </a:stretch>
        </p:blipFill>
        <p:spPr>
          <a:xfrm>
            <a:off x="3350445" y="2282775"/>
            <a:ext cx="5573305" cy="2149029"/>
          </a:xfrm>
          <a:prstGeom prst="rect">
            <a:avLst/>
          </a:prstGeom>
        </p:spPr>
      </p:pic>
    </p:spTree>
    <p:extLst>
      <p:ext uri="{BB962C8B-B14F-4D97-AF65-F5344CB8AC3E}">
        <p14:creationId xmlns:p14="http://schemas.microsoft.com/office/powerpoint/2010/main" val="30626666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noChangeAspect="1"/>
          </p:cNvGraphicFramePr>
          <p:nvPr>
            <p:extLst>
              <p:ext uri="{D42A27DB-BD31-4B8C-83A1-F6EECF244321}">
                <p14:modId xmlns:p14="http://schemas.microsoft.com/office/powerpoint/2010/main" val="839624065"/>
              </p:ext>
            </p:extLst>
          </p:nvPr>
        </p:nvGraphicFramePr>
        <p:xfrm>
          <a:off x="381000" y="1162180"/>
          <a:ext cx="11430000" cy="3840480"/>
        </p:xfrm>
        <a:graphic>
          <a:graphicData uri="http://schemas.openxmlformats.org/drawingml/2006/table">
            <a:tbl>
              <a:tblPr firstRow="1" firstCol="1" bandRow="1"/>
              <a:tblGrid>
                <a:gridCol w="1622461"/>
                <a:gridCol w="9807539"/>
              </a:tblGrid>
              <a:tr h="0">
                <a:tc>
                  <a:txBody>
                    <a:bodyPr/>
                    <a:lstStyle/>
                    <a:p>
                      <a:pPr>
                        <a:spcAft>
                          <a:spcPts val="0"/>
                        </a:spcAft>
                        <a:tabLst>
                          <a:tab pos="1188085" algn="l"/>
                          <a:tab pos="2163445" algn="l"/>
                          <a:tab pos="3142615" algn="l"/>
                          <a:tab pos="4190365" algn="l"/>
                        </a:tabLst>
                      </a:pPr>
                      <a:r>
                        <a:rPr lang="zh-CN" sz="2800">
                          <a:solidFill>
                            <a:srgbClr val="000000"/>
                          </a:solidFill>
                          <a:effectLst/>
                          <a:latin typeface="阿里巴巴普惠体"/>
                          <a:ea typeface="微软雅黑"/>
                          <a:cs typeface="Times New Roman" panose="02020603050405020304" pitchFamily="18" charset="0"/>
                          <a:sym typeface="阿里巴巴普惠体"/>
                        </a:rPr>
                        <a:t>解析式</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阿里巴巴普惠体"/>
                          <a:ea typeface="微软雅黑"/>
                          <a:cs typeface="Times New Roman" panose="02020603050405020304" pitchFamily="18" charset="0"/>
                          <a:sym typeface="阿里巴巴普惠体"/>
                        </a:rPr>
                        <a:t>y=tan x</a:t>
                      </a:r>
                      <a:endParaRPr lang="zh-CN" sz="28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2800">
                          <a:solidFill>
                            <a:srgbClr val="000000"/>
                          </a:solidFill>
                          <a:effectLst/>
                          <a:latin typeface="阿里巴巴普惠体"/>
                          <a:ea typeface="微软雅黑"/>
                          <a:cs typeface="Times New Roman" panose="02020603050405020304" pitchFamily="18" charset="0"/>
                          <a:sym typeface="阿里巴巴普惠体"/>
                        </a:rPr>
                        <a:t>值域</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阿里巴巴普惠体"/>
                          <a:ea typeface="微软雅黑"/>
                          <a:cs typeface="Times New Roman" panose="02020603050405020304" pitchFamily="18" charset="0"/>
                          <a:sym typeface="阿里巴巴普惠体"/>
                        </a:rPr>
                        <a:t>R</a:t>
                      </a:r>
                      <a:endParaRPr lang="zh-CN" sz="28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2800">
                          <a:solidFill>
                            <a:srgbClr val="000000"/>
                          </a:solidFill>
                          <a:effectLst/>
                          <a:latin typeface="阿里巴巴普惠体"/>
                          <a:ea typeface="微软雅黑"/>
                          <a:cs typeface="Times New Roman" panose="02020603050405020304" pitchFamily="18" charset="0"/>
                          <a:sym typeface="阿里巴巴普惠体"/>
                        </a:rPr>
                        <a:t>周期</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阿里巴巴普惠体"/>
                          <a:ea typeface="微软雅黑"/>
                          <a:cs typeface="Times New Roman" panose="02020603050405020304" pitchFamily="18" charset="0"/>
                          <a:sym typeface="阿里巴巴普惠体"/>
                        </a:rPr>
                        <a:t>π</a:t>
                      </a:r>
                      <a:endParaRPr lang="zh-CN" sz="28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2800">
                          <a:solidFill>
                            <a:srgbClr val="000000"/>
                          </a:solidFill>
                          <a:effectLst/>
                          <a:latin typeface="阿里巴巴普惠体"/>
                          <a:ea typeface="微软雅黑"/>
                          <a:cs typeface="Times New Roman" panose="02020603050405020304" pitchFamily="18" charset="0"/>
                          <a:sym typeface="阿里巴巴普惠体"/>
                        </a:rPr>
                        <a:t>奇偶性</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2800">
                          <a:solidFill>
                            <a:srgbClr val="000000"/>
                          </a:solidFill>
                          <a:effectLst/>
                          <a:latin typeface="阿里巴巴普惠体"/>
                          <a:ea typeface="微软雅黑"/>
                          <a:cs typeface="Times New Roman" panose="02020603050405020304" pitchFamily="18" charset="0"/>
                          <a:sym typeface="阿里巴巴普惠体"/>
                        </a:rPr>
                        <a:t>奇函数</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2800">
                          <a:solidFill>
                            <a:srgbClr val="000000"/>
                          </a:solidFill>
                          <a:effectLst/>
                          <a:latin typeface="阿里巴巴普惠体"/>
                          <a:ea typeface="微软雅黑"/>
                          <a:cs typeface="Times New Roman" panose="02020603050405020304" pitchFamily="18" charset="0"/>
                          <a:sym typeface="阿里巴巴普惠体"/>
                        </a:rPr>
                        <a:t>对称中心</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endParaRPr lang="en-US" sz="2800" smtClean="0">
                        <a:solidFill>
                          <a:srgbClr val="000000"/>
                        </a:solidFill>
                        <a:effectLst/>
                        <a:latin typeface="阿里巴巴普惠体"/>
                        <a:ea typeface="微软雅黑"/>
                        <a:cs typeface="Times New Roman" panose="02020603050405020304" pitchFamily="18" charset="0"/>
                        <a:sym typeface="阿里巴巴普惠体"/>
                      </a:endParaRPr>
                    </a:p>
                    <a:p>
                      <a:pPr>
                        <a:spcAft>
                          <a:spcPts val="0"/>
                        </a:spcAft>
                        <a:tabLst>
                          <a:tab pos="1188085" algn="l"/>
                          <a:tab pos="2163445" algn="l"/>
                          <a:tab pos="3142615" algn="l"/>
                          <a:tab pos="4190365" algn="l"/>
                        </a:tabLst>
                      </a:pPr>
                      <a:endParaRPr lang="en-US" sz="28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2800">
                          <a:solidFill>
                            <a:srgbClr val="000000"/>
                          </a:solidFill>
                          <a:effectLst/>
                          <a:latin typeface="阿里巴巴普惠体"/>
                          <a:ea typeface="微软雅黑"/>
                          <a:cs typeface="Times New Roman" panose="02020603050405020304" pitchFamily="18" charset="0"/>
                          <a:sym typeface="阿里巴巴普惠体"/>
                        </a:rPr>
                        <a:t>单调性</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endParaRPr lang="en-US" altLang="zh-CN" sz="2800" smtClean="0">
                        <a:solidFill>
                          <a:srgbClr val="000000"/>
                        </a:solidFill>
                        <a:effectLst/>
                        <a:latin typeface="阿里巴巴普惠体"/>
                        <a:ea typeface="微软雅黑"/>
                        <a:cs typeface="Times New Roman" panose="02020603050405020304" pitchFamily="18" charset="0"/>
                        <a:sym typeface="阿里巴巴普惠体"/>
                      </a:endParaRPr>
                    </a:p>
                    <a:p>
                      <a:pPr>
                        <a:spcAft>
                          <a:spcPts val="0"/>
                        </a:spcAft>
                        <a:tabLst>
                          <a:tab pos="1188085" algn="l"/>
                          <a:tab pos="2163445" algn="l"/>
                          <a:tab pos="3142615" algn="l"/>
                          <a:tab pos="4190365" algn="l"/>
                        </a:tabLst>
                      </a:pPr>
                      <a:r>
                        <a:rPr lang="zh-CN" sz="2800" smtClean="0">
                          <a:solidFill>
                            <a:srgbClr val="000000"/>
                          </a:solidFill>
                          <a:effectLst/>
                          <a:latin typeface="阿里巴巴普惠体"/>
                          <a:ea typeface="微软雅黑"/>
                          <a:cs typeface="Times New Roman" panose="02020603050405020304" pitchFamily="18" charset="0"/>
                          <a:sym typeface="阿里巴巴普惠体"/>
                        </a:rPr>
                        <a:t>在</a:t>
                      </a:r>
                      <a:r>
                        <a:rPr lang="zh-CN" sz="2800">
                          <a:solidFill>
                            <a:srgbClr val="000000"/>
                          </a:solidFill>
                          <a:effectLst/>
                          <a:latin typeface="阿里巴巴普惠体"/>
                          <a:ea typeface="微软雅黑"/>
                          <a:cs typeface="Times New Roman" panose="02020603050405020304" pitchFamily="18" charset="0"/>
                          <a:sym typeface="阿里巴巴普惠体"/>
                        </a:rPr>
                        <a:t>每一个</a:t>
                      </a:r>
                      <a:r>
                        <a:rPr lang="zh-CN" sz="2800" smtClean="0">
                          <a:solidFill>
                            <a:srgbClr val="000000"/>
                          </a:solidFill>
                          <a:effectLst/>
                          <a:latin typeface="阿里巴巴普惠体"/>
                          <a:ea typeface="微软雅黑"/>
                          <a:cs typeface="Times New Roman" panose="02020603050405020304" pitchFamily="18" charset="0"/>
                          <a:sym typeface="阿里巴巴普惠体"/>
                        </a:rPr>
                        <a:t>区间</a:t>
                      </a:r>
                      <a:r>
                        <a:rPr lang="en-US" altLang="zh-CN" sz="2800" smtClean="0">
                          <a:solidFill>
                            <a:srgbClr val="000000"/>
                          </a:solidFill>
                          <a:effectLst/>
                          <a:latin typeface="阿里巴巴普惠体"/>
                          <a:ea typeface="微软雅黑"/>
                          <a:cs typeface="Times New Roman" panose="02020603050405020304" pitchFamily="18" charset="0"/>
                          <a:sym typeface="阿里巴巴普惠体"/>
                        </a:rPr>
                        <a:t>                                               </a:t>
                      </a:r>
                      <a:r>
                        <a:rPr lang="en-US" sz="2800" smtClean="0">
                          <a:solidFill>
                            <a:srgbClr val="000000"/>
                          </a:solidFill>
                          <a:effectLst/>
                          <a:latin typeface="阿里巴巴普惠体"/>
                          <a:ea typeface="微软雅黑"/>
                          <a:cs typeface="Times New Roman" panose="02020603050405020304" pitchFamily="18" charset="0"/>
                          <a:sym typeface="阿里巴巴普惠体"/>
                        </a:rPr>
                        <a:t>,</a:t>
                      </a:r>
                      <a:r>
                        <a:rPr lang="en-US" sz="2800">
                          <a:solidFill>
                            <a:srgbClr val="000000"/>
                          </a:solidFill>
                          <a:effectLst/>
                          <a:latin typeface="阿里巴巴普惠体"/>
                          <a:ea typeface="微软雅黑"/>
                          <a:cs typeface="Times New Roman" panose="02020603050405020304" pitchFamily="18" charset="0"/>
                          <a:sym typeface="阿里巴巴普惠体"/>
                        </a:rPr>
                        <a:t>k</a:t>
                      </a:r>
                      <a:r>
                        <a:rPr lang="zh-CN" sz="2800">
                          <a:solidFill>
                            <a:srgbClr val="000000"/>
                          </a:solidFill>
                          <a:effectLst/>
                          <a:latin typeface="阿里巴巴普惠体"/>
                          <a:ea typeface="微软雅黑"/>
                          <a:cs typeface="宋体" panose="02010600030101010101" pitchFamily="2" charset="-122"/>
                          <a:sym typeface="阿里巴巴普惠体"/>
                        </a:rPr>
                        <a:t>∈</a:t>
                      </a:r>
                      <a:r>
                        <a:rPr lang="en-US" sz="2800">
                          <a:solidFill>
                            <a:srgbClr val="000000"/>
                          </a:solidFill>
                          <a:effectLst/>
                          <a:latin typeface="阿里巴巴普惠体"/>
                          <a:ea typeface="微软雅黑"/>
                          <a:cs typeface="Times New Roman" panose="02020603050405020304" pitchFamily="18" charset="0"/>
                          <a:sym typeface="阿里巴巴普惠体"/>
                        </a:rPr>
                        <a:t>Z</a:t>
                      </a:r>
                      <a:r>
                        <a:rPr lang="zh-CN" sz="2800">
                          <a:solidFill>
                            <a:srgbClr val="000000"/>
                          </a:solidFill>
                          <a:effectLst/>
                          <a:latin typeface="阿里巴巴普惠体"/>
                          <a:ea typeface="微软雅黑"/>
                          <a:cs typeface="Times New Roman" panose="02020603050405020304" pitchFamily="18" charset="0"/>
                          <a:sym typeface="阿里巴巴普惠体"/>
                        </a:rPr>
                        <a:t>上都单调</a:t>
                      </a:r>
                      <a:r>
                        <a:rPr lang="zh-CN" sz="2800" smtClean="0">
                          <a:solidFill>
                            <a:srgbClr val="000000"/>
                          </a:solidFill>
                          <a:effectLst/>
                          <a:latin typeface="阿里巴巴普惠体"/>
                          <a:ea typeface="微软雅黑"/>
                          <a:cs typeface="Times New Roman" panose="02020603050405020304" pitchFamily="18" charset="0"/>
                          <a:sym typeface="阿里巴巴普惠体"/>
                        </a:rPr>
                        <a:t>递增</a:t>
                      </a:r>
                      <a:endParaRPr lang="en-US" altLang="zh-CN" sz="2800" smtClean="0">
                        <a:solidFill>
                          <a:srgbClr val="000000"/>
                        </a:solidFill>
                        <a:effectLst/>
                        <a:latin typeface="阿里巴巴普惠体"/>
                        <a:ea typeface="微软雅黑"/>
                        <a:cs typeface="Times New Roman" panose="02020603050405020304" pitchFamily="18" charset="0"/>
                        <a:sym typeface="阿里巴巴普惠体"/>
                      </a:endParaRPr>
                    </a:p>
                    <a:p>
                      <a:pPr>
                        <a:spcAft>
                          <a:spcPts val="0"/>
                        </a:spcAft>
                        <a:tabLst>
                          <a:tab pos="1188085" algn="l"/>
                          <a:tab pos="2163445" algn="l"/>
                          <a:tab pos="3142615" algn="l"/>
                          <a:tab pos="4190365" algn="l"/>
                        </a:tabLst>
                      </a:pPr>
                      <a:endParaRPr lang="zh-CN" sz="2800">
                        <a:solidFill>
                          <a:srgbClr val="000000"/>
                        </a:solidFill>
                        <a:effectLst/>
                        <a:latin typeface="阿里巴巴普惠体"/>
                        <a:ea typeface="微软雅黑"/>
                        <a:cs typeface="Times New Roman" panose="02020603050405020304" pitchFamily="18" charset="0"/>
                        <a:sym typeface="阿里巴巴普惠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3" name="图片 2"/>
          <p:cNvPicPr>
            <a:picLocks noChangeAspect="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064142" y="2887040"/>
            <a:ext cx="2594337" cy="828514"/>
          </a:xfrm>
          <a:prstGeom prst="rect">
            <a:avLst/>
          </a:prstGeom>
        </p:spPr>
      </p:pic>
      <p:pic>
        <p:nvPicPr>
          <p:cNvPr id="4" name="图片 3"/>
          <p:cNvPicPr>
            <a:picLocks noChangeAspect="1"/>
          </p:cNvPicPr>
          <p:nvPr/>
        </p:nvPicPr>
        <p:blipFill>
          <a:blip r:embed="rId3">
            <a:clrChange>
              <a:clrFrom>
                <a:srgbClr val="FFFFFF"/>
              </a:clrFrom>
              <a:clrTo>
                <a:srgbClr val="FFFFFF">
                  <a:alpha val="0"/>
                </a:srgbClr>
              </a:clrTo>
            </a:clrChange>
          </a:blip>
          <a:stretch>
            <a:fillRect/>
          </a:stretch>
        </p:blipFill>
        <p:spPr>
          <a:xfrm>
            <a:off x="4112765" y="3950360"/>
            <a:ext cx="4171950" cy="847725"/>
          </a:xfrm>
          <a:prstGeom prst="rect">
            <a:avLst/>
          </a:prstGeom>
        </p:spPr>
      </p:pic>
    </p:spTree>
    <p:extLst>
      <p:ext uri="{BB962C8B-B14F-4D97-AF65-F5344CB8AC3E}">
        <p14:creationId xmlns:p14="http://schemas.microsoft.com/office/powerpoint/2010/main" val="29837798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96485"/>
            <a:ext cx="11430000" cy="564160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微判断</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(1)</a:t>
            </a:r>
            <a:r>
              <a:rPr lang="zh-CN" altLang="zh-CN" sz="2800" dirty="0">
                <a:solidFill>
                  <a:srgbClr val="000000"/>
                </a:solidFill>
                <a:latin typeface="阿里巴巴普惠体"/>
                <a:ea typeface="微软雅黑"/>
                <a:cs typeface="Times New Roman" panose="02020603050405020304" pitchFamily="18" charset="0"/>
                <a:sym typeface="阿里巴巴普惠体"/>
              </a:rPr>
              <a:t>函数</a:t>
            </a:r>
            <a:r>
              <a:rPr lang="en-US" altLang="zh-CN" sz="2800" i="1" dirty="0">
                <a:solidFill>
                  <a:srgbClr val="000000"/>
                </a:solidFill>
                <a:latin typeface="阿里巴巴普惠体"/>
                <a:ea typeface="微软雅黑"/>
                <a:cs typeface="Times New Roman" panose="02020603050405020304" pitchFamily="18" charset="0"/>
                <a:sym typeface="阿里巴巴普惠体"/>
              </a:rPr>
              <a:t>y=</a:t>
            </a:r>
            <a:r>
              <a:rPr lang="en-US" altLang="zh-CN" sz="2800" dirty="0">
                <a:solidFill>
                  <a:srgbClr val="000000"/>
                </a:solidFill>
                <a:latin typeface="阿里巴巴普惠体"/>
                <a:ea typeface="微软雅黑"/>
                <a:cs typeface="Times New Roman" panose="02020603050405020304" pitchFamily="18" charset="0"/>
                <a:sym typeface="阿里巴巴普惠体"/>
              </a:rPr>
              <a:t>tan </a:t>
            </a:r>
            <a:r>
              <a:rPr lang="en-US" altLang="zh-CN" sz="2800" i="1" dirty="0">
                <a:solidFill>
                  <a:srgbClr val="000000"/>
                </a:solidFill>
                <a:latin typeface="阿里巴巴普惠体"/>
                <a:ea typeface="微软雅黑"/>
                <a:cs typeface="Times New Roman" panose="02020603050405020304" pitchFamily="18" charset="0"/>
                <a:sym typeface="阿里巴巴普惠体"/>
              </a:rPr>
              <a:t>x</a:t>
            </a:r>
            <a:r>
              <a:rPr lang="zh-CN" altLang="zh-CN" sz="2800" dirty="0">
                <a:solidFill>
                  <a:srgbClr val="000000"/>
                </a:solidFill>
                <a:latin typeface="阿里巴巴普惠体"/>
                <a:ea typeface="微软雅黑"/>
                <a:cs typeface="Times New Roman" panose="02020603050405020304" pitchFamily="18" charset="0"/>
                <a:sym typeface="阿里巴巴普惠体"/>
              </a:rPr>
              <a:t>在其定义域上是增函数</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 (</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(2)</a:t>
            </a:r>
            <a:r>
              <a:rPr lang="zh-CN" altLang="zh-CN" sz="2800" dirty="0">
                <a:solidFill>
                  <a:srgbClr val="000000"/>
                </a:solidFill>
                <a:latin typeface="阿里巴巴普惠体"/>
                <a:ea typeface="微软雅黑"/>
                <a:cs typeface="Times New Roman" panose="02020603050405020304" pitchFamily="18" charset="0"/>
                <a:sym typeface="阿里巴巴普惠体"/>
              </a:rPr>
              <a:t>函数</a:t>
            </a:r>
            <a:r>
              <a:rPr lang="en-US" altLang="zh-CN" sz="2800" i="1" dirty="0">
                <a:solidFill>
                  <a:srgbClr val="000000"/>
                </a:solidFill>
                <a:latin typeface="阿里巴巴普惠体"/>
                <a:ea typeface="微软雅黑"/>
                <a:cs typeface="Times New Roman" panose="02020603050405020304" pitchFamily="18" charset="0"/>
                <a:sym typeface="阿里巴巴普惠体"/>
              </a:rPr>
              <a:t>y=</a:t>
            </a:r>
            <a:r>
              <a:rPr lang="en-US" altLang="zh-CN" sz="2800" dirty="0">
                <a:solidFill>
                  <a:srgbClr val="000000"/>
                </a:solidFill>
                <a:latin typeface="阿里巴巴普惠体"/>
                <a:ea typeface="微软雅黑"/>
                <a:cs typeface="Times New Roman" panose="02020603050405020304" pitchFamily="18" charset="0"/>
                <a:sym typeface="阿里巴巴普惠体"/>
              </a:rPr>
              <a:t>tan </a:t>
            </a:r>
            <a:r>
              <a:rPr lang="en-US" altLang="zh-CN" sz="2800" i="1" dirty="0">
                <a:solidFill>
                  <a:srgbClr val="000000"/>
                </a:solidFill>
                <a:latin typeface="阿里巴巴普惠体"/>
                <a:ea typeface="微软雅黑"/>
                <a:cs typeface="Times New Roman" panose="02020603050405020304" pitchFamily="18" charset="0"/>
                <a:sym typeface="阿里巴巴普惠体"/>
              </a:rPr>
              <a:t>x</a:t>
            </a:r>
            <a:r>
              <a:rPr lang="zh-CN" altLang="zh-CN" sz="2800" dirty="0">
                <a:solidFill>
                  <a:srgbClr val="000000"/>
                </a:solidFill>
                <a:latin typeface="阿里巴巴普惠体"/>
                <a:ea typeface="微软雅黑"/>
                <a:cs typeface="Times New Roman" panose="02020603050405020304" pitchFamily="18" charset="0"/>
                <a:sym typeface="阿里巴巴普惠体"/>
              </a:rPr>
              <a:t>的图象的对称中心是</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k</a:t>
            </a:r>
            <a:r>
              <a:rPr lang="en-US" altLang="zh-CN" sz="2800" dirty="0">
                <a:solidFill>
                  <a:srgbClr val="000000"/>
                </a:solidFill>
                <a:effectLst/>
                <a:latin typeface="阿里巴巴普惠体"/>
                <a:ea typeface="微软雅黑"/>
                <a:cs typeface="Times New Roman" panose="02020603050405020304" pitchFamily="18" charset="0"/>
                <a:sym typeface="阿里巴巴普惠体"/>
              </a:rPr>
              <a:t>π</a:t>
            </a:r>
            <a:r>
              <a:rPr lang="en-US" altLang="zh-CN" sz="2800" dirty="0">
                <a:solidFill>
                  <a:srgbClr val="000000"/>
                </a:solidFill>
                <a:latin typeface="阿里巴巴普惠体"/>
                <a:ea typeface="微软雅黑"/>
                <a:cs typeface="Times New Roman" panose="02020603050405020304" pitchFamily="18" charset="0"/>
                <a:sym typeface="阿里巴巴普惠体"/>
              </a:rPr>
              <a:t>,0)(</a:t>
            </a:r>
            <a:r>
              <a:rPr lang="en-US" altLang="zh-CN" sz="2800" i="1" dirty="0">
                <a:solidFill>
                  <a:srgbClr val="000000"/>
                </a:solidFill>
                <a:latin typeface="阿里巴巴普惠体"/>
                <a:ea typeface="微软雅黑"/>
                <a:cs typeface="Times New Roman" panose="02020603050405020304" pitchFamily="18" charset="0"/>
                <a:sym typeface="阿里巴巴普惠体"/>
              </a:rPr>
              <a:t>k</a:t>
            </a:r>
            <a:r>
              <a:rPr lang="zh-CN" altLang="zh-CN" sz="2800" dirty="0">
                <a:solidFill>
                  <a:srgbClr val="000000"/>
                </a:solidFill>
                <a:latin typeface="阿里巴巴普惠体"/>
                <a:ea typeface="微软雅黑"/>
                <a:cs typeface="宋体" panose="02010600030101010101" pitchFamily="2" charset="-122"/>
                <a:sym typeface="阿里巴巴普惠体"/>
              </a:rPr>
              <a:t>∈</a:t>
            </a:r>
            <a:r>
              <a:rPr lang="en-US" altLang="zh-CN" sz="2800" b="1" dirty="0">
                <a:solidFill>
                  <a:srgbClr val="000000"/>
                </a:solidFill>
                <a:latin typeface="阿里巴巴普惠体"/>
                <a:ea typeface="微软雅黑"/>
                <a:cs typeface="Times New Roman" panose="02020603050405020304" pitchFamily="18" charset="0"/>
                <a:sym typeface="阿里巴巴普惠体"/>
              </a:rPr>
              <a:t>Z</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 (</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(3)</a:t>
            </a:r>
            <a:r>
              <a:rPr lang="zh-CN" altLang="zh-CN" sz="2800" dirty="0">
                <a:solidFill>
                  <a:srgbClr val="000000"/>
                </a:solidFill>
                <a:latin typeface="阿里巴巴普惠体"/>
                <a:ea typeface="微软雅黑"/>
                <a:cs typeface="Times New Roman" panose="02020603050405020304" pitchFamily="18" charset="0"/>
                <a:sym typeface="阿里巴巴普惠体"/>
              </a:rPr>
              <a:t>函数</a:t>
            </a:r>
            <a:r>
              <a:rPr lang="en-US" altLang="zh-CN" sz="2800" i="1" dirty="0">
                <a:solidFill>
                  <a:srgbClr val="000000"/>
                </a:solidFill>
                <a:latin typeface="阿里巴巴普惠体"/>
                <a:ea typeface="微软雅黑"/>
                <a:cs typeface="Times New Roman" panose="02020603050405020304" pitchFamily="18" charset="0"/>
                <a:sym typeface="阿里巴巴普惠体"/>
              </a:rPr>
              <a:t>y=</a:t>
            </a:r>
            <a:r>
              <a:rPr lang="en-US" altLang="zh-CN" sz="2800" dirty="0">
                <a:solidFill>
                  <a:srgbClr val="000000"/>
                </a:solidFill>
                <a:latin typeface="阿里巴巴普惠体"/>
                <a:ea typeface="微软雅黑"/>
                <a:cs typeface="Times New Roman" panose="02020603050405020304" pitchFamily="18" charset="0"/>
                <a:sym typeface="阿里巴巴普惠体"/>
              </a:rPr>
              <a:t>tan 2</a:t>
            </a:r>
            <a:r>
              <a:rPr lang="en-US" altLang="zh-CN" sz="2800" i="1" dirty="0">
                <a:solidFill>
                  <a:srgbClr val="000000"/>
                </a:solidFill>
                <a:latin typeface="阿里巴巴普惠体"/>
                <a:ea typeface="微软雅黑"/>
                <a:cs typeface="Times New Roman" panose="02020603050405020304" pitchFamily="18" charset="0"/>
                <a:sym typeface="阿里巴巴普惠体"/>
              </a:rPr>
              <a:t>x</a:t>
            </a:r>
            <a:r>
              <a:rPr lang="zh-CN" altLang="zh-CN" sz="2800" dirty="0">
                <a:solidFill>
                  <a:srgbClr val="000000"/>
                </a:solidFill>
                <a:latin typeface="阿里巴巴普惠体"/>
                <a:ea typeface="微软雅黑"/>
                <a:cs typeface="Times New Roman" panose="02020603050405020304" pitchFamily="18" charset="0"/>
                <a:sym typeface="阿里巴巴普惠体"/>
              </a:rPr>
              <a:t>的周期为</a:t>
            </a:r>
            <a:r>
              <a:rPr lang="en-US" altLang="zh-CN" sz="2800" dirty="0">
                <a:solidFill>
                  <a:srgbClr val="000000"/>
                </a:solidFill>
                <a:effectLst/>
                <a:latin typeface="阿里巴巴普惠体"/>
                <a:ea typeface="微软雅黑"/>
                <a:cs typeface="Times New Roman" panose="02020603050405020304" pitchFamily="18" charset="0"/>
                <a:sym typeface="阿里巴巴普惠体"/>
              </a:rPr>
              <a:t>π</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dirty="0">
                <a:solidFill>
                  <a:srgbClr val="4040C8"/>
                </a:solidFill>
                <a:effectLst/>
                <a:latin typeface="阿里巴巴普惠体"/>
                <a:ea typeface="微软雅黑"/>
                <a:cs typeface="Times New Roman" panose="02020603050405020304" pitchFamily="18" charset="0"/>
                <a:sym typeface="阿里巴巴普惠体"/>
              </a:rPr>
              <a:t>答案 </a:t>
            </a:r>
            <a:r>
              <a:rPr lang="en-US" altLang="zh-CN" sz="2800" dirty="0">
                <a:solidFill>
                  <a:srgbClr val="000000"/>
                </a:solidFill>
                <a:latin typeface="阿里巴巴普惠体"/>
                <a:ea typeface="微软雅黑"/>
                <a:cs typeface="Times New Roman" panose="02020603050405020304" pitchFamily="18" charset="0"/>
                <a:sym typeface="阿里巴巴普惠体"/>
              </a:rPr>
              <a:t>(1)×</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en-US" altLang="zh-CN" sz="2800" dirty="0">
                <a:solidFill>
                  <a:srgbClr val="000000"/>
                </a:solidFill>
                <a:latin typeface="阿里巴巴普惠体"/>
                <a:ea typeface="微软雅黑"/>
                <a:cs typeface="Times New Roman" panose="02020603050405020304" pitchFamily="18" charset="0"/>
                <a:sym typeface="阿里巴巴普惠体"/>
              </a:rPr>
              <a:t>(2)×</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en-US" altLang="zh-CN" sz="2800" dirty="0">
                <a:solidFill>
                  <a:srgbClr val="000000"/>
                </a:solidFill>
                <a:latin typeface="阿里巴巴普惠体"/>
                <a:ea typeface="微软雅黑"/>
                <a:cs typeface="Times New Roman" panose="02020603050405020304" pitchFamily="18" charset="0"/>
                <a:sym typeface="阿里巴巴普惠体"/>
              </a:rPr>
              <a:t>(3)×</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阿里巴巴普惠体"/>
                <a:ea typeface="微软雅黑"/>
                <a:cs typeface="Times New Roman" panose="02020603050405020304" pitchFamily="18" charset="0"/>
                <a:sym typeface="阿里巴巴普惠体"/>
              </a:rPr>
              <a:t>微练习</a:t>
            </a: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函数</a:t>
            </a:r>
            <a:r>
              <a:rPr lang="en-US" altLang="zh-CN" sz="2800" i="1" dirty="0">
                <a:solidFill>
                  <a:srgbClr val="000000"/>
                </a:solidFill>
                <a:latin typeface="阿里巴巴普惠体"/>
                <a:ea typeface="微软雅黑"/>
                <a:cs typeface="Times New Roman" panose="02020603050405020304" pitchFamily="18" charset="0"/>
                <a:sym typeface="阿里巴巴普惠体"/>
              </a:rPr>
              <a:t>y=</a:t>
            </a:r>
            <a:r>
              <a:rPr lang="en-US" altLang="zh-CN" sz="2800" dirty="0">
                <a:solidFill>
                  <a:srgbClr val="000000"/>
                </a:solidFill>
                <a:latin typeface="阿里巴巴普惠体"/>
                <a:ea typeface="微软雅黑"/>
                <a:cs typeface="Times New Roman" panose="02020603050405020304" pitchFamily="18" charset="0"/>
                <a:sym typeface="阿里巴巴普惠体"/>
              </a:rPr>
              <a:t>tan </a:t>
            </a:r>
            <a:r>
              <a:rPr lang="en-US" altLang="zh-CN" sz="2800" i="1" dirty="0" err="1">
                <a:solidFill>
                  <a:srgbClr val="000000"/>
                </a:solidFill>
                <a:latin typeface="阿里巴巴普惠体"/>
                <a:ea typeface="微软雅黑"/>
                <a:cs typeface="Times New Roman" panose="02020603050405020304" pitchFamily="18" charset="0"/>
                <a:sym typeface="阿里巴巴普惠体"/>
              </a:rPr>
              <a:t>x</a:t>
            </a:r>
            <a:r>
              <a:rPr lang="en-US" altLang="zh-CN" sz="2800" dirty="0" err="1">
                <a:solidFill>
                  <a:srgbClr val="000000"/>
                </a:solidFill>
                <a:latin typeface="阿里巴巴普惠体"/>
                <a:ea typeface="微软雅黑"/>
                <a:cs typeface="Times New Roman" panose="02020603050405020304" pitchFamily="18" charset="0"/>
                <a:sym typeface="阿里巴巴普惠体"/>
              </a:rPr>
              <a:t>,</a:t>
            </a:r>
            <a:r>
              <a:rPr lang="en-US" altLang="zh-CN" sz="2800" i="1" dirty="0" err="1">
                <a:solidFill>
                  <a:srgbClr val="000000"/>
                </a:solidFill>
                <a:latin typeface="阿里巴巴普惠体"/>
                <a:ea typeface="微软雅黑"/>
                <a:cs typeface="Times New Roman" panose="02020603050405020304" pitchFamily="18" charset="0"/>
                <a:sym typeface="阿里巴巴普惠体"/>
              </a:rPr>
              <a:t>x</a:t>
            </a:r>
            <a:r>
              <a:rPr lang="zh-CN" altLang="zh-CN" sz="2800" dirty="0">
                <a:solidFill>
                  <a:srgbClr val="000000"/>
                </a:solidFill>
                <a:latin typeface="阿里巴巴普惠体"/>
                <a:ea typeface="微软雅黑"/>
                <a:cs typeface="宋体" panose="02010600030101010101" pitchFamily="2" charset="-122"/>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[0</a:t>
            </a:r>
            <a:r>
              <a:rPr lang="en-US" altLang="zh-CN" sz="2800" dirty="0" smtClean="0">
                <a:solidFill>
                  <a:srgbClr val="000000"/>
                </a:solidFill>
                <a:latin typeface="阿里巴巴普惠体"/>
                <a:ea typeface="微软雅黑"/>
                <a:cs typeface="Times New Roman" panose="02020603050405020304" pitchFamily="18" charset="0"/>
                <a:sym typeface="阿里巴巴普惠体"/>
              </a:rPr>
              <a:t>,   ]</a:t>
            </a:r>
            <a:r>
              <a:rPr lang="zh-CN" altLang="zh-CN" sz="2800" dirty="0">
                <a:solidFill>
                  <a:srgbClr val="000000"/>
                </a:solidFill>
                <a:latin typeface="阿里巴巴普惠体"/>
                <a:ea typeface="微软雅黑"/>
                <a:cs typeface="Times New Roman" panose="02020603050405020304" pitchFamily="18" charset="0"/>
                <a:sym typeface="阿里巴巴普惠体"/>
              </a:rPr>
              <a:t>的值域是</a:t>
            </a:r>
            <a:r>
              <a:rPr lang="zh-CN" altLang="zh-CN" sz="2800" i="1" u="sng" dirty="0">
                <a:solidFill>
                  <a:srgbClr val="FF0000"/>
                </a:solidFill>
                <a:uFill>
                  <a:solidFill>
                    <a:srgbClr val="000000"/>
                  </a:solidFill>
                </a:uFill>
                <a:latin typeface="阿里巴巴普惠体"/>
                <a:ea typeface="微软雅黑"/>
                <a:cs typeface="Times New Roman" panose="02020603050405020304" pitchFamily="18" charset="0"/>
                <a:sym typeface="阿里巴巴普惠体"/>
              </a:rPr>
              <a:t>　　　　　</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effectLst/>
                <a:latin typeface="阿里巴巴普惠体"/>
                <a:ea typeface="微软雅黑"/>
                <a:cs typeface="Times New Roman" panose="02020603050405020304" pitchFamily="18" charset="0"/>
                <a:sym typeface="阿里巴巴普惠体"/>
              </a:rPr>
              <a:t> </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dirty="0">
                <a:solidFill>
                  <a:srgbClr val="4040C8"/>
                </a:solidFill>
                <a:effectLst/>
                <a:latin typeface="阿里巴巴普惠体"/>
                <a:ea typeface="微软雅黑"/>
                <a:cs typeface="Times New Roman" panose="02020603050405020304" pitchFamily="18" charset="0"/>
                <a:sym typeface="阿里巴巴普惠体"/>
              </a:rPr>
              <a:t>答案 </a:t>
            </a:r>
            <a:r>
              <a:rPr lang="en-US" altLang="zh-CN" sz="2800" dirty="0">
                <a:solidFill>
                  <a:srgbClr val="000000"/>
                </a:solidFill>
                <a:latin typeface="阿里巴巴普惠体"/>
                <a:ea typeface="微软雅黑"/>
                <a:cs typeface="Times New Roman" panose="02020603050405020304" pitchFamily="18" charset="0"/>
                <a:sym typeface="阿里巴巴普惠体"/>
              </a:rPr>
              <a:t>[0,1]</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dirty="0">
                <a:solidFill>
                  <a:srgbClr val="4040C8"/>
                </a:solidFill>
                <a:effectLst/>
                <a:latin typeface="阿里巴巴普惠体"/>
                <a:ea typeface="微软雅黑"/>
                <a:cs typeface="Times New Roman" panose="02020603050405020304" pitchFamily="18" charset="0"/>
                <a:sym typeface="阿里巴巴普惠体"/>
              </a:rPr>
              <a:t>解析 </a:t>
            </a:r>
            <a:r>
              <a:rPr lang="en-US" altLang="zh-CN" sz="2800" i="1" dirty="0">
                <a:solidFill>
                  <a:srgbClr val="000000"/>
                </a:solidFill>
                <a:latin typeface="阿里巴巴普惠体"/>
                <a:ea typeface="微软雅黑"/>
                <a:cs typeface="Times New Roman" panose="02020603050405020304" pitchFamily="18" charset="0"/>
                <a:sym typeface="阿里巴巴普惠体"/>
              </a:rPr>
              <a:t>y=</a:t>
            </a:r>
            <a:r>
              <a:rPr lang="en-US" altLang="zh-CN" sz="2800" dirty="0">
                <a:solidFill>
                  <a:srgbClr val="000000"/>
                </a:solidFill>
                <a:latin typeface="阿里巴巴普惠体"/>
                <a:ea typeface="微软雅黑"/>
                <a:cs typeface="Times New Roman" panose="02020603050405020304" pitchFamily="18" charset="0"/>
                <a:sym typeface="阿里巴巴普惠体"/>
              </a:rPr>
              <a:t>tan</a:t>
            </a:r>
            <a:r>
              <a:rPr lang="en-US" altLang="zh-CN" sz="2800" dirty="0">
                <a:solidFill>
                  <a:srgbClr val="000000"/>
                </a:solidFill>
                <a:effectLst/>
                <a:latin typeface="阿里巴巴普惠体"/>
                <a:ea typeface="微软雅黑"/>
                <a:cs typeface="Times New Roman" panose="02020603050405020304" pitchFamily="18" charset="0"/>
                <a:sym typeface="阿里巴巴普惠体"/>
              </a:rPr>
              <a:t> </a:t>
            </a:r>
            <a:r>
              <a:rPr lang="en-US" altLang="zh-CN" sz="2800" i="1" dirty="0">
                <a:solidFill>
                  <a:srgbClr val="000000"/>
                </a:solidFill>
                <a:latin typeface="阿里巴巴普惠体"/>
                <a:ea typeface="微软雅黑"/>
                <a:cs typeface="Times New Roman" panose="02020603050405020304" pitchFamily="18" charset="0"/>
                <a:sym typeface="阿里巴巴普惠体"/>
              </a:rPr>
              <a:t>x</a:t>
            </a:r>
            <a:r>
              <a:rPr lang="zh-CN" altLang="zh-CN" sz="2800" dirty="0">
                <a:solidFill>
                  <a:srgbClr val="000000"/>
                </a:solidFill>
                <a:effectLst/>
                <a:latin typeface="阿里巴巴普惠体"/>
                <a:ea typeface="微软雅黑"/>
                <a:cs typeface="Times New Roman" panose="02020603050405020304" pitchFamily="18" charset="0"/>
                <a:sym typeface="阿里巴巴普惠体"/>
              </a:rPr>
              <a:t>在</a:t>
            </a:r>
            <a:r>
              <a:rPr lang="en-US" altLang="zh-CN" sz="2800" i="1" dirty="0">
                <a:solidFill>
                  <a:srgbClr val="000000"/>
                </a:solidFill>
                <a:latin typeface="阿里巴巴普惠体"/>
                <a:ea typeface="微软雅黑"/>
                <a:cs typeface="Times New Roman" panose="02020603050405020304" pitchFamily="18" charset="0"/>
                <a:sym typeface="阿里巴巴普惠体"/>
              </a:rPr>
              <a:t>x</a:t>
            </a:r>
            <a:r>
              <a:rPr lang="zh-CN" altLang="zh-CN" sz="2800" dirty="0">
                <a:solidFill>
                  <a:srgbClr val="000000"/>
                </a:solidFill>
                <a:latin typeface="阿里巴巴普惠体"/>
                <a:ea typeface="微软雅黑"/>
                <a:cs typeface="宋体" panose="02010600030101010101" pitchFamily="2" charset="-122"/>
                <a:sym typeface="阿里巴巴普惠体"/>
              </a:rPr>
              <a:t>∈</a:t>
            </a:r>
            <a:r>
              <a:rPr lang="en-US" altLang="zh-CN" sz="2800" dirty="0">
                <a:solidFill>
                  <a:srgbClr val="000000"/>
                </a:solidFill>
                <a:latin typeface="阿里巴巴普惠体"/>
                <a:ea typeface="微软雅黑"/>
                <a:cs typeface="Times New Roman" panose="02020603050405020304" pitchFamily="18" charset="0"/>
                <a:sym typeface="阿里巴巴普惠体"/>
              </a:rPr>
              <a:t>[0</a:t>
            </a:r>
            <a:r>
              <a:rPr lang="en-US" altLang="zh-CN" sz="2800" dirty="0" smtClean="0">
                <a:solidFill>
                  <a:srgbClr val="000000"/>
                </a:solidFill>
                <a:latin typeface="阿里巴巴普惠体"/>
                <a:ea typeface="微软雅黑"/>
                <a:cs typeface="Times New Roman" panose="02020603050405020304" pitchFamily="18" charset="0"/>
                <a:sym typeface="阿里巴巴普惠体"/>
              </a:rPr>
              <a:t>,   ]</a:t>
            </a:r>
            <a:r>
              <a:rPr lang="zh-CN" altLang="zh-CN" sz="2800" dirty="0">
                <a:solidFill>
                  <a:srgbClr val="000000"/>
                </a:solidFill>
                <a:effectLst/>
                <a:latin typeface="阿里巴巴普惠体"/>
                <a:ea typeface="微软雅黑"/>
                <a:cs typeface="Times New Roman" panose="02020603050405020304" pitchFamily="18" charset="0"/>
                <a:sym typeface="阿里巴巴普惠体"/>
              </a:rPr>
              <a:t>上单调递增</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pPr>
            <a:r>
              <a:rPr lang="zh-CN" altLang="zh-CN" sz="2800" dirty="0">
                <a:solidFill>
                  <a:srgbClr val="000000"/>
                </a:solidFill>
                <a:effectLst/>
                <a:latin typeface="阿里巴巴普惠体"/>
                <a:ea typeface="微软雅黑"/>
                <a:cs typeface="Times New Roman" panose="02020603050405020304" pitchFamily="18" charset="0"/>
                <a:sym typeface="阿里巴巴普惠体"/>
              </a:rPr>
              <a:t>所以</a:t>
            </a:r>
            <a:r>
              <a:rPr lang="en-US" altLang="zh-CN" sz="2800" dirty="0">
                <a:solidFill>
                  <a:srgbClr val="000000"/>
                </a:solidFill>
                <a:latin typeface="阿里巴巴普惠体"/>
                <a:ea typeface="微软雅黑"/>
                <a:sym typeface="阿里巴巴普惠体"/>
              </a:rPr>
              <a:t>tan</a:t>
            </a:r>
            <a:r>
              <a:rPr lang="en-US" altLang="zh-CN" sz="2800" dirty="0">
                <a:solidFill>
                  <a:srgbClr val="000000"/>
                </a:solidFill>
                <a:effectLst/>
                <a:latin typeface="阿里巴巴普惠体"/>
                <a:ea typeface="微软雅黑"/>
                <a:sym typeface="阿里巴巴普惠体"/>
              </a:rPr>
              <a:t> </a:t>
            </a:r>
            <a:r>
              <a:rPr lang="en-US" altLang="zh-CN" sz="2800" dirty="0">
                <a:solidFill>
                  <a:srgbClr val="000000"/>
                </a:solidFill>
                <a:latin typeface="阿里巴巴普惠体"/>
                <a:ea typeface="微软雅黑"/>
                <a:sym typeface="阿里巴巴普惠体"/>
              </a:rPr>
              <a:t>0</a:t>
            </a:r>
            <a:r>
              <a:rPr lang="en-US" altLang="zh-CN" sz="2800" dirty="0">
                <a:solidFill>
                  <a:srgbClr val="000000"/>
                </a:solidFill>
                <a:effectLst/>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sym typeface="阿里巴巴普惠体"/>
              </a:rPr>
              <a:t>y</a:t>
            </a:r>
            <a:r>
              <a:rPr lang="en-US" altLang="zh-CN" sz="2800" dirty="0">
                <a:solidFill>
                  <a:srgbClr val="000000"/>
                </a:solidFill>
                <a:effectLst/>
                <a:latin typeface="阿里巴巴普惠体"/>
                <a:ea typeface="微软雅黑"/>
                <a:cs typeface="Times New Roman" panose="02020603050405020304" pitchFamily="18" charset="0"/>
                <a:sym typeface="阿里巴巴普惠体"/>
              </a:rPr>
              <a:t>≤</a:t>
            </a:r>
            <a:r>
              <a:rPr lang="en-US" altLang="zh-CN" sz="2800" dirty="0" smtClean="0">
                <a:solidFill>
                  <a:srgbClr val="000000"/>
                </a:solidFill>
                <a:latin typeface="阿里巴巴普惠体"/>
                <a:ea typeface="微软雅黑"/>
                <a:sym typeface="阿里巴巴普惠体"/>
              </a:rPr>
              <a:t>tan    ,0</a:t>
            </a:r>
            <a:r>
              <a:rPr lang="en-US" altLang="zh-CN" sz="2800" dirty="0">
                <a:solidFill>
                  <a:srgbClr val="000000"/>
                </a:solidFill>
                <a:effectLst/>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sym typeface="阿里巴巴普惠体"/>
              </a:rPr>
              <a:t>y</a:t>
            </a:r>
            <a:r>
              <a:rPr lang="en-US" altLang="zh-CN" sz="2800" dirty="0">
                <a:solidFill>
                  <a:srgbClr val="000000"/>
                </a:solidFill>
                <a:effectLst/>
                <a:latin typeface="阿里巴巴普惠体"/>
                <a:ea typeface="微软雅黑"/>
                <a:cs typeface="Times New Roman" panose="02020603050405020304" pitchFamily="18" charset="0"/>
                <a:sym typeface="阿里巴巴普惠体"/>
              </a:rPr>
              <a:t>≤</a:t>
            </a:r>
            <a:r>
              <a:rPr lang="en-US" altLang="zh-CN" sz="2800" dirty="0">
                <a:solidFill>
                  <a:srgbClr val="000000"/>
                </a:solidFill>
                <a:latin typeface="阿里巴巴普惠体"/>
                <a:ea typeface="微软雅黑"/>
                <a:sym typeface="阿里巴巴普惠体"/>
              </a:rPr>
              <a:t>1</a:t>
            </a:r>
            <a:r>
              <a:rPr lang="en-US" altLang="zh-CN" sz="2800" i="1" dirty="0">
                <a:solidFill>
                  <a:srgbClr val="000000"/>
                </a:solidFill>
                <a:latin typeface="阿里巴巴普惠体"/>
                <a:ea typeface="微软雅黑"/>
                <a:sym typeface="阿里巴巴普惠体"/>
              </a:rPr>
              <a:t>.</a:t>
            </a:r>
            <a:endParaRPr lang="zh-CN" altLang="en-US" sz="2800" dirty="0">
              <a:latin typeface="阿里巴巴普惠体"/>
              <a:ea typeface="微软雅黑"/>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87207030"/>
              </p:ext>
            </p:extLst>
          </p:nvPr>
        </p:nvGraphicFramePr>
        <p:xfrm>
          <a:off x="3276208" y="3796072"/>
          <a:ext cx="300038" cy="612775"/>
        </p:xfrm>
        <a:graphic>
          <a:graphicData uri="http://schemas.openxmlformats.org/presentationml/2006/ole">
            <mc:AlternateContent xmlns:mc="http://schemas.openxmlformats.org/markup-compatibility/2006">
              <mc:Choice xmlns:v="urn:schemas-microsoft-com:vml" Requires="v">
                <p:oleObj spid="_x0000_s3085" name="文档" r:id="rId4" imgW="133799" imgH="275644" progId="Word.Document.12">
                  <p:embed/>
                </p:oleObj>
              </mc:Choice>
              <mc:Fallback>
                <p:oleObj name="文档" r:id="rId4" imgW="133799" imgH="275644" progId="Word.Document.12">
                  <p:embed/>
                  <p:pic>
                    <p:nvPicPr>
                      <p:cNvPr id="0" name=""/>
                      <p:cNvPicPr>
                        <a:picLocks noChangeAspect="1" noChangeArrowheads="1"/>
                      </p:cNvPicPr>
                      <p:nvPr/>
                    </p:nvPicPr>
                    <p:blipFill>
                      <a:blip r:embed="rId5"/>
                      <a:srcRect/>
                      <a:stretch>
                        <a:fillRect/>
                      </a:stretch>
                    </p:blipFill>
                    <p:spPr bwMode="auto">
                      <a:xfrm>
                        <a:off x="3276208" y="3796072"/>
                        <a:ext cx="300038" cy="612775"/>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993624314"/>
              </p:ext>
            </p:extLst>
          </p:nvPr>
        </p:nvGraphicFramePr>
        <p:xfrm>
          <a:off x="3697449" y="4864584"/>
          <a:ext cx="300038" cy="612775"/>
        </p:xfrm>
        <a:graphic>
          <a:graphicData uri="http://schemas.openxmlformats.org/presentationml/2006/ole">
            <mc:AlternateContent xmlns:mc="http://schemas.openxmlformats.org/markup-compatibility/2006">
              <mc:Choice xmlns:v="urn:schemas-microsoft-com:vml" Requires="v">
                <p:oleObj spid="_x0000_s3086" name="文档" r:id="rId7" imgW="133799" imgH="275644" progId="Word.Document.12">
                  <p:embed/>
                </p:oleObj>
              </mc:Choice>
              <mc:Fallback>
                <p:oleObj name="文档" r:id="rId7" imgW="133799" imgH="275644" progId="Word.Document.12">
                  <p:embed/>
                  <p:pic>
                    <p:nvPicPr>
                      <p:cNvPr id="0" name=""/>
                      <p:cNvPicPr>
                        <a:picLocks noChangeAspect="1" noChangeArrowheads="1"/>
                      </p:cNvPicPr>
                      <p:nvPr/>
                    </p:nvPicPr>
                    <p:blipFill>
                      <a:blip r:embed="rId5"/>
                      <a:srcRect/>
                      <a:stretch>
                        <a:fillRect/>
                      </a:stretch>
                    </p:blipFill>
                    <p:spPr bwMode="auto">
                      <a:xfrm>
                        <a:off x="3697449" y="4864584"/>
                        <a:ext cx="300038" cy="612775"/>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450574337"/>
              </p:ext>
            </p:extLst>
          </p:nvPr>
        </p:nvGraphicFramePr>
        <p:xfrm>
          <a:off x="3143425" y="5477359"/>
          <a:ext cx="293688" cy="598487"/>
        </p:xfrm>
        <a:graphic>
          <a:graphicData uri="http://schemas.openxmlformats.org/presentationml/2006/ole">
            <mc:AlternateContent xmlns:mc="http://schemas.openxmlformats.org/markup-compatibility/2006">
              <mc:Choice xmlns:v="urn:schemas-microsoft-com:vml" Requires="v">
                <p:oleObj spid="_x0000_s3087" name="文档" r:id="rId9" imgW="133799" imgH="275644" progId="Word.Document.12">
                  <p:embed/>
                </p:oleObj>
              </mc:Choice>
              <mc:Fallback>
                <p:oleObj name="文档" r:id="rId9" imgW="133799" imgH="275644" progId="Word.Document.12">
                  <p:embed/>
                  <p:pic>
                    <p:nvPicPr>
                      <p:cNvPr id="0" name=""/>
                      <p:cNvPicPr>
                        <a:picLocks noChangeAspect="1" noChangeArrowheads="1"/>
                      </p:cNvPicPr>
                      <p:nvPr/>
                    </p:nvPicPr>
                    <p:blipFill>
                      <a:blip r:embed="rId10"/>
                      <a:srcRect/>
                      <a:stretch>
                        <a:fillRect/>
                      </a:stretch>
                    </p:blipFill>
                    <p:spPr bwMode="auto">
                      <a:xfrm>
                        <a:off x="3143425" y="5477359"/>
                        <a:ext cx="293688" cy="598487"/>
                      </a:xfrm>
                      <a:prstGeom prst="rect">
                        <a:avLst/>
                      </a:prstGeom>
                      <a:noFill/>
                    </p:spPr>
                  </p:pic>
                </p:oleObj>
              </mc:Fallback>
            </mc:AlternateContent>
          </a:graphicData>
        </a:graphic>
      </p:graphicFrame>
    </p:spTree>
    <p:extLst>
      <p:ext uri="{BB962C8B-B14F-4D97-AF65-F5344CB8AC3E}">
        <p14:creationId xmlns:p14="http://schemas.microsoft.com/office/powerpoint/2010/main" val="6114348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2" dur="500"/>
                                        <p:tgtEl>
                                          <p:spTgt spid="2">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animEffect transition="in" filter="randombar(horizontal)">
                                      <p:cBhvr>
                                        <p:cTn id="17" dur="500"/>
                                        <p:tgtEl>
                                          <p:spTgt spid="2">
                                            <p:txEl>
                                              <p:pRg st="8" end="8"/>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2">
                                            <p:txEl>
                                              <p:pRg st="9" end="9"/>
                                            </p:txEl>
                                          </p:spTgt>
                                        </p:tgtEl>
                                        <p:attrNameLst>
                                          <p:attrName>style.visibility</p:attrName>
                                        </p:attrNameLst>
                                      </p:cBhvr>
                                      <p:to>
                                        <p:strVal val="visible"/>
                                      </p:to>
                                    </p:set>
                                    <p:animEffect transition="in" filter="randombar(horizontal)">
                                      <p:cBhvr>
                                        <p:cTn id="20" dur="500"/>
                                        <p:tgtEl>
                                          <p:spTgt spid="2">
                                            <p:txEl>
                                              <p:pRg st="9" end="9"/>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randombar(horizontal)">
                                      <p:cBhvr>
                                        <p:cTn id="23" dur="500"/>
                                        <p:tgtEl>
                                          <p:spTgt spid="4"/>
                                        </p:tgtEl>
                                      </p:cBhvr>
                                    </p:animEffect>
                                  </p:childTnLst>
                                </p:cTn>
                              </p:par>
                              <p:par>
                                <p:cTn id="24" presetID="14" presetClass="entr" presetSubtype="1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randombar(horizontal)">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1940601" y="2636520"/>
            <a:ext cx="1105802" cy="815646"/>
            <a:chOff x="-1604504" y="2147667"/>
            <a:chExt cx="3687215" cy="2719712"/>
          </a:xfrm>
        </p:grpSpPr>
        <p:cxnSp>
          <p:nvCxnSpPr>
            <p:cNvPr id="14" name="直接连接符 13"/>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15" name="直接连接符 14"/>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16" name="组合 15"/>
          <p:cNvGrpSpPr/>
          <p:nvPr/>
        </p:nvGrpSpPr>
        <p:grpSpPr>
          <a:xfrm flipH="1" flipV="1">
            <a:off x="8879736" y="2665586"/>
            <a:ext cx="1105803" cy="815646"/>
            <a:chOff x="-1604504" y="2147667"/>
            <a:chExt cx="3687215" cy="2719712"/>
          </a:xfrm>
        </p:grpSpPr>
        <p:cxnSp>
          <p:nvCxnSpPr>
            <p:cNvPr id="17" name="直接连接符 16"/>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8" name="直接连接符 17"/>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9" name="文本框 18"/>
          <p:cNvSpPr txBox="1"/>
          <p:nvPr/>
        </p:nvSpPr>
        <p:spPr>
          <a:xfrm>
            <a:off x="2918208" y="2585720"/>
            <a:ext cx="6252845" cy="922020"/>
          </a:xfrm>
          <a:prstGeom prst="rect">
            <a:avLst/>
          </a:prstGeom>
          <a:noFill/>
        </p:spPr>
        <p:txBody>
          <a:bodyPr wrap="square" rtlCol="0">
            <a:spAutoFit/>
          </a:bodyPr>
          <a:lstStyle/>
          <a:p>
            <a:pPr algn="ctr"/>
            <a:r>
              <a:rPr lang="zh-CN" altLang="en-US" sz="5400" b="1" smtClean="0">
                <a:solidFill>
                  <a:srgbClr val="4D4D4D"/>
                </a:solidFill>
                <a:latin typeface="阿里巴巴普惠体"/>
                <a:ea typeface="微软雅黑"/>
                <a:cs typeface="方正姚体" panose="02010601030101010101" charset="-122"/>
                <a:sym typeface="阿里巴巴普惠体"/>
              </a:rPr>
              <a:t>课堂篇  探究学习</a:t>
            </a:r>
            <a:endParaRPr lang="zh-CN" altLang="en-US" sz="5400" b="1">
              <a:solidFill>
                <a:srgbClr val="4D4D4D"/>
              </a:solidFill>
              <a:latin typeface="阿里巴巴普惠体"/>
              <a:ea typeface="微软雅黑"/>
              <a:cs typeface="方正姚体" panose="02010601030101010101" charset="-122"/>
              <a:sym typeface="阿里巴巴普惠体"/>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810998" cy="433754"/>
            <a:chOff x="381000" y="205656"/>
            <a:chExt cx="1181099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37" name="组合 36"/>
            <p:cNvGrpSpPr/>
            <p:nvPr/>
          </p:nvGrpSpPr>
          <p:grpSpPr>
            <a:xfrm>
              <a:off x="381000" y="205656"/>
              <a:ext cx="11810998" cy="433754"/>
              <a:chOff x="3048000" y="2286000"/>
              <a:chExt cx="5015133" cy="457200"/>
            </a:xfrm>
          </p:grpSpPr>
          <p:sp>
            <p:nvSpPr>
              <p:cNvPr id="38" name="矩形 37"/>
              <p:cNvSpPr/>
              <p:nvPr/>
            </p:nvSpPr>
            <p:spPr>
              <a:xfrm>
                <a:off x="3048000" y="2286000"/>
                <a:ext cx="694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探究一</a:t>
                </a:r>
              </a:p>
            </p:txBody>
          </p:sp>
          <p:sp>
            <p:nvSpPr>
              <p:cNvPr id="39" name="矩形 38"/>
              <p:cNvSpPr/>
              <p:nvPr/>
            </p:nvSpPr>
            <p:spPr>
              <a:xfrm>
                <a:off x="3803112"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latin typeface="阿里巴巴普惠体"/>
                    <a:ea typeface="微软雅黑"/>
                    <a:sym typeface="阿里巴巴普惠体"/>
                  </a:rPr>
                  <a:t>正切函数的定义域与值域问题</a:t>
                </a:r>
              </a:p>
            </p:txBody>
          </p:sp>
        </p:grpSp>
      </p:grpSp>
      <p:sp>
        <p:nvSpPr>
          <p:cNvPr id="2" name="矩形 1"/>
          <p:cNvSpPr>
            <a:spLocks noChangeAspect="1"/>
          </p:cNvSpPr>
          <p:nvPr/>
        </p:nvSpPr>
        <p:spPr>
          <a:xfrm>
            <a:off x="381000" y="1348081"/>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例</a:t>
            </a:r>
            <a:r>
              <a:rPr lang="en-US" altLang="zh-CN" sz="2800" b="1">
                <a:solidFill>
                  <a:srgbClr val="000000"/>
                </a:solidFill>
                <a:latin typeface="阿里巴巴普惠体"/>
                <a:ea typeface="微软雅黑"/>
                <a:cs typeface="Times New Roman" panose="02020603050405020304" pitchFamily="18" charset="0"/>
                <a:sym typeface="阿里巴巴普惠体"/>
              </a:rPr>
              <a:t>1</a:t>
            </a:r>
            <a:r>
              <a:rPr lang="zh-CN" altLang="zh-CN" sz="2800">
                <a:solidFill>
                  <a:srgbClr val="000000"/>
                </a:solidFill>
                <a:latin typeface="阿里巴巴普惠体"/>
                <a:ea typeface="微软雅黑"/>
                <a:cs typeface="Times New Roman" panose="02020603050405020304" pitchFamily="18" charset="0"/>
                <a:sym typeface="阿里巴巴普惠体"/>
              </a:rPr>
              <a:t>求下列函数的定义域和值域</a:t>
            </a:r>
            <a:r>
              <a:rPr lang="en-US" altLang="zh-CN" sz="2800" smtClean="0">
                <a:solidFill>
                  <a:srgbClr val="000000"/>
                </a:solidFill>
                <a:latin typeface="阿里巴巴普惠体"/>
                <a:ea typeface="微软雅黑"/>
                <a:cs typeface="Times New Roman" panose="02020603050405020304" pitchFamily="18" charset="0"/>
                <a:sym typeface="阿里巴巴普惠体"/>
              </a:rPr>
              <a:t>:</a:t>
            </a: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分析根据正切函数的定义域和值域并结合正切函数的图象求解</a:t>
            </a:r>
            <a:r>
              <a:rPr lang="en-US" altLang="zh-CN" sz="2800" i="1">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07121069"/>
              </p:ext>
            </p:extLst>
          </p:nvPr>
        </p:nvGraphicFramePr>
        <p:xfrm>
          <a:off x="458424" y="2059920"/>
          <a:ext cx="11275153" cy="1983130"/>
        </p:xfrm>
        <a:graphic>
          <a:graphicData uri="http://schemas.openxmlformats.org/presentationml/2006/ole">
            <mc:AlternateContent xmlns:mc="http://schemas.openxmlformats.org/markup-compatibility/2006">
              <mc:Choice xmlns:v="urn:schemas-microsoft-com:vml" Requires="v">
                <p:oleObj spid="_x0000_s4103" name="文档" r:id="rId4" imgW="4510061" imgH="793252" progId="Word.Document.12">
                  <p:embed/>
                </p:oleObj>
              </mc:Choice>
              <mc:Fallback>
                <p:oleObj name="文档" r:id="rId4" imgW="4510061" imgH="793252" progId="Word.Document.12">
                  <p:embed/>
                  <p:pic>
                    <p:nvPicPr>
                      <p:cNvPr id="0" name=""/>
                      <p:cNvPicPr/>
                      <p:nvPr/>
                    </p:nvPicPr>
                    <p:blipFill>
                      <a:blip r:embed="rId5"/>
                      <a:stretch>
                        <a:fillRect/>
                      </a:stretch>
                    </p:blipFill>
                    <p:spPr>
                      <a:xfrm>
                        <a:off x="458424" y="2059920"/>
                        <a:ext cx="11275153" cy="198313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100755249"/>
              </p:ext>
            </p:extLst>
          </p:nvPr>
        </p:nvGraphicFramePr>
        <p:xfrm>
          <a:off x="458424" y="1820648"/>
          <a:ext cx="11275153" cy="3470705"/>
        </p:xfrm>
        <a:graphic>
          <a:graphicData uri="http://schemas.openxmlformats.org/presentationml/2006/ole">
            <mc:AlternateContent xmlns:mc="http://schemas.openxmlformats.org/markup-compatibility/2006">
              <mc:Choice xmlns:v="urn:schemas-microsoft-com:vml" Requires="v">
                <p:oleObj spid="_x0000_s5127" name="文档" r:id="rId4" imgW="4510061" imgH="1388282" progId="Word.Document.12">
                  <p:embed/>
                </p:oleObj>
              </mc:Choice>
              <mc:Fallback>
                <p:oleObj name="文档" r:id="rId4" imgW="4510061" imgH="1388282" progId="Word.Document.12">
                  <p:embed/>
                  <p:pic>
                    <p:nvPicPr>
                      <p:cNvPr id="0" name=""/>
                      <p:cNvPicPr/>
                      <p:nvPr/>
                    </p:nvPicPr>
                    <p:blipFill>
                      <a:blip r:embed="rId5"/>
                      <a:stretch>
                        <a:fillRect/>
                      </a:stretch>
                    </p:blipFill>
                    <p:spPr>
                      <a:xfrm>
                        <a:off x="458424" y="1820648"/>
                        <a:ext cx="11275153" cy="3470705"/>
                      </a:xfrm>
                      <a:prstGeom prst="rect">
                        <a:avLst/>
                      </a:prstGeom>
                    </p:spPr>
                  </p:pic>
                </p:oleObj>
              </mc:Fallback>
            </mc:AlternateContent>
          </a:graphicData>
        </a:graphic>
      </p:graphicFrame>
    </p:spTree>
    <p:extLst>
      <p:ext uri="{BB962C8B-B14F-4D97-AF65-F5344CB8AC3E}">
        <p14:creationId xmlns:p14="http://schemas.microsoft.com/office/powerpoint/2010/main" val="10243972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23375149"/>
              </p:ext>
            </p:extLst>
          </p:nvPr>
        </p:nvGraphicFramePr>
        <p:xfrm>
          <a:off x="458424" y="1324640"/>
          <a:ext cx="11275153" cy="4462720"/>
        </p:xfrm>
        <a:graphic>
          <a:graphicData uri="http://schemas.openxmlformats.org/presentationml/2006/ole">
            <mc:AlternateContent xmlns:mc="http://schemas.openxmlformats.org/markup-compatibility/2006">
              <mc:Choice xmlns:v="urn:schemas-microsoft-com:vml" Requires="v">
                <p:oleObj spid="_x0000_s6151" name="文档" r:id="rId4" imgW="4510061" imgH="1785088" progId="Word.Document.12">
                  <p:embed/>
                </p:oleObj>
              </mc:Choice>
              <mc:Fallback>
                <p:oleObj name="文档" r:id="rId4" imgW="4510061" imgH="1785088" progId="Word.Document.12">
                  <p:embed/>
                  <p:pic>
                    <p:nvPicPr>
                      <p:cNvPr id="0" name=""/>
                      <p:cNvPicPr/>
                      <p:nvPr/>
                    </p:nvPicPr>
                    <p:blipFill>
                      <a:blip r:embed="rId5"/>
                      <a:stretch>
                        <a:fillRect/>
                      </a:stretch>
                    </p:blipFill>
                    <p:spPr>
                      <a:xfrm>
                        <a:off x="458424" y="1324640"/>
                        <a:ext cx="11275153" cy="4462720"/>
                      </a:xfrm>
                      <a:prstGeom prst="rect">
                        <a:avLst/>
                      </a:prstGeom>
                    </p:spPr>
                  </p:pic>
                </p:oleObj>
              </mc:Fallback>
            </mc:AlternateContent>
          </a:graphicData>
        </a:graphic>
      </p:graphicFrame>
    </p:spTree>
    <p:extLst>
      <p:ext uri="{BB962C8B-B14F-4D97-AF65-F5344CB8AC3E}">
        <p14:creationId xmlns:p14="http://schemas.microsoft.com/office/powerpoint/2010/main" val="38966216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32137"/>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反思感悟</a:t>
            </a:r>
            <a:r>
              <a:rPr lang="zh-CN" altLang="zh-CN" sz="2800" dirty="0">
                <a:solidFill>
                  <a:srgbClr val="000000"/>
                </a:solidFill>
                <a:effectLst/>
                <a:latin typeface="阿里巴巴普惠体"/>
                <a:ea typeface="微软雅黑"/>
                <a:cs typeface="Times New Roman" panose="02020603050405020304" pitchFamily="18" charset="0"/>
                <a:sym typeface="阿里巴巴普惠体"/>
              </a:rPr>
              <a:t> 求正切函数定义域的方法及注意点</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阿里巴巴普惠体"/>
                <a:ea typeface="微软雅黑"/>
                <a:cs typeface="Times New Roman" panose="02020603050405020304" pitchFamily="18" charset="0"/>
                <a:sym typeface="阿里巴巴普惠体"/>
              </a:rPr>
              <a:t>求与正切函数有关的函数的定义域时</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effectLst/>
                <a:latin typeface="阿里巴巴普惠体"/>
                <a:ea typeface="微软雅黑"/>
                <a:cs typeface="Times New Roman" panose="02020603050405020304" pitchFamily="18" charset="0"/>
                <a:sym typeface="阿里巴巴普惠体"/>
              </a:rPr>
              <a:t>除了求函数定义域的一般要求外</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effectLst/>
                <a:latin typeface="阿里巴巴普惠体"/>
                <a:ea typeface="微软雅黑"/>
                <a:cs typeface="Times New Roman" panose="02020603050405020304" pitchFamily="18" charset="0"/>
                <a:sym typeface="阿里巴巴普惠体"/>
              </a:rPr>
              <a:t>还要保证正切函数</a:t>
            </a:r>
            <a:r>
              <a:rPr lang="en-US" altLang="zh-CN" sz="2800" i="1" dirty="0">
                <a:solidFill>
                  <a:srgbClr val="000000"/>
                </a:solidFill>
                <a:latin typeface="阿里巴巴普惠体"/>
                <a:ea typeface="微软雅黑"/>
                <a:cs typeface="Times New Roman" panose="02020603050405020304" pitchFamily="18" charset="0"/>
                <a:sym typeface="阿里巴巴普惠体"/>
              </a:rPr>
              <a:t>y=</a:t>
            </a:r>
            <a:r>
              <a:rPr lang="en-US" altLang="zh-CN" sz="2800" dirty="0">
                <a:solidFill>
                  <a:srgbClr val="000000"/>
                </a:solidFill>
                <a:latin typeface="阿里巴巴普惠体"/>
                <a:ea typeface="微软雅黑"/>
                <a:cs typeface="Times New Roman" panose="02020603050405020304" pitchFamily="18" charset="0"/>
                <a:sym typeface="阿里巴巴普惠体"/>
              </a:rPr>
              <a:t>tan</a:t>
            </a:r>
            <a:r>
              <a:rPr lang="en-US" altLang="zh-CN" sz="2800" dirty="0">
                <a:solidFill>
                  <a:srgbClr val="000000"/>
                </a:solidFill>
                <a:effectLst/>
                <a:latin typeface="阿里巴巴普惠体"/>
                <a:ea typeface="微软雅黑"/>
                <a:cs typeface="Times New Roman" panose="02020603050405020304" pitchFamily="18" charset="0"/>
                <a:sym typeface="阿里巴巴普惠体"/>
              </a:rPr>
              <a:t> </a:t>
            </a:r>
            <a:r>
              <a:rPr lang="en-US" altLang="zh-CN" sz="2800" i="1" dirty="0">
                <a:solidFill>
                  <a:srgbClr val="000000"/>
                </a:solidFill>
                <a:latin typeface="阿里巴巴普惠体"/>
                <a:ea typeface="微软雅黑"/>
                <a:cs typeface="Times New Roman" panose="02020603050405020304" pitchFamily="18" charset="0"/>
                <a:sym typeface="阿里巴巴普惠体"/>
              </a:rPr>
              <a:t>x</a:t>
            </a:r>
            <a:r>
              <a:rPr lang="zh-CN" altLang="zh-CN" sz="2800" dirty="0">
                <a:solidFill>
                  <a:srgbClr val="000000"/>
                </a:solidFill>
                <a:effectLst/>
                <a:latin typeface="阿里巴巴普惠体"/>
                <a:ea typeface="微软雅黑"/>
                <a:cs typeface="Times New Roman" panose="02020603050405020304" pitchFamily="18" charset="0"/>
                <a:sym typeface="阿里巴巴普惠体"/>
              </a:rPr>
              <a:t>有意义</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effectLst/>
                <a:latin typeface="阿里巴巴普惠体"/>
                <a:ea typeface="微软雅黑"/>
                <a:cs typeface="Times New Roman" panose="02020603050405020304" pitchFamily="18" charset="0"/>
                <a:sym typeface="阿里巴巴普惠体"/>
              </a:rPr>
              <a:t>即</a:t>
            </a:r>
            <a:r>
              <a:rPr lang="en-US" altLang="zh-CN" sz="2800" i="1" dirty="0">
                <a:solidFill>
                  <a:srgbClr val="000000"/>
                </a:solidFill>
                <a:latin typeface="阿里巴巴普惠体"/>
                <a:ea typeface="微软雅黑"/>
                <a:cs typeface="Times New Roman" panose="02020603050405020304" pitchFamily="18" charset="0"/>
                <a:sym typeface="阿里巴巴普惠体"/>
              </a:rPr>
              <a:t>x</a:t>
            </a:r>
            <a:r>
              <a:rPr lang="en-US" altLang="zh-CN" sz="2800" dirty="0" smtClean="0">
                <a:solidFill>
                  <a:srgbClr val="000000"/>
                </a:solidFill>
                <a:latin typeface="阿里巴巴普惠体"/>
                <a:ea typeface="微软雅黑"/>
                <a:cs typeface="Times New Roman" panose="02020603050405020304" pitchFamily="18" charset="0"/>
                <a:sym typeface="阿里巴巴普惠体"/>
              </a:rPr>
              <a:t>≠   </a:t>
            </a:r>
            <a:r>
              <a:rPr lang="en-US" altLang="zh-CN" sz="2800" i="1" dirty="0" smtClean="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k</a:t>
            </a:r>
            <a:r>
              <a:rPr lang="en-US" altLang="zh-CN" sz="2800" dirty="0">
                <a:solidFill>
                  <a:srgbClr val="000000"/>
                </a:solidFill>
                <a:effectLst/>
                <a:latin typeface="阿里巴巴普惠体"/>
                <a:ea typeface="微软雅黑"/>
                <a:cs typeface="Times New Roman" panose="02020603050405020304" pitchFamily="18" charset="0"/>
                <a:sym typeface="阿里巴巴普惠体"/>
              </a:rPr>
              <a:t>π</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en-US" altLang="zh-CN" sz="2800" i="1" dirty="0">
                <a:solidFill>
                  <a:srgbClr val="000000"/>
                </a:solidFill>
                <a:latin typeface="阿里巴巴普惠体"/>
                <a:ea typeface="微软雅黑"/>
                <a:cs typeface="Times New Roman" panose="02020603050405020304" pitchFamily="18" charset="0"/>
                <a:sym typeface="阿里巴巴普惠体"/>
              </a:rPr>
              <a:t>k</a:t>
            </a:r>
            <a:r>
              <a:rPr lang="zh-CN" altLang="zh-CN" sz="2800" dirty="0">
                <a:solidFill>
                  <a:srgbClr val="000000"/>
                </a:solidFill>
                <a:latin typeface="阿里巴巴普惠体"/>
                <a:ea typeface="微软雅黑"/>
                <a:cs typeface="宋体" panose="02010600030101010101" pitchFamily="2" charset="-122"/>
                <a:sym typeface="阿里巴巴普惠体"/>
              </a:rPr>
              <a:t>∈</a:t>
            </a:r>
            <a:r>
              <a:rPr lang="en-US" altLang="zh-CN" sz="2800" b="1" dirty="0">
                <a:solidFill>
                  <a:srgbClr val="000000"/>
                </a:solidFill>
                <a:latin typeface="阿里巴巴普惠体"/>
                <a:ea typeface="微软雅黑"/>
                <a:cs typeface="Times New Roman" panose="02020603050405020304" pitchFamily="18" charset="0"/>
                <a:sym typeface="阿里巴巴普惠体"/>
              </a:rPr>
              <a:t>Z</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effectLst/>
                <a:latin typeface="阿里巴巴普惠体"/>
                <a:ea typeface="微软雅黑"/>
                <a:cs typeface="Times New Roman" panose="02020603050405020304" pitchFamily="18" charset="0"/>
                <a:sym typeface="阿里巴巴普惠体"/>
              </a:rPr>
              <a:t>而对于构建的三角不等式</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effectLst/>
                <a:latin typeface="阿里巴巴普惠体"/>
                <a:ea typeface="微软雅黑"/>
                <a:cs typeface="Times New Roman" panose="02020603050405020304" pitchFamily="18" charset="0"/>
                <a:sym typeface="阿里巴巴普惠体"/>
              </a:rPr>
              <a:t>常利用正切函数的图象求解</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effectLst/>
                <a:latin typeface="阿里巴巴普惠体"/>
                <a:ea typeface="微软雅黑"/>
                <a:cs typeface="Times New Roman" panose="02020603050405020304" pitchFamily="18" charset="0"/>
                <a:sym typeface="阿里巴巴普惠体"/>
              </a:rPr>
              <a:t>解形如</a:t>
            </a:r>
            <a:r>
              <a:rPr lang="en-US" altLang="zh-CN" sz="2800" dirty="0">
                <a:solidFill>
                  <a:srgbClr val="000000"/>
                </a:solidFill>
                <a:latin typeface="阿里巴巴普惠体"/>
                <a:ea typeface="微软雅黑"/>
                <a:cs typeface="Times New Roman" panose="02020603050405020304" pitchFamily="18" charset="0"/>
                <a:sym typeface="阿里巴巴普惠体"/>
              </a:rPr>
              <a:t>tan</a:t>
            </a:r>
            <a:r>
              <a:rPr lang="en-US" altLang="zh-CN" sz="2800" dirty="0">
                <a:solidFill>
                  <a:srgbClr val="000000"/>
                </a:solidFill>
                <a:effectLst/>
                <a:latin typeface="阿里巴巴普惠体"/>
                <a:ea typeface="微软雅黑"/>
                <a:cs typeface="Times New Roman" panose="02020603050405020304" pitchFamily="18" charset="0"/>
                <a:sym typeface="阿里巴巴普惠体"/>
              </a:rPr>
              <a:t> </a:t>
            </a:r>
            <a:r>
              <a:rPr lang="en-US" altLang="zh-CN" sz="2800" i="1" dirty="0">
                <a:solidFill>
                  <a:srgbClr val="000000"/>
                </a:solidFill>
                <a:latin typeface="阿里巴巴普惠体"/>
                <a:ea typeface="微软雅黑"/>
                <a:cs typeface="Times New Roman" panose="02020603050405020304" pitchFamily="18" charset="0"/>
                <a:sym typeface="阿里巴巴普惠体"/>
              </a:rPr>
              <a:t>x&gt;a</a:t>
            </a:r>
            <a:r>
              <a:rPr lang="zh-CN" altLang="zh-CN" sz="2800" dirty="0">
                <a:solidFill>
                  <a:srgbClr val="000000"/>
                </a:solidFill>
                <a:effectLst/>
                <a:latin typeface="阿里巴巴普惠体"/>
                <a:ea typeface="微软雅黑"/>
                <a:cs typeface="Times New Roman" panose="02020603050405020304" pitchFamily="18" charset="0"/>
                <a:sym typeface="阿里巴巴普惠体"/>
              </a:rPr>
              <a:t>的不等式的步骤</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105775673"/>
              </p:ext>
            </p:extLst>
          </p:nvPr>
        </p:nvGraphicFramePr>
        <p:xfrm>
          <a:off x="6096000" y="1698610"/>
          <a:ext cx="298551" cy="609989"/>
        </p:xfrm>
        <a:graphic>
          <a:graphicData uri="http://schemas.openxmlformats.org/presentationml/2006/ole">
            <mc:AlternateContent xmlns:mc="http://schemas.openxmlformats.org/markup-compatibility/2006">
              <mc:Choice xmlns:v="urn:schemas-microsoft-com:vml" Requires="v">
                <p:oleObj spid="_x0000_s7175" name="文档" r:id="rId4" imgW="134970" imgH="276728" progId="Word.Document.12">
                  <p:embed/>
                </p:oleObj>
              </mc:Choice>
              <mc:Fallback>
                <p:oleObj name="文档" r:id="rId4" imgW="134970" imgH="276728" progId="Word.Document.1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1698610"/>
                        <a:ext cx="298551" cy="609989"/>
                      </a:xfrm>
                      <a:prstGeom prst="rect">
                        <a:avLst/>
                      </a:prstGeom>
                      <a:noFill/>
                    </p:spPr>
                  </p:pic>
                </p:oleObj>
              </mc:Fallback>
            </mc:AlternateContent>
          </a:graphicData>
        </a:graphic>
      </p:graphicFrame>
      <p:pic>
        <p:nvPicPr>
          <p:cNvPr id="4" name="21m79.eps" descr="id:2147516126;FounderCES"/>
          <p:cNvPicPr>
            <a:picLocks noChangeAspect="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802236" y="2755114"/>
            <a:ext cx="8587528" cy="3393186"/>
          </a:xfrm>
          <a:prstGeom prst="rect">
            <a:avLst/>
          </a:prstGeom>
        </p:spPr>
      </p:pic>
    </p:spTree>
    <p:extLst>
      <p:ext uri="{BB962C8B-B14F-4D97-AF65-F5344CB8AC3E}">
        <p14:creationId xmlns:p14="http://schemas.microsoft.com/office/powerpoint/2010/main" val="1330671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260975855"/>
              </p:ext>
            </p:extLst>
          </p:nvPr>
        </p:nvGraphicFramePr>
        <p:xfrm>
          <a:off x="458424" y="994886"/>
          <a:ext cx="11275153" cy="992015"/>
        </p:xfrm>
        <a:graphic>
          <a:graphicData uri="http://schemas.openxmlformats.org/presentationml/2006/ole">
            <mc:AlternateContent xmlns:mc="http://schemas.openxmlformats.org/markup-compatibility/2006">
              <mc:Choice xmlns:v="urn:schemas-microsoft-com:vml" Requires="v">
                <p:oleObj spid="_x0000_s8204" name="文档" r:id="rId4" imgW="4510061" imgH="396806" progId="Word.Document.12">
                  <p:embed/>
                </p:oleObj>
              </mc:Choice>
              <mc:Fallback>
                <p:oleObj name="文档" r:id="rId4" imgW="4510061" imgH="396806" progId="Word.Document.12">
                  <p:embed/>
                  <p:pic>
                    <p:nvPicPr>
                      <p:cNvPr id="0" name=""/>
                      <p:cNvPicPr/>
                      <p:nvPr/>
                    </p:nvPicPr>
                    <p:blipFill>
                      <a:blip r:embed="rId5"/>
                      <a:stretch>
                        <a:fillRect/>
                      </a:stretch>
                    </p:blipFill>
                    <p:spPr>
                      <a:xfrm>
                        <a:off x="458424" y="994886"/>
                        <a:ext cx="11275153" cy="99201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465536285"/>
              </p:ext>
            </p:extLst>
          </p:nvPr>
        </p:nvGraphicFramePr>
        <p:xfrm>
          <a:off x="458424" y="2036405"/>
          <a:ext cx="11275153" cy="3470705"/>
        </p:xfrm>
        <a:graphic>
          <a:graphicData uri="http://schemas.openxmlformats.org/presentationml/2006/ole">
            <mc:AlternateContent xmlns:mc="http://schemas.openxmlformats.org/markup-compatibility/2006">
              <mc:Choice xmlns:v="urn:schemas-microsoft-com:vml" Requires="v">
                <p:oleObj spid="_x0000_s8205" name="文档" r:id="rId7" imgW="4510061" imgH="1388282" progId="Word.Document.12">
                  <p:embed/>
                </p:oleObj>
              </mc:Choice>
              <mc:Fallback>
                <p:oleObj name="文档" r:id="rId7" imgW="4510061" imgH="1388282" progId="Word.Document.12">
                  <p:embed/>
                  <p:pic>
                    <p:nvPicPr>
                      <p:cNvPr id="0" name=""/>
                      <p:cNvPicPr/>
                      <p:nvPr/>
                    </p:nvPicPr>
                    <p:blipFill>
                      <a:blip r:embed="rId8"/>
                      <a:stretch>
                        <a:fillRect/>
                      </a:stretch>
                    </p:blipFill>
                    <p:spPr>
                      <a:xfrm>
                        <a:off x="458424" y="2036405"/>
                        <a:ext cx="11275153" cy="3470705"/>
                      </a:xfrm>
                      <a:prstGeom prst="rect">
                        <a:avLst/>
                      </a:prstGeom>
                    </p:spPr>
                  </p:pic>
                </p:oleObj>
              </mc:Fallback>
            </mc:AlternateContent>
          </a:graphicData>
        </a:graphic>
      </p:graphicFrame>
    </p:spTree>
    <p:extLst>
      <p:ext uri="{BB962C8B-B14F-4D97-AF65-F5344CB8AC3E}">
        <p14:creationId xmlns:p14="http://schemas.microsoft.com/office/powerpoint/2010/main" val="16022231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149939"/>
            <a:ext cx="11810998" cy="433754"/>
            <a:chOff x="381000" y="205656"/>
            <a:chExt cx="1181099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11" name="组合 10"/>
            <p:cNvGrpSpPr/>
            <p:nvPr/>
          </p:nvGrpSpPr>
          <p:grpSpPr>
            <a:xfrm>
              <a:off x="381000" y="205656"/>
              <a:ext cx="11810998" cy="433754"/>
              <a:chOff x="3048000" y="2286000"/>
              <a:chExt cx="5015133" cy="457200"/>
            </a:xfrm>
          </p:grpSpPr>
          <p:sp>
            <p:nvSpPr>
              <p:cNvPr id="12" name="矩形 11"/>
              <p:cNvSpPr/>
              <p:nvPr/>
            </p:nvSpPr>
            <p:spPr>
              <a:xfrm>
                <a:off x="3048000" y="2286000"/>
                <a:ext cx="694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探究二</a:t>
                </a:r>
              </a:p>
            </p:txBody>
          </p:sp>
          <p:sp>
            <p:nvSpPr>
              <p:cNvPr id="13" name="矩形 12"/>
              <p:cNvSpPr/>
              <p:nvPr/>
            </p:nvSpPr>
            <p:spPr>
              <a:xfrm>
                <a:off x="3803112"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latin typeface="阿里巴巴普惠体"/>
                    <a:ea typeface="微软雅黑"/>
                    <a:sym typeface="阿里巴巴普惠体"/>
                  </a:rPr>
                  <a:t>正切函数单调性及其应用</a:t>
                </a:r>
                <a:endParaRPr lang="en-US" altLang="zh-CN" sz="2800" b="1">
                  <a:solidFill>
                    <a:schemeClr val="bg1"/>
                  </a:solidFill>
                  <a:latin typeface="阿里巴巴普惠体"/>
                  <a:ea typeface="微软雅黑"/>
                  <a:sym typeface="阿里巴巴普惠体"/>
                </a:endParaRPr>
              </a:p>
            </p:txBody>
          </p:sp>
        </p:grpSp>
      </p:grpSp>
      <p:sp>
        <p:nvSpPr>
          <p:cNvPr id="2" name="矩形 1"/>
          <p:cNvSpPr>
            <a:spLocks noChangeAspect="1"/>
          </p:cNvSpPr>
          <p:nvPr/>
        </p:nvSpPr>
        <p:spPr>
          <a:xfrm>
            <a:off x="381000" y="1361514"/>
            <a:ext cx="3357009"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角度</a:t>
            </a:r>
            <a:r>
              <a:rPr lang="en-US" altLang="zh-CN" sz="2800" b="1">
                <a:solidFill>
                  <a:srgbClr val="000000"/>
                </a:solidFill>
                <a:latin typeface="阿里巴巴普惠体"/>
                <a:ea typeface="微软雅黑"/>
                <a:cs typeface="Times New Roman" panose="02020603050405020304" pitchFamily="18" charset="0"/>
                <a:sym typeface="阿里巴巴普惠体"/>
              </a:rPr>
              <a:t>1</a:t>
            </a:r>
            <a:r>
              <a:rPr lang="zh-CN" altLang="zh-CN" sz="2800" i="1">
                <a:solidFill>
                  <a:srgbClr val="000000"/>
                </a:solidFill>
                <a:latin typeface="阿里巴巴普惠体"/>
                <a:ea typeface="微软雅黑"/>
                <a:cs typeface="Times New Roman" panose="02020603050405020304" pitchFamily="18" charset="0"/>
                <a:sym typeface="阿里巴巴普惠体"/>
              </a:rPr>
              <a:t>　</a:t>
            </a:r>
            <a:r>
              <a:rPr lang="zh-CN" altLang="zh-CN" sz="2800">
                <a:solidFill>
                  <a:srgbClr val="000000"/>
                </a:solidFill>
                <a:latin typeface="阿里巴巴普惠体"/>
                <a:ea typeface="微软雅黑"/>
                <a:cs typeface="Times New Roman" panose="02020603050405020304" pitchFamily="18" charset="0"/>
                <a:sym typeface="阿里巴巴普惠体"/>
              </a:rPr>
              <a:t>求单调</a:t>
            </a:r>
            <a:r>
              <a:rPr lang="zh-CN" altLang="zh-CN" sz="2800" smtClean="0">
                <a:solidFill>
                  <a:srgbClr val="000000"/>
                </a:solidFill>
                <a:latin typeface="阿里巴巴普惠体"/>
                <a:ea typeface="微软雅黑"/>
                <a:cs typeface="Times New Roman" panose="02020603050405020304" pitchFamily="18" charset="0"/>
                <a:sym typeface="阿里巴巴普惠体"/>
              </a:rPr>
              <a:t>区间</a:t>
            </a:r>
            <a:r>
              <a:rPr lang="en-US" altLang="zh-CN" sz="2800" smtClean="0">
                <a:solidFill>
                  <a:srgbClr val="000000"/>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40826369"/>
              </p:ext>
            </p:extLst>
          </p:nvPr>
        </p:nvGraphicFramePr>
        <p:xfrm>
          <a:off x="458424" y="2014000"/>
          <a:ext cx="11275153" cy="992015"/>
        </p:xfrm>
        <a:graphic>
          <a:graphicData uri="http://schemas.openxmlformats.org/presentationml/2006/ole">
            <mc:AlternateContent xmlns:mc="http://schemas.openxmlformats.org/markup-compatibility/2006">
              <mc:Choice xmlns:v="urn:schemas-microsoft-com:vml" Requires="v">
                <p:oleObj spid="_x0000_s9228" name="文档" r:id="rId4" imgW="4510061" imgH="396806" progId="Word.Document.12">
                  <p:embed/>
                </p:oleObj>
              </mc:Choice>
              <mc:Fallback>
                <p:oleObj name="文档" r:id="rId4" imgW="4510061" imgH="396806" progId="Word.Document.12">
                  <p:embed/>
                  <p:pic>
                    <p:nvPicPr>
                      <p:cNvPr id="0" name=""/>
                      <p:cNvPicPr/>
                      <p:nvPr/>
                    </p:nvPicPr>
                    <p:blipFill>
                      <a:blip r:embed="rId5"/>
                      <a:stretch>
                        <a:fillRect/>
                      </a:stretch>
                    </p:blipFill>
                    <p:spPr>
                      <a:xfrm>
                        <a:off x="458424" y="2014000"/>
                        <a:ext cx="11275153" cy="992015"/>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893875474"/>
              </p:ext>
            </p:extLst>
          </p:nvPr>
        </p:nvGraphicFramePr>
        <p:xfrm>
          <a:off x="458424" y="2918929"/>
          <a:ext cx="11275153" cy="1983130"/>
        </p:xfrm>
        <a:graphic>
          <a:graphicData uri="http://schemas.openxmlformats.org/presentationml/2006/ole">
            <mc:AlternateContent xmlns:mc="http://schemas.openxmlformats.org/markup-compatibility/2006">
              <mc:Choice xmlns:v="urn:schemas-microsoft-com:vml" Requires="v">
                <p:oleObj spid="_x0000_s9229" name="文档" r:id="rId7" imgW="4510061" imgH="793252" progId="Word.Document.12">
                  <p:embed/>
                </p:oleObj>
              </mc:Choice>
              <mc:Fallback>
                <p:oleObj name="文档" r:id="rId7" imgW="4510061" imgH="793252" progId="Word.Document.12">
                  <p:embed/>
                  <p:pic>
                    <p:nvPicPr>
                      <p:cNvPr id="0" name=""/>
                      <p:cNvPicPr/>
                      <p:nvPr/>
                    </p:nvPicPr>
                    <p:blipFill>
                      <a:blip r:embed="rId8"/>
                      <a:stretch>
                        <a:fillRect/>
                      </a:stretch>
                    </p:blipFill>
                    <p:spPr>
                      <a:xfrm>
                        <a:off x="458424" y="2918929"/>
                        <a:ext cx="11275153" cy="198313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894944384"/>
              </p:ext>
            </p:extLst>
          </p:nvPr>
        </p:nvGraphicFramePr>
        <p:xfrm>
          <a:off x="458424" y="1418307"/>
          <a:ext cx="11275153" cy="3967163"/>
        </p:xfrm>
        <a:graphic>
          <a:graphicData uri="http://schemas.openxmlformats.org/presentationml/2006/ole">
            <mc:AlternateContent xmlns:mc="http://schemas.openxmlformats.org/markup-compatibility/2006">
              <mc:Choice xmlns:v="urn:schemas-microsoft-com:vml" Requires="v">
                <p:oleObj spid="_x0000_s10247" name="文档" r:id="rId4" imgW="4510061" imgH="1586865" progId="Word.Document.12">
                  <p:embed/>
                </p:oleObj>
              </mc:Choice>
              <mc:Fallback>
                <p:oleObj name="文档" r:id="rId4" imgW="4510061" imgH="1586865" progId="Word.Document.12">
                  <p:embed/>
                  <p:pic>
                    <p:nvPicPr>
                      <p:cNvPr id="0" name=""/>
                      <p:cNvPicPr/>
                      <p:nvPr/>
                    </p:nvPicPr>
                    <p:blipFill>
                      <a:blip r:embed="rId5"/>
                      <a:stretch>
                        <a:fillRect/>
                      </a:stretch>
                    </p:blipFill>
                    <p:spPr>
                      <a:xfrm>
                        <a:off x="458424" y="1418307"/>
                        <a:ext cx="11275153" cy="3967163"/>
                      </a:xfrm>
                      <a:prstGeom prst="rect">
                        <a:avLst/>
                      </a:prstGeom>
                    </p:spPr>
                  </p:pic>
                </p:oleObj>
              </mc:Fallback>
            </mc:AlternateContent>
          </a:graphicData>
        </a:graphic>
      </p:graphicFrame>
    </p:spTree>
    <p:extLst>
      <p:ext uri="{BB962C8B-B14F-4D97-AF65-F5344CB8AC3E}">
        <p14:creationId xmlns:p14="http://schemas.microsoft.com/office/powerpoint/2010/main" val="36264770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356172735"/>
              </p:ext>
            </p:extLst>
          </p:nvPr>
        </p:nvGraphicFramePr>
        <p:xfrm>
          <a:off x="381000" y="1664979"/>
          <a:ext cx="11430000" cy="3004917"/>
        </p:xfrm>
        <a:graphic>
          <a:graphicData uri="http://schemas.openxmlformats.org/presentationml/2006/ole">
            <mc:AlternateContent xmlns:mc="http://schemas.openxmlformats.org/markup-compatibility/2006">
              <mc:Choice xmlns:v="urn:schemas-microsoft-com:vml" Requires="v">
                <p:oleObj spid="_x0000_s11271" name="文档" r:id="rId4" imgW="11268143" imgH="2962365" progId="Word.Document.12">
                  <p:embed/>
                </p:oleObj>
              </mc:Choice>
              <mc:Fallback>
                <p:oleObj name="文档" r:id="rId4" imgW="11268143" imgH="2962365" progId="Word.Document.12">
                  <p:embed/>
                  <p:pic>
                    <p:nvPicPr>
                      <p:cNvPr id="0" name=""/>
                      <p:cNvPicPr/>
                      <p:nvPr/>
                    </p:nvPicPr>
                    <p:blipFill>
                      <a:blip r:embed="rId5"/>
                      <a:stretch>
                        <a:fillRect/>
                      </a:stretch>
                    </p:blipFill>
                    <p:spPr>
                      <a:xfrm>
                        <a:off x="381000" y="1664979"/>
                        <a:ext cx="11430000" cy="3004917"/>
                      </a:xfrm>
                      <a:prstGeom prst="rect">
                        <a:avLst/>
                      </a:prstGeom>
                    </p:spPr>
                  </p:pic>
                </p:oleObj>
              </mc:Fallback>
            </mc:AlternateContent>
          </a:graphicData>
        </a:graphic>
      </p:graphicFrame>
    </p:spTree>
    <p:extLst>
      <p:ext uri="{BB962C8B-B14F-4D97-AF65-F5344CB8AC3E}">
        <p14:creationId xmlns:p14="http://schemas.microsoft.com/office/powerpoint/2010/main" val="3191850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96710"/>
            <a:ext cx="11430000" cy="1170192"/>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角度</a:t>
            </a:r>
            <a:r>
              <a:rPr lang="en-US" altLang="zh-CN" sz="2800" b="1" dirty="0">
                <a:solidFill>
                  <a:srgbClr val="000000"/>
                </a:solidFill>
                <a:latin typeface="阿里巴巴普惠体"/>
                <a:ea typeface="微软雅黑"/>
                <a:cs typeface="Times New Roman" panose="02020603050405020304" pitchFamily="18" charset="0"/>
                <a:sym typeface="阿里巴巴普惠体"/>
              </a:rPr>
              <a:t>2</a:t>
            </a:r>
            <a:r>
              <a:rPr lang="zh-CN" altLang="zh-CN" sz="2800" i="1" dirty="0">
                <a:solidFill>
                  <a:srgbClr val="000000"/>
                </a:solidFill>
                <a:latin typeface="阿里巴巴普惠体"/>
                <a:ea typeface="微软雅黑"/>
                <a:cs typeface="Times New Roman" panose="02020603050405020304" pitchFamily="18" charset="0"/>
                <a:sym typeface="阿里巴巴普惠体"/>
              </a:rPr>
              <a:t>　</a:t>
            </a:r>
            <a:r>
              <a:rPr lang="zh-CN" altLang="zh-CN" sz="2800" dirty="0">
                <a:solidFill>
                  <a:srgbClr val="000000"/>
                </a:solidFill>
                <a:latin typeface="阿里巴巴普惠体"/>
                <a:ea typeface="微软雅黑"/>
                <a:cs typeface="Times New Roman" panose="02020603050405020304" pitchFamily="18" charset="0"/>
                <a:sym typeface="阿里巴巴普惠体"/>
              </a:rPr>
              <a:t>比较大小</a:t>
            </a: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例</a:t>
            </a:r>
            <a:r>
              <a:rPr lang="en-US" altLang="zh-CN" sz="2800" b="1" dirty="0">
                <a:solidFill>
                  <a:srgbClr val="000000"/>
                </a:solidFill>
                <a:latin typeface="阿里巴巴普惠体"/>
                <a:ea typeface="微软雅黑"/>
                <a:cs typeface="Times New Roman" panose="02020603050405020304" pitchFamily="18" charset="0"/>
                <a:sym typeface="阿里巴巴普惠体"/>
              </a:rPr>
              <a:t>3</a:t>
            </a:r>
            <a:r>
              <a:rPr lang="zh-CN" altLang="zh-CN" sz="2800" dirty="0">
                <a:solidFill>
                  <a:srgbClr val="000000"/>
                </a:solidFill>
                <a:latin typeface="阿里巴巴普惠体"/>
                <a:ea typeface="微软雅黑"/>
                <a:cs typeface="Times New Roman" panose="02020603050405020304" pitchFamily="18" charset="0"/>
                <a:sym typeface="阿里巴巴普惠体"/>
              </a:rPr>
              <a:t>不通过求值</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比较下列各组中两个三角函数值的大小</a:t>
            </a:r>
            <a:r>
              <a:rPr lang="en-US" altLang="zh-CN" sz="2800"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139054649"/>
              </p:ext>
            </p:extLst>
          </p:nvPr>
        </p:nvGraphicFramePr>
        <p:xfrm>
          <a:off x="458424" y="2430871"/>
          <a:ext cx="11275153" cy="1983130"/>
        </p:xfrm>
        <a:graphic>
          <a:graphicData uri="http://schemas.openxmlformats.org/presentationml/2006/ole">
            <mc:AlternateContent xmlns:mc="http://schemas.openxmlformats.org/markup-compatibility/2006">
              <mc:Choice xmlns:v="urn:schemas-microsoft-com:vml" Requires="v">
                <p:oleObj spid="_x0000_s12295" name="文档" r:id="rId4" imgW="4510061" imgH="793252" progId="Word.Document.12">
                  <p:embed/>
                </p:oleObj>
              </mc:Choice>
              <mc:Fallback>
                <p:oleObj name="文档" r:id="rId4" imgW="4510061" imgH="793252" progId="Word.Document.12">
                  <p:embed/>
                  <p:pic>
                    <p:nvPicPr>
                      <p:cNvPr id="0" name=""/>
                      <p:cNvPicPr/>
                      <p:nvPr/>
                    </p:nvPicPr>
                    <p:blipFill>
                      <a:blip r:embed="rId5"/>
                      <a:stretch>
                        <a:fillRect/>
                      </a:stretch>
                    </p:blipFill>
                    <p:spPr>
                      <a:xfrm>
                        <a:off x="458424" y="2430871"/>
                        <a:ext cx="11275153" cy="1983130"/>
                      </a:xfrm>
                      <a:prstGeom prst="rect">
                        <a:avLst/>
                      </a:prstGeom>
                    </p:spPr>
                  </p:pic>
                </p:oleObj>
              </mc:Fallback>
            </mc:AlternateContent>
          </a:graphicData>
        </a:graphic>
      </p:graphicFrame>
      <p:sp>
        <p:nvSpPr>
          <p:cNvPr id="4" name="矩形 3"/>
          <p:cNvSpPr>
            <a:spLocks noChangeAspect="1"/>
          </p:cNvSpPr>
          <p:nvPr/>
        </p:nvSpPr>
        <p:spPr>
          <a:xfrm>
            <a:off x="381000" y="4414001"/>
            <a:ext cx="11430000" cy="61003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分析利用周期性化角到某个单调区间内</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利用函数的单调性比较</a:t>
            </a:r>
            <a:r>
              <a:rPr lang="zh-CN" altLang="zh-CN" sz="2800" dirty="0" smtClean="0">
                <a:solidFill>
                  <a:srgbClr val="000000"/>
                </a:solidFill>
                <a:latin typeface="阿里巴巴普惠体"/>
                <a:ea typeface="微软雅黑"/>
                <a:cs typeface="Times New Roman" panose="02020603050405020304" pitchFamily="18" charset="0"/>
                <a:sym typeface="阿里巴巴普惠体"/>
              </a:rPr>
              <a:t>大小</a:t>
            </a:r>
            <a:r>
              <a:rPr lang="en-US" altLang="zh-CN" sz="2800" dirty="0" smtClean="0">
                <a:solidFill>
                  <a:srgbClr val="000000"/>
                </a:solidFill>
                <a:latin typeface="阿里巴巴普惠体"/>
                <a:ea typeface="微软雅黑"/>
                <a:cs typeface="Times New Roman" panose="02020603050405020304" pitchFamily="18" charset="0"/>
                <a:sym typeface="阿里巴巴普惠体"/>
              </a:rPr>
              <a:t> </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11221877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818459789"/>
              </p:ext>
            </p:extLst>
          </p:nvPr>
        </p:nvGraphicFramePr>
        <p:xfrm>
          <a:off x="458424" y="323999"/>
          <a:ext cx="11275153" cy="5950293"/>
        </p:xfrm>
        <a:graphic>
          <a:graphicData uri="http://schemas.openxmlformats.org/presentationml/2006/ole">
            <mc:AlternateContent xmlns:mc="http://schemas.openxmlformats.org/markup-compatibility/2006">
              <mc:Choice xmlns:v="urn:schemas-microsoft-com:vml" Requires="v">
                <p:oleObj spid="_x0000_s13319" name="文档" r:id="rId4" imgW="4510061" imgH="2380117" progId="Word.Document.12">
                  <p:embed/>
                </p:oleObj>
              </mc:Choice>
              <mc:Fallback>
                <p:oleObj name="文档" r:id="rId4" imgW="4510061" imgH="2380117" progId="Word.Document.12">
                  <p:embed/>
                  <p:pic>
                    <p:nvPicPr>
                      <p:cNvPr id="0" name=""/>
                      <p:cNvPicPr/>
                      <p:nvPr/>
                    </p:nvPicPr>
                    <p:blipFill>
                      <a:blip r:embed="rId5"/>
                      <a:stretch>
                        <a:fillRect/>
                      </a:stretch>
                    </p:blipFill>
                    <p:spPr>
                      <a:xfrm>
                        <a:off x="458424" y="323999"/>
                        <a:ext cx="11275153" cy="5950293"/>
                      </a:xfrm>
                      <a:prstGeom prst="rect">
                        <a:avLst/>
                      </a:prstGeom>
                    </p:spPr>
                  </p:pic>
                </p:oleObj>
              </mc:Fallback>
            </mc:AlternateContent>
          </a:graphicData>
        </a:graphic>
      </p:graphicFrame>
    </p:spTree>
    <p:extLst>
      <p:ext uri="{BB962C8B-B14F-4D97-AF65-F5344CB8AC3E}">
        <p14:creationId xmlns:p14="http://schemas.microsoft.com/office/powerpoint/2010/main" val="2124896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749262"/>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要点笔记 正切函数的单调性在比较大小中的应用技巧</a:t>
            </a: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利用正切函数的单调性比较两个正切值的大小</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实际上是将两个角利用函数的周期性或诱导公式放在同一个单调区间内进行比较</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32773689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571099811"/>
              </p:ext>
            </p:extLst>
          </p:nvPr>
        </p:nvGraphicFramePr>
        <p:xfrm>
          <a:off x="458424" y="2564435"/>
          <a:ext cx="11275153" cy="1983130"/>
        </p:xfrm>
        <a:graphic>
          <a:graphicData uri="http://schemas.openxmlformats.org/presentationml/2006/ole">
            <mc:AlternateContent xmlns:mc="http://schemas.openxmlformats.org/markup-compatibility/2006">
              <mc:Choice xmlns:v="urn:schemas-microsoft-com:vml" Requires="v">
                <p:oleObj spid="_x0000_s14342" name="文档" r:id="rId4" imgW="4510061" imgH="793252" progId="Word.Document.12">
                  <p:embed/>
                </p:oleObj>
              </mc:Choice>
              <mc:Fallback>
                <p:oleObj name="文档" r:id="rId4" imgW="4510061" imgH="793252" progId="Word.Document.12">
                  <p:embed/>
                  <p:pic>
                    <p:nvPicPr>
                      <p:cNvPr id="0" name=""/>
                      <p:cNvPicPr/>
                      <p:nvPr/>
                    </p:nvPicPr>
                    <p:blipFill>
                      <a:blip r:embed="rId5"/>
                      <a:stretch>
                        <a:fillRect/>
                      </a:stretch>
                    </p:blipFill>
                    <p:spPr>
                      <a:xfrm>
                        <a:off x="458424" y="2564435"/>
                        <a:ext cx="11275153" cy="1983130"/>
                      </a:xfrm>
                      <a:prstGeom prst="rect">
                        <a:avLst/>
                      </a:prstGeom>
                    </p:spPr>
                  </p:pic>
                </p:oleObj>
              </mc:Fallback>
            </mc:AlternateContent>
          </a:graphicData>
        </a:graphic>
      </p:graphicFrame>
    </p:spTree>
    <p:extLst>
      <p:ext uri="{BB962C8B-B14F-4D97-AF65-F5344CB8AC3E}">
        <p14:creationId xmlns:p14="http://schemas.microsoft.com/office/powerpoint/2010/main" val="41700579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171309540"/>
              </p:ext>
            </p:extLst>
          </p:nvPr>
        </p:nvGraphicFramePr>
        <p:xfrm>
          <a:off x="458424" y="1076861"/>
          <a:ext cx="11275153" cy="4958278"/>
        </p:xfrm>
        <a:graphic>
          <a:graphicData uri="http://schemas.openxmlformats.org/presentationml/2006/ole">
            <mc:AlternateContent xmlns:mc="http://schemas.openxmlformats.org/markup-compatibility/2006">
              <mc:Choice xmlns:v="urn:schemas-microsoft-com:vml" Requires="v">
                <p:oleObj spid="_x0000_s15366" name="文档" r:id="rId4" imgW="4510061" imgH="1983311" progId="Word.Document.12">
                  <p:embed/>
                </p:oleObj>
              </mc:Choice>
              <mc:Fallback>
                <p:oleObj name="文档" r:id="rId4" imgW="4510061" imgH="1983311" progId="Word.Document.12">
                  <p:embed/>
                  <p:pic>
                    <p:nvPicPr>
                      <p:cNvPr id="0" name=""/>
                      <p:cNvPicPr/>
                      <p:nvPr/>
                    </p:nvPicPr>
                    <p:blipFill>
                      <a:blip r:embed="rId5"/>
                      <a:stretch>
                        <a:fillRect/>
                      </a:stretch>
                    </p:blipFill>
                    <p:spPr>
                      <a:xfrm>
                        <a:off x="458424" y="1076861"/>
                        <a:ext cx="11275153" cy="4958278"/>
                      </a:xfrm>
                      <a:prstGeom prst="rect">
                        <a:avLst/>
                      </a:prstGeom>
                    </p:spPr>
                  </p:pic>
                </p:oleObj>
              </mc:Fallback>
            </mc:AlternateContent>
          </a:graphicData>
        </a:graphic>
      </p:graphicFrame>
    </p:spTree>
    <p:extLst>
      <p:ext uri="{BB962C8B-B14F-4D97-AF65-F5344CB8AC3E}">
        <p14:creationId xmlns:p14="http://schemas.microsoft.com/office/powerpoint/2010/main" val="115483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84088327"/>
              </p:ext>
            </p:extLst>
          </p:nvPr>
        </p:nvGraphicFramePr>
        <p:xfrm>
          <a:off x="458424" y="385644"/>
          <a:ext cx="11275153" cy="5950293"/>
        </p:xfrm>
        <a:graphic>
          <a:graphicData uri="http://schemas.openxmlformats.org/presentationml/2006/ole">
            <mc:AlternateContent xmlns:mc="http://schemas.openxmlformats.org/markup-compatibility/2006">
              <mc:Choice xmlns:v="urn:schemas-microsoft-com:vml" Requires="v">
                <p:oleObj spid="_x0000_s16390" name="文档" r:id="rId4" imgW="4510061" imgH="2380117" progId="Word.Document.12">
                  <p:embed/>
                </p:oleObj>
              </mc:Choice>
              <mc:Fallback>
                <p:oleObj name="文档" r:id="rId4" imgW="4510061" imgH="2380117" progId="Word.Document.12">
                  <p:embed/>
                  <p:pic>
                    <p:nvPicPr>
                      <p:cNvPr id="0" name=""/>
                      <p:cNvPicPr/>
                      <p:nvPr/>
                    </p:nvPicPr>
                    <p:blipFill>
                      <a:blip r:embed="rId5"/>
                      <a:stretch>
                        <a:fillRect/>
                      </a:stretch>
                    </p:blipFill>
                    <p:spPr>
                      <a:xfrm>
                        <a:off x="458424" y="385644"/>
                        <a:ext cx="11275153" cy="5950293"/>
                      </a:xfrm>
                      <a:prstGeom prst="rect">
                        <a:avLst/>
                      </a:prstGeom>
                    </p:spPr>
                  </p:pic>
                </p:oleObj>
              </mc:Fallback>
            </mc:AlternateContent>
          </a:graphicData>
        </a:graphic>
      </p:graphicFrame>
    </p:spTree>
    <p:extLst>
      <p:ext uri="{BB962C8B-B14F-4D97-AF65-F5344CB8AC3E}">
        <p14:creationId xmlns:p14="http://schemas.microsoft.com/office/powerpoint/2010/main" val="1940613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2" y="151371"/>
            <a:ext cx="11810998" cy="433754"/>
            <a:chOff x="381000" y="205656"/>
            <a:chExt cx="1181099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37" name="组合 36"/>
            <p:cNvGrpSpPr/>
            <p:nvPr/>
          </p:nvGrpSpPr>
          <p:grpSpPr>
            <a:xfrm>
              <a:off x="381000" y="205656"/>
              <a:ext cx="11810998" cy="433754"/>
              <a:chOff x="3048000" y="2286000"/>
              <a:chExt cx="5015133" cy="457200"/>
            </a:xfrm>
          </p:grpSpPr>
          <p:sp>
            <p:nvSpPr>
              <p:cNvPr id="38" name="矩形 37"/>
              <p:cNvSpPr/>
              <p:nvPr/>
            </p:nvSpPr>
            <p:spPr>
              <a:xfrm>
                <a:off x="3048000" y="2286000"/>
                <a:ext cx="694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探究三</a:t>
                </a:r>
              </a:p>
            </p:txBody>
          </p:sp>
          <p:sp>
            <p:nvSpPr>
              <p:cNvPr id="39" name="矩形 38"/>
              <p:cNvSpPr/>
              <p:nvPr/>
            </p:nvSpPr>
            <p:spPr>
              <a:xfrm>
                <a:off x="3803112"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latin typeface="阿里巴巴普惠体"/>
                    <a:ea typeface="微软雅黑"/>
                    <a:sym typeface="阿里巴巴普惠体"/>
                  </a:rPr>
                  <a:t>正切函数的周期性与奇偶性</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3796244957"/>
              </p:ext>
            </p:extLst>
          </p:nvPr>
        </p:nvGraphicFramePr>
        <p:xfrm>
          <a:off x="458424" y="1796270"/>
          <a:ext cx="11275153" cy="992015"/>
        </p:xfrm>
        <a:graphic>
          <a:graphicData uri="http://schemas.openxmlformats.org/presentationml/2006/ole">
            <mc:AlternateContent xmlns:mc="http://schemas.openxmlformats.org/markup-compatibility/2006">
              <mc:Choice xmlns:v="urn:schemas-microsoft-com:vml" Requires="v">
                <p:oleObj spid="_x0000_s17414" name="文档" r:id="rId4" imgW="4510061" imgH="396806" progId="Word.Document.12">
                  <p:embed/>
                </p:oleObj>
              </mc:Choice>
              <mc:Fallback>
                <p:oleObj name="文档" r:id="rId4" imgW="4510061" imgH="396806" progId="Word.Document.12">
                  <p:embed/>
                  <p:pic>
                    <p:nvPicPr>
                      <p:cNvPr id="0" name=""/>
                      <p:cNvPicPr/>
                      <p:nvPr/>
                    </p:nvPicPr>
                    <p:blipFill>
                      <a:blip r:embed="rId5"/>
                      <a:stretch>
                        <a:fillRect/>
                      </a:stretch>
                    </p:blipFill>
                    <p:spPr>
                      <a:xfrm>
                        <a:off x="458424" y="1796270"/>
                        <a:ext cx="11275153" cy="992015"/>
                      </a:xfrm>
                      <a:prstGeom prst="rect">
                        <a:avLst/>
                      </a:prstGeom>
                    </p:spPr>
                  </p:pic>
                </p:oleObj>
              </mc:Fallback>
            </mc:AlternateContent>
          </a:graphicData>
        </a:graphic>
      </p:graphicFrame>
      <p:sp>
        <p:nvSpPr>
          <p:cNvPr id="3" name="矩形 2"/>
          <p:cNvSpPr>
            <a:spLocks noChangeAspect="1"/>
          </p:cNvSpPr>
          <p:nvPr/>
        </p:nvSpPr>
        <p:spPr>
          <a:xfrm>
            <a:off x="381000" y="2763240"/>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(2)</a:t>
            </a:r>
            <a:r>
              <a:rPr lang="zh-CN" altLang="zh-CN" sz="2800">
                <a:solidFill>
                  <a:srgbClr val="000000"/>
                </a:solidFill>
                <a:latin typeface="阿里巴巴普惠体"/>
                <a:ea typeface="微软雅黑"/>
                <a:cs typeface="Times New Roman" panose="02020603050405020304" pitchFamily="18" charset="0"/>
                <a:sym typeface="阿里巴巴普惠体"/>
              </a:rPr>
              <a:t>已知函数</a:t>
            </a:r>
            <a:r>
              <a:rPr lang="en-US" altLang="zh-CN" sz="2800" i="1">
                <a:solidFill>
                  <a:srgbClr val="000000"/>
                </a:solidFill>
                <a:latin typeface="阿里巴巴普惠体"/>
                <a:ea typeface="微软雅黑"/>
                <a:cs typeface="Times New Roman" panose="02020603050405020304" pitchFamily="18" charset="0"/>
                <a:sym typeface="阿里巴巴普惠体"/>
              </a:rPr>
              <a:t>f</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a:t>
            </a:r>
            <a:r>
              <a:rPr lang="en-US" altLang="zh-CN" sz="2800">
                <a:solidFill>
                  <a:srgbClr val="000000"/>
                </a:solidFill>
                <a:latin typeface="阿里巴巴普惠体"/>
                <a:ea typeface="微软雅黑"/>
                <a:cs typeface="Times New Roman" panose="02020603050405020304" pitchFamily="18" charset="0"/>
                <a:sym typeface="阿里巴巴普惠体"/>
              </a:rPr>
              <a:t>sin </a:t>
            </a:r>
            <a:r>
              <a:rPr lang="en-US" altLang="zh-CN" sz="2800" i="1">
                <a:solidFill>
                  <a:srgbClr val="000000"/>
                </a:solidFill>
                <a:latin typeface="阿里巴巴普惠体"/>
                <a:ea typeface="微软雅黑"/>
                <a:cs typeface="Times New Roman" panose="02020603050405020304" pitchFamily="18" charset="0"/>
                <a:sym typeface="阿里巴巴普惠体"/>
              </a:rPr>
              <a:t>x+b</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2 018,</a:t>
            </a:r>
            <a:r>
              <a:rPr lang="zh-CN" altLang="zh-CN" sz="2800">
                <a:solidFill>
                  <a:srgbClr val="000000"/>
                </a:solidFill>
                <a:latin typeface="阿里巴巴普惠体"/>
                <a:ea typeface="微软雅黑"/>
                <a:cs typeface="Times New Roman" panose="02020603050405020304" pitchFamily="18" charset="0"/>
                <a:sym typeface="阿里巴巴普惠体"/>
              </a:rPr>
              <a:t>若</a:t>
            </a:r>
            <a:r>
              <a:rPr lang="en-US" altLang="zh-CN" sz="2800" i="1">
                <a:solidFill>
                  <a:srgbClr val="000000"/>
                </a:solidFill>
                <a:latin typeface="阿里巴巴普惠体"/>
                <a:ea typeface="微软雅黑"/>
                <a:cs typeface="Times New Roman" panose="02020603050405020304" pitchFamily="18" charset="0"/>
                <a:sym typeface="阿里巴巴普惠体"/>
              </a:rPr>
              <a:t>f</a:t>
            </a:r>
            <a:r>
              <a:rPr lang="en-US" altLang="zh-CN" sz="2800">
                <a:solidFill>
                  <a:srgbClr val="000000"/>
                </a:solidFill>
                <a:latin typeface="阿里巴巴普惠体"/>
                <a:ea typeface="微软雅黑"/>
                <a:cs typeface="Times New Roman" panose="02020603050405020304" pitchFamily="18" charset="0"/>
                <a:sym typeface="阿里巴巴普惠体"/>
              </a:rPr>
              <a:t>(2 019)</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zh-CN" altLang="zh-CN" sz="2800">
                <a:solidFill>
                  <a:srgbClr val="000000"/>
                </a:solidFill>
                <a:latin typeface="阿里巴巴普惠体"/>
                <a:ea typeface="微软雅黑"/>
                <a:cs typeface="Times New Roman" panose="02020603050405020304" pitchFamily="18" charset="0"/>
                <a:sym typeface="阿里巴巴普惠体"/>
              </a:rPr>
              <a:t>求</a:t>
            </a:r>
            <a:r>
              <a:rPr lang="en-US" altLang="zh-CN" sz="2800" i="1">
                <a:solidFill>
                  <a:srgbClr val="000000"/>
                </a:solidFill>
                <a:latin typeface="阿里巴巴普惠体"/>
                <a:ea typeface="微软雅黑"/>
                <a:cs typeface="Times New Roman" panose="02020603050405020304" pitchFamily="18" charset="0"/>
                <a:sym typeface="阿里巴巴普惠体"/>
              </a:rPr>
              <a:t>f</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2 019)</a:t>
            </a:r>
            <a:r>
              <a:rPr lang="zh-CN" altLang="zh-CN" sz="2800">
                <a:solidFill>
                  <a:srgbClr val="000000"/>
                </a:solidFill>
                <a:latin typeface="阿里巴巴普惠体"/>
                <a:ea typeface="微软雅黑"/>
                <a:cs typeface="Times New Roman" panose="02020603050405020304" pitchFamily="18" charset="0"/>
                <a:sym typeface="阿里巴巴普惠体"/>
              </a:rPr>
              <a:t>的值</a:t>
            </a:r>
            <a:r>
              <a:rPr lang="en-US" altLang="zh-CN" sz="2800" i="1">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分析</a:t>
            </a:r>
            <a:r>
              <a:rPr lang="en-US" altLang="zh-CN" sz="2800">
                <a:solidFill>
                  <a:srgbClr val="000000"/>
                </a:solidFill>
                <a:latin typeface="阿里巴巴普惠体"/>
                <a:ea typeface="微软雅黑"/>
                <a:cs typeface="Times New Roman" panose="02020603050405020304" pitchFamily="18" charset="0"/>
                <a:sym typeface="阿里巴巴普惠体"/>
              </a:rPr>
              <a:t>(1)</a:t>
            </a:r>
            <a:r>
              <a:rPr lang="zh-CN" altLang="zh-CN" sz="2800">
                <a:solidFill>
                  <a:srgbClr val="000000"/>
                </a:solidFill>
                <a:latin typeface="阿里巴巴普惠体"/>
                <a:ea typeface="微软雅黑"/>
                <a:cs typeface="Times New Roman" panose="02020603050405020304" pitchFamily="18" charset="0"/>
                <a:sym typeface="阿里巴巴普惠体"/>
              </a:rPr>
              <a:t>根据正切函数最小正周期求解</a:t>
            </a:r>
            <a:r>
              <a:rPr lang="en-US" altLang="zh-CN" sz="2800">
                <a:solidFill>
                  <a:srgbClr val="000000"/>
                </a:solidFill>
                <a:latin typeface="阿里巴巴普惠体"/>
                <a:ea typeface="微软雅黑"/>
                <a:cs typeface="Times New Roman" panose="02020603050405020304" pitchFamily="18" charset="0"/>
                <a:sym typeface="阿里巴巴普惠体"/>
              </a:rPr>
              <a:t>;(2)</a:t>
            </a:r>
            <a:r>
              <a:rPr lang="zh-CN" altLang="zh-CN" sz="2800">
                <a:solidFill>
                  <a:srgbClr val="000000"/>
                </a:solidFill>
                <a:latin typeface="阿里巴巴普惠体"/>
                <a:ea typeface="微软雅黑"/>
                <a:cs typeface="Times New Roman" panose="02020603050405020304" pitchFamily="18" charset="0"/>
                <a:sym typeface="阿里巴巴普惠体"/>
              </a:rPr>
              <a:t>根据函数</a:t>
            </a:r>
            <a:r>
              <a:rPr lang="en-US" altLang="zh-CN" sz="2800" i="1">
                <a:solidFill>
                  <a:srgbClr val="000000"/>
                </a:solidFill>
                <a:latin typeface="阿里巴巴普惠体"/>
                <a:ea typeface="微软雅黑"/>
                <a:cs typeface="Times New Roman" panose="02020603050405020304" pitchFamily="18" charset="0"/>
                <a:sym typeface="阿里巴巴普惠体"/>
              </a:rPr>
              <a:t>y=a</a:t>
            </a:r>
            <a:r>
              <a:rPr lang="en-US" altLang="zh-CN" sz="2800">
                <a:solidFill>
                  <a:srgbClr val="000000"/>
                </a:solidFill>
                <a:latin typeface="阿里巴巴普惠体"/>
                <a:ea typeface="微软雅黑"/>
                <a:cs typeface="Times New Roman" panose="02020603050405020304" pitchFamily="18" charset="0"/>
                <a:sym typeface="阿里巴巴普惠体"/>
              </a:rPr>
              <a:t>sin </a:t>
            </a:r>
            <a:r>
              <a:rPr lang="en-US" altLang="zh-CN" sz="2800" i="1">
                <a:solidFill>
                  <a:srgbClr val="000000"/>
                </a:solidFill>
                <a:latin typeface="阿里巴巴普惠体"/>
                <a:ea typeface="微软雅黑"/>
                <a:cs typeface="Times New Roman" panose="02020603050405020304" pitchFamily="18" charset="0"/>
                <a:sym typeface="阿里巴巴普惠体"/>
              </a:rPr>
              <a:t>x+b</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zh-CN" altLang="zh-CN" sz="2800">
                <a:solidFill>
                  <a:srgbClr val="000000"/>
                </a:solidFill>
                <a:latin typeface="阿里巴巴普惠体"/>
                <a:ea typeface="微软雅黑"/>
                <a:cs typeface="Times New Roman" panose="02020603050405020304" pitchFamily="18" charset="0"/>
                <a:sym typeface="阿里巴巴普惠体"/>
              </a:rPr>
              <a:t>是奇函数求解</a:t>
            </a:r>
            <a:r>
              <a:rPr lang="en-US" altLang="zh-CN" sz="2800" i="1">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146571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146709699"/>
              </p:ext>
            </p:extLst>
          </p:nvPr>
        </p:nvGraphicFramePr>
        <p:xfrm>
          <a:off x="458424" y="177981"/>
          <a:ext cx="11275153" cy="2975148"/>
        </p:xfrm>
        <a:graphic>
          <a:graphicData uri="http://schemas.openxmlformats.org/presentationml/2006/ole">
            <mc:AlternateContent xmlns:mc="http://schemas.openxmlformats.org/markup-compatibility/2006">
              <mc:Choice xmlns:v="urn:schemas-microsoft-com:vml" Requires="v">
                <p:oleObj spid="_x0000_s18438" name="文档" r:id="rId4" imgW="4510061" imgH="1190059" progId="Word.Document.12">
                  <p:embed/>
                </p:oleObj>
              </mc:Choice>
              <mc:Fallback>
                <p:oleObj name="文档" r:id="rId4" imgW="4510061" imgH="1190059" progId="Word.Document.12">
                  <p:embed/>
                  <p:pic>
                    <p:nvPicPr>
                      <p:cNvPr id="0" name=""/>
                      <p:cNvPicPr/>
                      <p:nvPr/>
                    </p:nvPicPr>
                    <p:blipFill>
                      <a:blip r:embed="rId5"/>
                      <a:stretch>
                        <a:fillRect/>
                      </a:stretch>
                    </p:blipFill>
                    <p:spPr>
                      <a:xfrm>
                        <a:off x="458424" y="177981"/>
                        <a:ext cx="11275153" cy="2975148"/>
                      </a:xfrm>
                      <a:prstGeom prst="rect">
                        <a:avLst/>
                      </a:prstGeom>
                    </p:spPr>
                  </p:pic>
                </p:oleObj>
              </mc:Fallback>
            </mc:AlternateContent>
          </a:graphicData>
        </a:graphic>
      </p:graphicFrame>
      <p:sp>
        <p:nvSpPr>
          <p:cNvPr id="3" name="矩形 2"/>
          <p:cNvSpPr>
            <a:spLocks noChangeAspect="1"/>
          </p:cNvSpPr>
          <p:nvPr/>
        </p:nvSpPr>
        <p:spPr>
          <a:xfrm>
            <a:off x="381000" y="2909329"/>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(2)</a:t>
            </a:r>
            <a:r>
              <a:rPr lang="zh-CN" altLang="zh-CN" sz="2800">
                <a:solidFill>
                  <a:srgbClr val="000000"/>
                </a:solidFill>
                <a:latin typeface="阿里巴巴普惠体"/>
                <a:ea typeface="微软雅黑"/>
                <a:cs typeface="Times New Roman" panose="02020603050405020304" pitchFamily="18" charset="0"/>
                <a:sym typeface="阿里巴巴普惠体"/>
              </a:rPr>
              <a:t>令</a:t>
            </a:r>
            <a:r>
              <a:rPr lang="en-US" altLang="zh-CN" sz="2800" i="1">
                <a:solidFill>
                  <a:srgbClr val="000000"/>
                </a:solidFill>
                <a:latin typeface="阿里巴巴普惠体"/>
                <a:ea typeface="微软雅黑"/>
                <a:cs typeface="Times New Roman" panose="02020603050405020304" pitchFamily="18" charset="0"/>
                <a:sym typeface="阿里巴巴普惠体"/>
              </a:rPr>
              <a:t>g</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a:t>
            </a:r>
            <a:r>
              <a:rPr lang="en-US" altLang="zh-CN" sz="2800">
                <a:solidFill>
                  <a:srgbClr val="000000"/>
                </a:solidFill>
                <a:latin typeface="阿里巴巴普惠体"/>
                <a:ea typeface="微软雅黑"/>
                <a:cs typeface="Times New Roman" panose="02020603050405020304" pitchFamily="18" charset="0"/>
                <a:sym typeface="阿里巴巴普惠体"/>
              </a:rPr>
              <a:t>sin </a:t>
            </a:r>
            <a:r>
              <a:rPr lang="en-US" altLang="zh-CN" sz="2800" i="1">
                <a:solidFill>
                  <a:srgbClr val="000000"/>
                </a:solidFill>
                <a:latin typeface="阿里巴巴普惠体"/>
                <a:ea typeface="微软雅黑"/>
                <a:cs typeface="Times New Roman" panose="02020603050405020304" pitchFamily="18" charset="0"/>
                <a:sym typeface="阿里巴巴普惠体"/>
              </a:rPr>
              <a:t>x+b</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则</a:t>
            </a:r>
            <a:r>
              <a:rPr lang="en-US" altLang="zh-CN" sz="2800" i="1">
                <a:solidFill>
                  <a:srgbClr val="000000"/>
                </a:solidFill>
                <a:latin typeface="阿里巴巴普惠体"/>
                <a:ea typeface="微软雅黑"/>
                <a:cs typeface="Times New Roman" panose="02020603050405020304" pitchFamily="18" charset="0"/>
                <a:sym typeface="阿里巴巴普惠体"/>
              </a:rPr>
              <a:t>f</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=g</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2 018</a:t>
            </a:r>
            <a:r>
              <a:rPr lang="en-US" altLang="zh-CN" sz="2800" i="1">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因为</a:t>
            </a:r>
            <a:r>
              <a:rPr lang="en-US" altLang="zh-CN" sz="2800" i="1">
                <a:solidFill>
                  <a:srgbClr val="000000"/>
                </a:solidFill>
                <a:latin typeface="阿里巴巴普惠体"/>
                <a:ea typeface="微软雅黑"/>
                <a:cs typeface="Times New Roman" panose="02020603050405020304" pitchFamily="18" charset="0"/>
                <a:sym typeface="阿里巴巴普惠体"/>
              </a:rPr>
              <a:t>g</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a:t>
            </a:r>
            <a:r>
              <a:rPr lang="en-US" altLang="zh-CN" sz="2800">
                <a:solidFill>
                  <a:srgbClr val="000000"/>
                </a:solidFill>
                <a:latin typeface="阿里巴巴普惠体"/>
                <a:ea typeface="微软雅黑"/>
                <a:cs typeface="Times New Roman" panose="02020603050405020304" pitchFamily="18" charset="0"/>
                <a:sym typeface="阿里巴巴普惠体"/>
              </a:rPr>
              <a:t>sin(</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+b</a:t>
            </a:r>
            <a:r>
              <a:rPr lang="en-US" altLang="zh-CN" sz="2800">
                <a:solidFill>
                  <a:srgbClr val="000000"/>
                </a:solidFill>
                <a:latin typeface="阿里巴巴普惠体"/>
                <a:ea typeface="微软雅黑"/>
                <a:cs typeface="Times New Roman" panose="02020603050405020304" pitchFamily="18" charset="0"/>
                <a:sym typeface="阿里巴巴普惠体"/>
              </a:rPr>
              <a:t>tan(</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a:t>
            </a:r>
            <a:r>
              <a:rPr lang="en-US" altLang="zh-CN" sz="2800">
                <a:solidFill>
                  <a:srgbClr val="000000"/>
                </a:solidFill>
                <a:latin typeface="阿里巴巴普惠体"/>
                <a:ea typeface="微软雅黑"/>
                <a:cs typeface="Times New Roman" panose="02020603050405020304" pitchFamily="18" charset="0"/>
                <a:sym typeface="阿里巴巴普惠体"/>
              </a:rPr>
              <a:t>sin </a:t>
            </a:r>
            <a:r>
              <a:rPr lang="en-US" altLang="zh-CN" sz="2800" i="1">
                <a:solidFill>
                  <a:srgbClr val="000000"/>
                </a:solidFill>
                <a:latin typeface="阿里巴巴普惠体"/>
                <a:ea typeface="微软雅黑"/>
                <a:cs typeface="Times New Roman" panose="02020603050405020304" pitchFamily="18" charset="0"/>
                <a:sym typeface="阿里巴巴普惠体"/>
              </a:rPr>
              <a:t>x+b</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=-g</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所以</a:t>
            </a:r>
            <a:r>
              <a:rPr lang="en-US" altLang="zh-CN" sz="2800" i="1">
                <a:solidFill>
                  <a:srgbClr val="000000"/>
                </a:solidFill>
                <a:latin typeface="阿里巴巴普惠体"/>
                <a:ea typeface="微软雅黑"/>
                <a:cs typeface="Times New Roman" panose="02020603050405020304" pitchFamily="18" charset="0"/>
                <a:sym typeface="阿里巴巴普惠体"/>
              </a:rPr>
              <a:t>g</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是奇函数</a:t>
            </a:r>
            <a:r>
              <a:rPr lang="en-US" altLang="zh-CN" sz="2800" i="1">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因为</a:t>
            </a:r>
            <a:r>
              <a:rPr lang="en-US" altLang="zh-CN" sz="2800" i="1">
                <a:solidFill>
                  <a:srgbClr val="000000"/>
                </a:solidFill>
                <a:latin typeface="阿里巴巴普惠体"/>
                <a:ea typeface="微软雅黑"/>
                <a:cs typeface="Times New Roman" panose="02020603050405020304" pitchFamily="18" charset="0"/>
                <a:sym typeface="阿里巴巴普惠体"/>
              </a:rPr>
              <a:t>f</a:t>
            </a:r>
            <a:r>
              <a:rPr lang="en-US" altLang="zh-CN" sz="2800">
                <a:solidFill>
                  <a:srgbClr val="000000"/>
                </a:solidFill>
                <a:latin typeface="阿里巴巴普惠体"/>
                <a:ea typeface="微软雅黑"/>
                <a:cs typeface="Times New Roman" panose="02020603050405020304" pitchFamily="18" charset="0"/>
                <a:sym typeface="阿里巴巴普惠体"/>
              </a:rPr>
              <a:t>(2 019)</a:t>
            </a:r>
            <a:r>
              <a:rPr lang="en-US" altLang="zh-CN" sz="2800" i="1">
                <a:solidFill>
                  <a:srgbClr val="000000"/>
                </a:solidFill>
                <a:latin typeface="阿里巴巴普惠体"/>
                <a:ea typeface="微软雅黑"/>
                <a:cs typeface="Times New Roman" panose="02020603050405020304" pitchFamily="18" charset="0"/>
                <a:sym typeface="阿里巴巴普惠体"/>
              </a:rPr>
              <a:t>=g</a:t>
            </a:r>
            <a:r>
              <a:rPr lang="en-US" altLang="zh-CN" sz="2800">
                <a:solidFill>
                  <a:srgbClr val="000000"/>
                </a:solidFill>
                <a:latin typeface="阿里巴巴普惠体"/>
                <a:ea typeface="微软雅黑"/>
                <a:cs typeface="Times New Roman" panose="02020603050405020304" pitchFamily="18" charset="0"/>
                <a:sym typeface="阿里巴巴普惠体"/>
              </a:rPr>
              <a:t>(2 019)</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2 018</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1,</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所以</a:t>
            </a:r>
            <a:r>
              <a:rPr lang="en-US" altLang="zh-CN" sz="2800" i="1">
                <a:solidFill>
                  <a:srgbClr val="000000"/>
                </a:solidFill>
                <a:latin typeface="阿里巴巴普惠体"/>
                <a:ea typeface="微软雅黑"/>
                <a:cs typeface="Times New Roman" panose="02020603050405020304" pitchFamily="18" charset="0"/>
                <a:sym typeface="阿里巴巴普惠体"/>
              </a:rPr>
              <a:t>g</a:t>
            </a:r>
            <a:r>
              <a:rPr lang="en-US" altLang="zh-CN" sz="2800">
                <a:solidFill>
                  <a:srgbClr val="000000"/>
                </a:solidFill>
                <a:latin typeface="阿里巴巴普惠体"/>
                <a:ea typeface="微软雅黑"/>
                <a:cs typeface="Times New Roman" panose="02020603050405020304" pitchFamily="18" charset="0"/>
                <a:sym typeface="阿里巴巴普惠体"/>
              </a:rPr>
              <a:t>(2 019)</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2 019,</a:t>
            </a:r>
            <a:r>
              <a:rPr lang="zh-CN" altLang="zh-CN" sz="2800">
                <a:solidFill>
                  <a:srgbClr val="000000"/>
                </a:solidFill>
                <a:latin typeface="阿里巴巴普惠体"/>
                <a:ea typeface="微软雅黑"/>
                <a:cs typeface="Times New Roman" panose="02020603050405020304" pitchFamily="18" charset="0"/>
                <a:sym typeface="阿里巴巴普惠体"/>
              </a:rPr>
              <a:t>则</a:t>
            </a:r>
            <a:r>
              <a:rPr lang="en-US" altLang="zh-CN" sz="2800" i="1">
                <a:solidFill>
                  <a:srgbClr val="000000"/>
                </a:solidFill>
                <a:latin typeface="阿里巴巴普惠体"/>
                <a:ea typeface="微软雅黑"/>
                <a:cs typeface="Times New Roman" panose="02020603050405020304" pitchFamily="18" charset="0"/>
                <a:sym typeface="阿里巴巴普惠体"/>
              </a:rPr>
              <a:t>g</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2 019)</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2 019,</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故</a:t>
            </a:r>
            <a:r>
              <a:rPr lang="en-US" altLang="zh-CN" sz="2800" i="1">
                <a:solidFill>
                  <a:srgbClr val="000000"/>
                </a:solidFill>
                <a:latin typeface="阿里巴巴普惠体"/>
                <a:ea typeface="微软雅黑"/>
                <a:cs typeface="Times New Roman" panose="02020603050405020304" pitchFamily="18" charset="0"/>
                <a:sym typeface="阿里巴巴普惠体"/>
              </a:rPr>
              <a:t>f</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2 019)</a:t>
            </a:r>
            <a:r>
              <a:rPr lang="en-US" altLang="zh-CN" sz="2800" i="1">
                <a:solidFill>
                  <a:srgbClr val="000000"/>
                </a:solidFill>
                <a:latin typeface="阿里巴巴普惠体"/>
                <a:ea typeface="微软雅黑"/>
                <a:cs typeface="Times New Roman" panose="02020603050405020304" pitchFamily="18" charset="0"/>
                <a:sym typeface="阿里巴巴普惠体"/>
              </a:rPr>
              <a:t>=g</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2 019)</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2 018</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2 019</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2 018</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4 037</a:t>
            </a:r>
            <a:r>
              <a:rPr lang="en-US" altLang="zh-CN" sz="2800" i="1">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13877549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64370257"/>
              </p:ext>
            </p:extLst>
          </p:nvPr>
        </p:nvGraphicFramePr>
        <p:xfrm>
          <a:off x="458424" y="1820648"/>
          <a:ext cx="11275153" cy="3470705"/>
        </p:xfrm>
        <a:graphic>
          <a:graphicData uri="http://schemas.openxmlformats.org/presentationml/2006/ole">
            <mc:AlternateContent xmlns:mc="http://schemas.openxmlformats.org/markup-compatibility/2006">
              <mc:Choice xmlns:v="urn:schemas-microsoft-com:vml" Requires="v">
                <p:oleObj spid="_x0000_s19462" name="文档" r:id="rId4" imgW="4510061" imgH="1388282" progId="Word.Document.12">
                  <p:embed/>
                </p:oleObj>
              </mc:Choice>
              <mc:Fallback>
                <p:oleObj name="文档" r:id="rId4" imgW="4510061" imgH="1388282" progId="Word.Document.12">
                  <p:embed/>
                  <p:pic>
                    <p:nvPicPr>
                      <p:cNvPr id="0" name=""/>
                      <p:cNvPicPr/>
                      <p:nvPr/>
                    </p:nvPicPr>
                    <p:blipFill>
                      <a:blip r:embed="rId5"/>
                      <a:stretch>
                        <a:fillRect/>
                      </a:stretch>
                    </p:blipFill>
                    <p:spPr>
                      <a:xfrm>
                        <a:off x="458424" y="1820648"/>
                        <a:ext cx="11275153" cy="3470705"/>
                      </a:xfrm>
                      <a:prstGeom prst="rect">
                        <a:avLst/>
                      </a:prstGeom>
                    </p:spPr>
                  </p:pic>
                </p:oleObj>
              </mc:Fallback>
            </mc:AlternateContent>
          </a:graphicData>
        </a:graphic>
      </p:graphicFrame>
    </p:spTree>
    <p:extLst>
      <p:ext uri="{BB962C8B-B14F-4D97-AF65-F5344CB8AC3E}">
        <p14:creationId xmlns:p14="http://schemas.microsoft.com/office/powerpoint/2010/main" val="24352452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083465404"/>
              </p:ext>
            </p:extLst>
          </p:nvPr>
        </p:nvGraphicFramePr>
        <p:xfrm>
          <a:off x="458424" y="751410"/>
          <a:ext cx="11275153" cy="992015"/>
        </p:xfrm>
        <a:graphic>
          <a:graphicData uri="http://schemas.openxmlformats.org/presentationml/2006/ole">
            <mc:AlternateContent xmlns:mc="http://schemas.openxmlformats.org/markup-compatibility/2006">
              <mc:Choice xmlns:v="urn:schemas-microsoft-com:vml" Requires="v">
                <p:oleObj spid="_x0000_s21512" name="文档" r:id="rId4" imgW="4510061" imgH="396806" progId="Word.Document.12">
                  <p:embed/>
                </p:oleObj>
              </mc:Choice>
              <mc:Fallback>
                <p:oleObj name="文档" r:id="rId4" imgW="4510061" imgH="396806" progId="Word.Document.12">
                  <p:embed/>
                  <p:pic>
                    <p:nvPicPr>
                      <p:cNvPr id="0" name=""/>
                      <p:cNvPicPr/>
                      <p:nvPr/>
                    </p:nvPicPr>
                    <p:blipFill>
                      <a:blip r:embed="rId5"/>
                      <a:stretch>
                        <a:fillRect/>
                      </a:stretch>
                    </p:blipFill>
                    <p:spPr>
                      <a:xfrm>
                        <a:off x="458424" y="751410"/>
                        <a:ext cx="11275153" cy="992015"/>
                      </a:xfrm>
                      <a:prstGeom prst="rect">
                        <a:avLst/>
                      </a:prstGeom>
                    </p:spPr>
                  </p:pic>
                </p:oleObj>
              </mc:Fallback>
            </mc:AlternateContent>
          </a:graphicData>
        </a:graphic>
      </p:graphicFrame>
      <p:sp>
        <p:nvSpPr>
          <p:cNvPr id="3" name="矩形 2"/>
          <p:cNvSpPr>
            <a:spLocks noChangeAspect="1"/>
          </p:cNvSpPr>
          <p:nvPr/>
        </p:nvSpPr>
        <p:spPr>
          <a:xfrm>
            <a:off x="381000" y="1743425"/>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A.</a:t>
            </a:r>
            <a:r>
              <a:rPr lang="zh-CN" altLang="zh-CN" sz="2800" dirty="0">
                <a:solidFill>
                  <a:srgbClr val="000000"/>
                </a:solidFill>
                <a:latin typeface="阿里巴巴普惠体"/>
                <a:ea typeface="微软雅黑"/>
                <a:cs typeface="Times New Roman" panose="02020603050405020304" pitchFamily="18" charset="0"/>
                <a:sym typeface="阿里巴巴普惠体"/>
              </a:rPr>
              <a:t>是奇函数</a:t>
            </a: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B.</a:t>
            </a:r>
            <a:r>
              <a:rPr lang="zh-CN" altLang="zh-CN" sz="2800" dirty="0">
                <a:solidFill>
                  <a:srgbClr val="000000"/>
                </a:solidFill>
                <a:latin typeface="阿里巴巴普惠体"/>
                <a:ea typeface="微软雅黑"/>
                <a:cs typeface="Times New Roman" panose="02020603050405020304" pitchFamily="18" charset="0"/>
                <a:sym typeface="阿里巴巴普惠体"/>
              </a:rPr>
              <a:t>是偶函数</a:t>
            </a: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C.</a:t>
            </a:r>
            <a:r>
              <a:rPr lang="zh-CN" altLang="zh-CN" sz="2800" dirty="0">
                <a:solidFill>
                  <a:srgbClr val="000000"/>
                </a:solidFill>
                <a:latin typeface="阿里巴巴普惠体"/>
                <a:ea typeface="微软雅黑"/>
                <a:cs typeface="Times New Roman" panose="02020603050405020304" pitchFamily="18" charset="0"/>
                <a:sym typeface="阿里巴巴普惠体"/>
              </a:rPr>
              <a:t>既是奇函数又是偶函数</a:t>
            </a: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阿里巴巴普惠体"/>
                <a:ea typeface="微软雅黑"/>
                <a:cs typeface="Times New Roman" panose="02020603050405020304" pitchFamily="18" charset="0"/>
                <a:sym typeface="阿里巴巴普惠体"/>
              </a:rPr>
              <a:t>D.</a:t>
            </a:r>
            <a:r>
              <a:rPr lang="zh-CN" altLang="zh-CN" sz="2800" dirty="0">
                <a:solidFill>
                  <a:srgbClr val="000000"/>
                </a:solidFill>
                <a:latin typeface="阿里巴巴普惠体"/>
                <a:ea typeface="微软雅黑"/>
                <a:cs typeface="Times New Roman" panose="02020603050405020304" pitchFamily="18" charset="0"/>
                <a:sym typeface="阿里巴巴普惠体"/>
              </a:rPr>
              <a:t>既不是奇函数也不是偶函数</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749876418"/>
              </p:ext>
            </p:extLst>
          </p:nvPr>
        </p:nvGraphicFramePr>
        <p:xfrm>
          <a:off x="458424" y="4016098"/>
          <a:ext cx="11275153" cy="992015"/>
        </p:xfrm>
        <a:graphic>
          <a:graphicData uri="http://schemas.openxmlformats.org/presentationml/2006/ole">
            <mc:AlternateContent xmlns:mc="http://schemas.openxmlformats.org/markup-compatibility/2006">
              <mc:Choice xmlns:v="urn:schemas-microsoft-com:vml" Requires="v">
                <p:oleObj spid="_x0000_s21513" name="文档" r:id="rId7" imgW="4510061" imgH="396806" progId="Word.Document.12">
                  <p:embed/>
                </p:oleObj>
              </mc:Choice>
              <mc:Fallback>
                <p:oleObj name="文档" r:id="rId7" imgW="4510061" imgH="396806" progId="Word.Document.12">
                  <p:embed/>
                  <p:pic>
                    <p:nvPicPr>
                      <p:cNvPr id="0" name=""/>
                      <p:cNvPicPr/>
                      <p:nvPr/>
                    </p:nvPicPr>
                    <p:blipFill>
                      <a:blip r:embed="rId8"/>
                      <a:stretch>
                        <a:fillRect/>
                      </a:stretch>
                    </p:blipFill>
                    <p:spPr>
                      <a:xfrm>
                        <a:off x="458424" y="4016098"/>
                        <a:ext cx="11275153" cy="992015"/>
                      </a:xfrm>
                      <a:prstGeom prst="rect">
                        <a:avLst/>
                      </a:prstGeom>
                    </p:spPr>
                  </p:pic>
                </p:oleObj>
              </mc:Fallback>
            </mc:AlternateContent>
          </a:graphicData>
        </a:graphic>
      </p:graphicFrame>
    </p:spTree>
    <p:extLst>
      <p:ext uri="{BB962C8B-B14F-4D97-AF65-F5344CB8AC3E}">
        <p14:creationId xmlns:p14="http://schemas.microsoft.com/office/powerpoint/2010/main" val="32448574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85770"/>
            <a:ext cx="3086101"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答案 </a:t>
            </a:r>
            <a:r>
              <a:rPr lang="en-US" altLang="zh-CN" sz="2800">
                <a:solidFill>
                  <a:srgbClr val="000000"/>
                </a:solidFill>
                <a:latin typeface="阿里巴巴普惠体"/>
                <a:ea typeface="微软雅黑"/>
                <a:cs typeface="Times New Roman" panose="02020603050405020304" pitchFamily="18" charset="0"/>
                <a:sym typeface="阿里巴巴普惠体"/>
              </a:rPr>
              <a:t>(1)A</a:t>
            </a:r>
            <a:r>
              <a:rPr lang="zh-CN" altLang="zh-CN" sz="2800" i="1">
                <a:solidFill>
                  <a:srgbClr val="000000"/>
                </a:solidFill>
                <a:latin typeface="阿里巴巴普惠体"/>
                <a:ea typeface="微软雅黑"/>
                <a:cs typeface="Times New Roman" panose="02020603050405020304" pitchFamily="18" charset="0"/>
                <a:sym typeface="阿里巴巴普惠体"/>
              </a:rPr>
              <a:t>　</a:t>
            </a:r>
            <a:r>
              <a:rPr lang="en-US" altLang="zh-CN" sz="2800">
                <a:solidFill>
                  <a:srgbClr val="000000"/>
                </a:solidFill>
                <a:latin typeface="阿里巴巴普惠体"/>
                <a:ea typeface="微软雅黑"/>
                <a:cs typeface="Times New Roman" panose="02020603050405020304" pitchFamily="18" charset="0"/>
                <a:sym typeface="阿里巴巴普惠体"/>
              </a:rPr>
              <a:t>(2)±</a:t>
            </a:r>
            <a:r>
              <a:rPr lang="en-US" altLang="zh-CN" sz="2800" smtClean="0">
                <a:solidFill>
                  <a:srgbClr val="000000"/>
                </a:solidFill>
                <a:latin typeface="阿里巴巴普惠体"/>
                <a:ea typeface="微软雅黑"/>
                <a:cs typeface="Times New Roman" panose="02020603050405020304" pitchFamily="18" charset="0"/>
                <a:sym typeface="阿里巴巴普惠体"/>
              </a:rPr>
              <a:t>2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05025645"/>
              </p:ext>
            </p:extLst>
          </p:nvPr>
        </p:nvGraphicFramePr>
        <p:xfrm>
          <a:off x="458424" y="1046038"/>
          <a:ext cx="11275153" cy="4958278"/>
        </p:xfrm>
        <a:graphic>
          <a:graphicData uri="http://schemas.openxmlformats.org/presentationml/2006/ole">
            <mc:AlternateContent xmlns:mc="http://schemas.openxmlformats.org/markup-compatibility/2006">
              <mc:Choice xmlns:v="urn:schemas-microsoft-com:vml" Requires="v">
                <p:oleObj spid="_x0000_s22533" name="文档" r:id="rId4" imgW="4510061" imgH="1983311" progId="Word.Document.12">
                  <p:embed/>
                </p:oleObj>
              </mc:Choice>
              <mc:Fallback>
                <p:oleObj name="文档" r:id="rId4" imgW="4510061" imgH="1983311" progId="Word.Document.12">
                  <p:embed/>
                  <p:pic>
                    <p:nvPicPr>
                      <p:cNvPr id="0" name=""/>
                      <p:cNvPicPr/>
                      <p:nvPr/>
                    </p:nvPicPr>
                    <p:blipFill>
                      <a:blip r:embed="rId5"/>
                      <a:stretch>
                        <a:fillRect/>
                      </a:stretch>
                    </p:blipFill>
                    <p:spPr>
                      <a:xfrm>
                        <a:off x="458424" y="1046038"/>
                        <a:ext cx="11275153" cy="4958278"/>
                      </a:xfrm>
                      <a:prstGeom prst="rect">
                        <a:avLst/>
                      </a:prstGeom>
                    </p:spPr>
                  </p:pic>
                </p:oleObj>
              </mc:Fallback>
            </mc:AlternateContent>
          </a:graphicData>
        </a:graphic>
      </p:graphicFrame>
    </p:spTree>
    <p:extLst>
      <p:ext uri="{BB962C8B-B14F-4D97-AF65-F5344CB8AC3E}">
        <p14:creationId xmlns:p14="http://schemas.microsoft.com/office/powerpoint/2010/main" val="1032692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149939"/>
            <a:ext cx="10685217" cy="433754"/>
            <a:chOff x="381000" y="205656"/>
            <a:chExt cx="10685217" cy="433754"/>
          </a:xfrm>
        </p:grpSpPr>
        <p:sp>
          <p:nvSpPr>
            <p:cNvPr id="10" name="矩形 9"/>
            <p:cNvSpPr/>
            <p:nvPr/>
          </p:nvSpPr>
          <p:spPr>
            <a:xfrm>
              <a:off x="874159"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11" name="组合 10"/>
            <p:cNvGrpSpPr/>
            <p:nvPr/>
          </p:nvGrpSpPr>
          <p:grpSpPr>
            <a:xfrm>
              <a:off x="381000" y="205656"/>
              <a:ext cx="10685217" cy="433754"/>
              <a:chOff x="3048000" y="2286000"/>
              <a:chExt cx="4537109" cy="457200"/>
            </a:xfrm>
          </p:grpSpPr>
          <p:sp>
            <p:nvSpPr>
              <p:cNvPr id="12" name="矩形 11"/>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 </a:t>
                </a:r>
              </a:p>
            </p:txBody>
          </p:sp>
          <p:sp>
            <p:nvSpPr>
              <p:cNvPr id="13" name="矩形 12"/>
              <p:cNvSpPr/>
              <p:nvPr/>
            </p:nvSpPr>
            <p:spPr>
              <a:xfrm>
                <a:off x="3325088"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mtClean="0">
                    <a:solidFill>
                      <a:schemeClr val="bg1"/>
                    </a:solidFill>
                    <a:latin typeface="阿里巴巴普惠体"/>
                    <a:ea typeface="微软雅黑"/>
                    <a:sym typeface="阿里巴巴普惠体"/>
                  </a:rPr>
                  <a:t> 素养形成</a:t>
                </a:r>
                <a:endParaRPr lang="en-US" altLang="zh-CN" sz="2800" b="1">
                  <a:solidFill>
                    <a:schemeClr val="bg1"/>
                  </a:solidFill>
                  <a:latin typeface="阿里巴巴普惠体"/>
                  <a:ea typeface="微软雅黑"/>
                  <a:sym typeface="阿里巴巴普惠体"/>
                </a:endParaRPr>
              </a:p>
            </p:txBody>
          </p:sp>
        </p:grpSp>
      </p:grpSp>
      <p:sp>
        <p:nvSpPr>
          <p:cNvPr id="2" name="矩形 1"/>
          <p:cNvSpPr>
            <a:spLocks noChangeAspect="1"/>
          </p:cNvSpPr>
          <p:nvPr/>
        </p:nvSpPr>
        <p:spPr>
          <a:xfrm>
            <a:off x="381000" y="2763240"/>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b="1" dirty="0">
                <a:solidFill>
                  <a:srgbClr val="000000"/>
                </a:solidFill>
                <a:latin typeface="阿里巴巴普惠体"/>
                <a:ea typeface="微软雅黑"/>
                <a:cs typeface="Times New Roman" panose="02020603050405020304" pitchFamily="18" charset="0"/>
                <a:sym typeface="阿里巴巴普惠体"/>
              </a:rPr>
              <a:t>正切函数图象与性质的综合应用</a:t>
            </a:r>
            <a:endParaRPr lang="zh-CN" altLang="zh-CN" sz="2800" dirty="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阿里巴巴普惠体"/>
                <a:ea typeface="微软雅黑"/>
                <a:cs typeface="Times New Roman" panose="02020603050405020304" pitchFamily="18" charset="0"/>
                <a:sym typeface="阿里巴巴普惠体"/>
              </a:rPr>
              <a:t>典例 画出函数</a:t>
            </a:r>
            <a:r>
              <a:rPr lang="en-US" altLang="zh-CN" sz="2800" i="1" dirty="0">
                <a:solidFill>
                  <a:srgbClr val="000000"/>
                </a:solidFill>
                <a:latin typeface="阿里巴巴普惠体"/>
                <a:ea typeface="微软雅黑"/>
                <a:cs typeface="Times New Roman" panose="02020603050405020304" pitchFamily="18" charset="0"/>
                <a:sym typeface="阿里巴巴普惠体"/>
              </a:rPr>
              <a:t>y=|</a:t>
            </a:r>
            <a:r>
              <a:rPr lang="en-US" altLang="zh-CN" sz="2800" dirty="0">
                <a:solidFill>
                  <a:srgbClr val="000000"/>
                </a:solidFill>
                <a:latin typeface="阿里巴巴普惠体"/>
                <a:ea typeface="微软雅黑"/>
                <a:cs typeface="Times New Roman" panose="02020603050405020304" pitchFamily="18" charset="0"/>
                <a:sym typeface="阿里巴巴普惠体"/>
              </a:rPr>
              <a:t>tan </a:t>
            </a:r>
            <a:r>
              <a:rPr lang="en-US" altLang="zh-CN" sz="2800" i="1" dirty="0">
                <a:solidFill>
                  <a:srgbClr val="000000"/>
                </a:solidFill>
                <a:latin typeface="阿里巴巴普惠体"/>
                <a:ea typeface="微软雅黑"/>
                <a:cs typeface="Times New Roman" panose="02020603050405020304" pitchFamily="18" charset="0"/>
                <a:sym typeface="阿里巴巴普惠体"/>
              </a:rPr>
              <a:t>x|</a:t>
            </a:r>
            <a:r>
              <a:rPr lang="zh-CN" altLang="zh-CN" sz="2800" dirty="0">
                <a:solidFill>
                  <a:srgbClr val="000000"/>
                </a:solidFill>
                <a:latin typeface="阿里巴巴普惠体"/>
                <a:ea typeface="微软雅黑"/>
                <a:cs typeface="Times New Roman" panose="02020603050405020304" pitchFamily="18" charset="0"/>
                <a:sym typeface="阿里巴巴普惠体"/>
              </a:rPr>
              <a:t>的图象</a:t>
            </a:r>
            <a:r>
              <a:rPr lang="en-US" altLang="zh-CN" sz="2800" dirty="0">
                <a:solidFill>
                  <a:srgbClr val="000000"/>
                </a:solidFill>
                <a:latin typeface="阿里巴巴普惠体"/>
                <a:ea typeface="微软雅黑"/>
                <a:cs typeface="Times New Roman" panose="02020603050405020304" pitchFamily="18" charset="0"/>
                <a:sym typeface="阿里巴巴普惠体"/>
              </a:rPr>
              <a:t>,</a:t>
            </a:r>
            <a:r>
              <a:rPr lang="zh-CN" altLang="zh-CN" sz="2800" dirty="0">
                <a:solidFill>
                  <a:srgbClr val="000000"/>
                </a:solidFill>
                <a:latin typeface="阿里巴巴普惠体"/>
                <a:ea typeface="微软雅黑"/>
                <a:cs typeface="Times New Roman" panose="02020603050405020304" pitchFamily="18" charset="0"/>
                <a:sym typeface="阿里巴巴普惠体"/>
              </a:rPr>
              <a:t>并根据图象判断其定义域、值域、单调区间、奇偶性、周期性</a:t>
            </a:r>
            <a:r>
              <a:rPr lang="en-US" altLang="zh-CN" sz="2800" i="1" dirty="0">
                <a:solidFill>
                  <a:srgbClr val="000000"/>
                </a:solidFill>
                <a:latin typeface="阿里巴巴普惠体"/>
                <a:ea typeface="微软雅黑"/>
                <a:cs typeface="Times New Roman" panose="02020603050405020304" pitchFamily="18" charset="0"/>
                <a:sym typeface="阿里巴巴普惠体"/>
              </a:rPr>
              <a:t>.</a:t>
            </a:r>
            <a:endParaRPr lang="zh-CN" altLang="zh-CN" sz="2800" dirty="0">
              <a:solidFill>
                <a:srgbClr val="000000"/>
              </a:solidFill>
              <a:effectLst/>
              <a:latin typeface="阿里巴巴普惠体"/>
              <a:ea typeface="微软雅黑"/>
              <a:cs typeface="Times New Roman" panose="02020603050405020304" pitchFamily="18" charset="0"/>
              <a:sym typeface="阿里巴巴普惠体"/>
            </a:endParaRPr>
          </a:p>
        </p:txBody>
      </p:sp>
    </p:spTree>
    <p:extLst>
      <p:ext uri="{BB962C8B-B14F-4D97-AF65-F5344CB8AC3E}">
        <p14:creationId xmlns:p14="http://schemas.microsoft.com/office/powerpoint/2010/main" val="3675190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75965133"/>
              </p:ext>
            </p:extLst>
          </p:nvPr>
        </p:nvGraphicFramePr>
        <p:xfrm>
          <a:off x="417328" y="355492"/>
          <a:ext cx="11275153" cy="1983130"/>
        </p:xfrm>
        <a:graphic>
          <a:graphicData uri="http://schemas.openxmlformats.org/presentationml/2006/ole">
            <mc:AlternateContent xmlns:mc="http://schemas.openxmlformats.org/markup-compatibility/2006">
              <mc:Choice xmlns:v="urn:schemas-microsoft-com:vml" Requires="v">
                <p:oleObj spid="_x0000_s23560" name="文档" r:id="rId4" imgW="4510061" imgH="793252" progId="Word.Document.12">
                  <p:embed/>
                </p:oleObj>
              </mc:Choice>
              <mc:Fallback>
                <p:oleObj name="文档" r:id="rId4" imgW="4510061" imgH="793252" progId="Word.Document.12">
                  <p:embed/>
                  <p:pic>
                    <p:nvPicPr>
                      <p:cNvPr id="0" name=""/>
                      <p:cNvPicPr/>
                      <p:nvPr/>
                    </p:nvPicPr>
                    <p:blipFill>
                      <a:blip r:embed="rId5"/>
                      <a:stretch>
                        <a:fillRect/>
                      </a:stretch>
                    </p:blipFill>
                    <p:spPr>
                      <a:xfrm>
                        <a:off x="417328" y="355492"/>
                        <a:ext cx="11275153" cy="198313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3873952"/>
              </p:ext>
            </p:extLst>
          </p:nvPr>
        </p:nvGraphicFramePr>
        <p:xfrm>
          <a:off x="417328" y="2014208"/>
          <a:ext cx="11275153" cy="3967163"/>
        </p:xfrm>
        <a:graphic>
          <a:graphicData uri="http://schemas.openxmlformats.org/presentationml/2006/ole">
            <mc:AlternateContent xmlns:mc="http://schemas.openxmlformats.org/markup-compatibility/2006">
              <mc:Choice xmlns:v="urn:schemas-microsoft-com:vml" Requires="v">
                <p:oleObj spid="_x0000_s23561" name="文档" r:id="rId7" imgW="4510061" imgH="1586865" progId="Word.Document.12">
                  <p:embed/>
                </p:oleObj>
              </mc:Choice>
              <mc:Fallback>
                <p:oleObj name="文档" r:id="rId7" imgW="4510061" imgH="1586865" progId="Word.Document.12">
                  <p:embed/>
                  <p:pic>
                    <p:nvPicPr>
                      <p:cNvPr id="0" name=""/>
                      <p:cNvPicPr/>
                      <p:nvPr/>
                    </p:nvPicPr>
                    <p:blipFill>
                      <a:blip r:embed="rId8"/>
                      <a:stretch>
                        <a:fillRect/>
                      </a:stretch>
                    </p:blipFill>
                    <p:spPr>
                      <a:xfrm>
                        <a:off x="417328" y="2014208"/>
                        <a:ext cx="11275153" cy="3967163"/>
                      </a:xfrm>
                      <a:prstGeom prst="rect">
                        <a:avLst/>
                      </a:prstGeom>
                    </p:spPr>
                  </p:pic>
                </p:oleObj>
              </mc:Fallback>
            </mc:AlternateContent>
          </a:graphicData>
        </a:graphic>
      </p:graphicFrame>
      <p:pic>
        <p:nvPicPr>
          <p:cNvPr id="5" name="21M29.eps" descr="id:2147516224;FounderCES"/>
          <p:cNvPicPr/>
          <p:nvPr/>
        </p:nvPicPr>
        <p:blipFill>
          <a:blip r:embed="rId9"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7908194" y="3704138"/>
            <a:ext cx="3917360" cy="2357615"/>
          </a:xfrm>
          <a:prstGeom prst="rect">
            <a:avLst/>
          </a:prstGeom>
        </p:spPr>
      </p:pic>
    </p:spTree>
    <p:extLst>
      <p:ext uri="{BB962C8B-B14F-4D97-AF65-F5344CB8AC3E}">
        <p14:creationId xmlns:p14="http://schemas.microsoft.com/office/powerpoint/2010/main" val="31219550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40785"/>
            <a:ext cx="7911140"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阿里巴巴普惠体"/>
                <a:ea typeface="微软雅黑"/>
                <a:cs typeface="Times New Roman" panose="02020603050405020304" pitchFamily="18" charset="0"/>
                <a:sym typeface="阿里巴巴普惠体"/>
              </a:rPr>
              <a:t>方法点睛 解答正切函数图象与性质问题的注意</a:t>
            </a:r>
            <a:r>
              <a:rPr lang="zh-CN" altLang="zh-CN" sz="2800" smtClean="0">
                <a:solidFill>
                  <a:srgbClr val="000000"/>
                </a:solidFill>
                <a:latin typeface="阿里巴巴普惠体"/>
                <a:ea typeface="微软雅黑"/>
                <a:cs typeface="Times New Roman" panose="02020603050405020304" pitchFamily="18" charset="0"/>
                <a:sym typeface="阿里巴巴普惠体"/>
              </a:rPr>
              <a:t>点</a:t>
            </a:r>
            <a:r>
              <a:rPr lang="en-US" altLang="zh-CN" sz="2800" smtClean="0">
                <a:solidFill>
                  <a:srgbClr val="000000"/>
                </a:solidFill>
                <a:latin typeface="阿里巴巴普惠体"/>
                <a:ea typeface="微软雅黑"/>
                <a:cs typeface="Times New Roman" panose="02020603050405020304" pitchFamily="18" charset="0"/>
                <a:sym typeface="阿里巴巴普惠体"/>
              </a:rPr>
              <a:t>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256919026"/>
              </p:ext>
            </p:extLst>
          </p:nvPr>
        </p:nvGraphicFramePr>
        <p:xfrm>
          <a:off x="458424" y="2193271"/>
          <a:ext cx="11275153" cy="2479590"/>
        </p:xfrm>
        <a:graphic>
          <a:graphicData uri="http://schemas.openxmlformats.org/presentationml/2006/ole">
            <mc:AlternateContent xmlns:mc="http://schemas.openxmlformats.org/markup-compatibility/2006">
              <mc:Choice xmlns:v="urn:schemas-microsoft-com:vml" Requires="v">
                <p:oleObj spid="_x0000_s24581" name="文档" r:id="rId4" imgW="4510061" imgH="991836" progId="Word.Document.12">
                  <p:embed/>
                </p:oleObj>
              </mc:Choice>
              <mc:Fallback>
                <p:oleObj name="文档" r:id="rId4" imgW="4510061" imgH="991836" progId="Word.Document.12">
                  <p:embed/>
                  <p:pic>
                    <p:nvPicPr>
                      <p:cNvPr id="0" name=""/>
                      <p:cNvPicPr/>
                      <p:nvPr/>
                    </p:nvPicPr>
                    <p:blipFill>
                      <a:blip r:embed="rId5"/>
                      <a:stretch>
                        <a:fillRect/>
                      </a:stretch>
                    </p:blipFill>
                    <p:spPr>
                      <a:xfrm>
                        <a:off x="458424" y="2193271"/>
                        <a:ext cx="11275153" cy="2479590"/>
                      </a:xfrm>
                      <a:prstGeom prst="rect">
                        <a:avLst/>
                      </a:prstGeom>
                    </p:spPr>
                  </p:pic>
                </p:oleObj>
              </mc:Fallback>
            </mc:AlternateContent>
          </a:graphicData>
        </a:graphic>
      </p:graphicFrame>
    </p:spTree>
    <p:extLst>
      <p:ext uri="{BB962C8B-B14F-4D97-AF65-F5344CB8AC3E}">
        <p14:creationId xmlns:p14="http://schemas.microsoft.com/office/powerpoint/2010/main" val="17950731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149939"/>
            <a:ext cx="10685217" cy="433754"/>
            <a:chOff x="381000" y="205656"/>
            <a:chExt cx="10685217" cy="433754"/>
          </a:xfrm>
        </p:grpSpPr>
        <p:sp>
          <p:nvSpPr>
            <p:cNvPr id="10" name="矩形 9"/>
            <p:cNvSpPr/>
            <p:nvPr/>
          </p:nvSpPr>
          <p:spPr>
            <a:xfrm>
              <a:off x="874159"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阿里巴巴普惠体"/>
                <a:ea typeface="微软雅黑"/>
                <a:sym typeface="阿里巴巴普惠体"/>
              </a:endParaRPr>
            </a:p>
          </p:txBody>
        </p:sp>
        <p:grpSp>
          <p:nvGrpSpPr>
            <p:cNvPr id="11" name="组合 10"/>
            <p:cNvGrpSpPr/>
            <p:nvPr/>
          </p:nvGrpSpPr>
          <p:grpSpPr>
            <a:xfrm>
              <a:off x="381000" y="205656"/>
              <a:ext cx="10685217" cy="433754"/>
              <a:chOff x="3048000" y="2286000"/>
              <a:chExt cx="4537109" cy="457200"/>
            </a:xfrm>
          </p:grpSpPr>
          <p:sp>
            <p:nvSpPr>
              <p:cNvPr id="12" name="矩形 11"/>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latin typeface="阿里巴巴普惠体"/>
                    <a:ea typeface="微软雅黑"/>
                    <a:sym typeface="阿里巴巴普惠体"/>
                  </a:rPr>
                  <a:t> </a:t>
                </a:r>
              </a:p>
            </p:txBody>
          </p:sp>
          <p:sp>
            <p:nvSpPr>
              <p:cNvPr id="13" name="矩形 12"/>
              <p:cNvSpPr/>
              <p:nvPr/>
            </p:nvSpPr>
            <p:spPr>
              <a:xfrm>
                <a:off x="3325088" y="2286000"/>
                <a:ext cx="4260021"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a:solidFill>
                      <a:schemeClr val="bg1"/>
                    </a:solidFill>
                    <a:latin typeface="阿里巴巴普惠体"/>
                    <a:ea typeface="微软雅黑"/>
                    <a:sym typeface="阿里巴巴普惠体"/>
                  </a:rPr>
                  <a:t> </a:t>
                </a:r>
                <a:r>
                  <a:rPr lang="zh-CN" altLang="en-US" sz="2800" b="1">
                    <a:solidFill>
                      <a:schemeClr val="bg1"/>
                    </a:solidFill>
                    <a:latin typeface="阿里巴巴普惠体"/>
                    <a:ea typeface="微软雅黑"/>
                    <a:sym typeface="阿里巴巴普惠体"/>
                  </a:rPr>
                  <a:t>当堂检测</a:t>
                </a:r>
                <a:endParaRPr lang="en-US" altLang="zh-CN" sz="2800" b="1">
                  <a:solidFill>
                    <a:schemeClr val="bg1"/>
                  </a:solidFill>
                  <a:latin typeface="阿里巴巴普惠体"/>
                  <a:ea typeface="微软雅黑"/>
                  <a:sym typeface="阿里巴巴普惠体"/>
                </a:endParaRP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12257226"/>
              </p:ext>
            </p:extLst>
          </p:nvPr>
        </p:nvGraphicFramePr>
        <p:xfrm>
          <a:off x="458424" y="1013036"/>
          <a:ext cx="11275153" cy="1983130"/>
        </p:xfrm>
        <a:graphic>
          <a:graphicData uri="http://schemas.openxmlformats.org/presentationml/2006/ole">
            <mc:AlternateContent xmlns:mc="http://schemas.openxmlformats.org/markup-compatibility/2006">
              <mc:Choice xmlns:v="urn:schemas-microsoft-com:vml" Requires="v">
                <p:oleObj spid="_x0000_s25608" name="文档" r:id="rId4" imgW="4510061" imgH="793252" progId="Word.Document.12">
                  <p:embed/>
                </p:oleObj>
              </mc:Choice>
              <mc:Fallback>
                <p:oleObj name="文档" r:id="rId4" imgW="4510061" imgH="793252" progId="Word.Document.12">
                  <p:embed/>
                  <p:pic>
                    <p:nvPicPr>
                      <p:cNvPr id="0" name=""/>
                      <p:cNvPicPr/>
                      <p:nvPr/>
                    </p:nvPicPr>
                    <p:blipFill>
                      <a:blip r:embed="rId5"/>
                      <a:stretch>
                        <a:fillRect/>
                      </a:stretch>
                    </p:blipFill>
                    <p:spPr>
                      <a:xfrm>
                        <a:off x="458424" y="1013036"/>
                        <a:ext cx="11275153" cy="1983130"/>
                      </a:xfrm>
                      <a:prstGeom prst="rect">
                        <a:avLst/>
                      </a:prstGeom>
                    </p:spPr>
                  </p:pic>
                </p:oleObj>
              </mc:Fallback>
            </mc:AlternateContent>
          </a:graphicData>
        </a:graphic>
      </p:graphicFrame>
      <p:sp>
        <p:nvSpPr>
          <p:cNvPr id="3" name="矩形 2"/>
          <p:cNvSpPr>
            <a:spLocks noChangeAspect="1"/>
          </p:cNvSpPr>
          <p:nvPr/>
        </p:nvSpPr>
        <p:spPr>
          <a:xfrm>
            <a:off x="381000" y="2996166"/>
            <a:ext cx="1311578"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答案 </a:t>
            </a:r>
            <a:r>
              <a:rPr lang="en-US" altLang="zh-CN" sz="2800" smtClean="0">
                <a:solidFill>
                  <a:srgbClr val="000000"/>
                </a:solidFill>
                <a:latin typeface="阿里巴巴普惠体"/>
                <a:ea typeface="微软雅黑"/>
                <a:cs typeface="Times New Roman" panose="02020603050405020304" pitchFamily="18" charset="0"/>
                <a:sym typeface="阿里巴巴普惠体"/>
              </a:rPr>
              <a:t>B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252198302"/>
              </p:ext>
            </p:extLst>
          </p:nvPr>
        </p:nvGraphicFramePr>
        <p:xfrm>
          <a:off x="458424" y="3840828"/>
          <a:ext cx="11275153" cy="992015"/>
        </p:xfrm>
        <a:graphic>
          <a:graphicData uri="http://schemas.openxmlformats.org/presentationml/2006/ole">
            <mc:AlternateContent xmlns:mc="http://schemas.openxmlformats.org/markup-compatibility/2006">
              <mc:Choice xmlns:v="urn:schemas-microsoft-com:vml" Requires="v">
                <p:oleObj spid="_x0000_s25609" name="文档" r:id="rId7" imgW="4510061" imgH="396806" progId="Word.Document.12">
                  <p:embed/>
                </p:oleObj>
              </mc:Choice>
              <mc:Fallback>
                <p:oleObj name="文档" r:id="rId7" imgW="4510061" imgH="396806" progId="Word.Document.12">
                  <p:embed/>
                  <p:pic>
                    <p:nvPicPr>
                      <p:cNvPr id="0" name=""/>
                      <p:cNvPicPr/>
                      <p:nvPr/>
                    </p:nvPicPr>
                    <p:blipFill>
                      <a:blip r:embed="rId8"/>
                      <a:stretch>
                        <a:fillRect/>
                      </a:stretch>
                    </p:blipFill>
                    <p:spPr>
                      <a:xfrm>
                        <a:off x="458424" y="3840828"/>
                        <a:ext cx="11275153" cy="992015"/>
                      </a:xfrm>
                      <a:prstGeom prst="rect">
                        <a:avLst/>
                      </a:prstGeom>
                    </p:spPr>
                  </p:pic>
                </p:oleObj>
              </mc:Fallback>
            </mc:AlternateContent>
          </a:graphicData>
        </a:graphic>
      </p:graphicFrame>
    </p:spTree>
    <p:extLst>
      <p:ext uri="{BB962C8B-B14F-4D97-AF65-F5344CB8AC3E}">
        <p14:creationId xmlns:p14="http://schemas.microsoft.com/office/powerpoint/2010/main" val="3227328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10883683"/>
              </p:ext>
            </p:extLst>
          </p:nvPr>
        </p:nvGraphicFramePr>
        <p:xfrm>
          <a:off x="458424" y="627196"/>
          <a:ext cx="11275153" cy="3967163"/>
        </p:xfrm>
        <a:graphic>
          <a:graphicData uri="http://schemas.openxmlformats.org/presentationml/2006/ole">
            <mc:AlternateContent xmlns:mc="http://schemas.openxmlformats.org/markup-compatibility/2006">
              <mc:Choice xmlns:v="urn:schemas-microsoft-com:vml" Requires="v">
                <p:oleObj spid="_x0000_s26632" name="文档" r:id="rId4" imgW="4510061" imgH="1586865" progId="Word.Document.12">
                  <p:embed/>
                </p:oleObj>
              </mc:Choice>
              <mc:Fallback>
                <p:oleObj name="文档" r:id="rId4" imgW="4510061" imgH="1586865" progId="Word.Document.12">
                  <p:embed/>
                  <p:pic>
                    <p:nvPicPr>
                      <p:cNvPr id="0" name=""/>
                      <p:cNvPicPr/>
                      <p:nvPr/>
                    </p:nvPicPr>
                    <p:blipFill>
                      <a:blip r:embed="rId5"/>
                      <a:stretch>
                        <a:fillRect/>
                      </a:stretch>
                    </p:blipFill>
                    <p:spPr>
                      <a:xfrm>
                        <a:off x="458424" y="627196"/>
                        <a:ext cx="11275153" cy="3967163"/>
                      </a:xfrm>
                      <a:prstGeom prst="rect">
                        <a:avLst/>
                      </a:prstGeom>
                    </p:spPr>
                  </p:pic>
                </p:oleObj>
              </mc:Fallback>
            </mc:AlternateContent>
          </a:graphicData>
        </a:graphic>
      </p:graphicFrame>
      <p:sp>
        <p:nvSpPr>
          <p:cNvPr id="4" name="矩形 3"/>
          <p:cNvSpPr>
            <a:spLocks noChangeAspect="1"/>
          </p:cNvSpPr>
          <p:nvPr/>
        </p:nvSpPr>
        <p:spPr>
          <a:xfrm>
            <a:off x="381000" y="4549699"/>
            <a:ext cx="1340432" cy="61003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答案 </a:t>
            </a:r>
            <a:r>
              <a:rPr lang="en-US" altLang="zh-CN" sz="2800" smtClean="0">
                <a:solidFill>
                  <a:srgbClr val="000000"/>
                </a:solidFill>
                <a:latin typeface="阿里巴巴普惠体"/>
                <a:ea typeface="微软雅黑"/>
                <a:cs typeface="Times New Roman" panose="02020603050405020304" pitchFamily="18" charset="0"/>
                <a:sym typeface="阿里巴巴普惠体"/>
              </a:rPr>
              <a:t>D </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728772993"/>
              </p:ext>
            </p:extLst>
          </p:nvPr>
        </p:nvGraphicFramePr>
        <p:xfrm>
          <a:off x="458424" y="5120140"/>
          <a:ext cx="11275153" cy="992015"/>
        </p:xfrm>
        <a:graphic>
          <a:graphicData uri="http://schemas.openxmlformats.org/presentationml/2006/ole">
            <mc:AlternateContent xmlns:mc="http://schemas.openxmlformats.org/markup-compatibility/2006">
              <mc:Choice xmlns:v="urn:schemas-microsoft-com:vml" Requires="v">
                <p:oleObj spid="_x0000_s26633" name="文档" r:id="rId7" imgW="4510061" imgH="396806" progId="Word.Document.12">
                  <p:embed/>
                </p:oleObj>
              </mc:Choice>
              <mc:Fallback>
                <p:oleObj name="文档" r:id="rId7" imgW="4510061" imgH="396806" progId="Word.Document.12">
                  <p:embed/>
                  <p:pic>
                    <p:nvPicPr>
                      <p:cNvPr id="0" name=""/>
                      <p:cNvPicPr/>
                      <p:nvPr/>
                    </p:nvPicPr>
                    <p:blipFill>
                      <a:blip r:embed="rId8"/>
                      <a:stretch>
                        <a:fillRect/>
                      </a:stretch>
                    </p:blipFill>
                    <p:spPr>
                      <a:xfrm>
                        <a:off x="458424" y="5120140"/>
                        <a:ext cx="11275153" cy="992015"/>
                      </a:xfrm>
                      <a:prstGeom prst="rect">
                        <a:avLst/>
                      </a:prstGeom>
                    </p:spPr>
                  </p:pic>
                </p:oleObj>
              </mc:Fallback>
            </mc:AlternateContent>
          </a:graphicData>
        </a:graphic>
      </p:graphicFrame>
    </p:spTree>
    <p:extLst>
      <p:ext uri="{BB962C8B-B14F-4D97-AF65-F5344CB8AC3E}">
        <p14:creationId xmlns:p14="http://schemas.microsoft.com/office/powerpoint/2010/main" val="15494896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70814"/>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阿里巴巴普惠体"/>
                <a:ea typeface="微软雅黑"/>
                <a:cs typeface="Times New Roman" panose="02020603050405020304" pitchFamily="18" charset="0"/>
                <a:sym typeface="阿里巴巴普惠体"/>
              </a:rPr>
              <a:t>3</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函数</a:t>
            </a:r>
            <a:r>
              <a:rPr lang="en-US" altLang="zh-CN" sz="2800" i="1">
                <a:solidFill>
                  <a:srgbClr val="000000"/>
                </a:solidFill>
                <a:latin typeface="阿里巴巴普惠体"/>
                <a:ea typeface="微软雅黑"/>
                <a:cs typeface="Times New Roman" panose="02020603050405020304" pitchFamily="18" charset="0"/>
                <a:sym typeface="阿里巴巴普惠体"/>
              </a:rPr>
              <a:t>f</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en-US" altLang="zh-CN" sz="2800" i="1">
                <a:solidFill>
                  <a:srgbClr val="000000"/>
                </a:solidFill>
                <a:latin typeface="阿里巴巴普惠体"/>
                <a:ea typeface="微软雅黑"/>
                <a:cs typeface="Times New Roman" panose="02020603050405020304" pitchFamily="18" charset="0"/>
                <a:sym typeface="阿里巴巴普惠体"/>
              </a:rPr>
              <a:t>=</a:t>
            </a:r>
            <a:r>
              <a:rPr lang="en-US" altLang="zh-CN" sz="2800">
                <a:solidFill>
                  <a:srgbClr val="000000"/>
                </a:solidFill>
                <a:latin typeface="阿里巴巴普惠体"/>
                <a:ea typeface="微软雅黑"/>
                <a:cs typeface="Times New Roman" panose="02020603050405020304" pitchFamily="18" charset="0"/>
                <a:sym typeface="阿里巴巴普惠体"/>
              </a:rPr>
              <a:t>sin </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tan </a:t>
            </a:r>
            <a:r>
              <a:rPr lang="en-US" altLang="zh-CN" sz="2800" i="1">
                <a:solidFill>
                  <a:srgbClr val="000000"/>
                </a:solidFill>
                <a:latin typeface="阿里巴巴普惠体"/>
                <a:ea typeface="微软雅黑"/>
                <a:cs typeface="Times New Roman" panose="02020603050405020304" pitchFamily="18" charset="0"/>
                <a:sym typeface="阿里巴巴普惠体"/>
              </a:rPr>
              <a:t>x</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i="1">
                <a:solidFill>
                  <a:srgbClr val="000000"/>
                </a:solidFill>
                <a:latin typeface="阿里巴巴普惠体"/>
                <a:ea typeface="微软雅黑"/>
                <a:cs typeface="Times New Roman" panose="02020603050405020304" pitchFamily="18" charset="0"/>
                <a:sym typeface="阿里巴巴普惠体"/>
              </a:rPr>
              <a:t>　　</a:t>
            </a:r>
            <a:r>
              <a:rPr lang="en-US" altLang="zh-CN" sz="2800">
                <a:solidFill>
                  <a:srgbClr val="000000"/>
                </a:solidFill>
                <a:latin typeface="阿里巴巴普惠体"/>
                <a:ea typeface="微软雅黑"/>
                <a:cs typeface="Times New Roman" panose="02020603050405020304" pitchFamily="18" charset="0"/>
                <a:sym typeface="阿里巴巴普惠体"/>
              </a:rPr>
              <a:t>)</a:t>
            </a:r>
            <a:endParaRPr lang="zh-CN" altLang="zh-CN" sz="2800">
              <a:solidFill>
                <a:srgbClr val="000000"/>
              </a:solidFill>
              <a:latin typeface="阿里巴巴普惠体"/>
              <a:ea typeface="微软雅黑"/>
              <a:cs typeface="Times New Roman" panose="02020603050405020304" pitchFamily="18" charset="0"/>
              <a:sym typeface="阿里巴巴普惠体"/>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A.</a:t>
            </a:r>
            <a:r>
              <a:rPr lang="zh-CN" altLang="zh-CN" sz="2800">
                <a:solidFill>
                  <a:srgbClr val="000000"/>
                </a:solidFill>
                <a:latin typeface="阿里巴巴普惠体"/>
                <a:ea typeface="微软雅黑"/>
                <a:cs typeface="Times New Roman" panose="02020603050405020304" pitchFamily="18" charset="0"/>
                <a:sym typeface="阿里巴巴普惠体"/>
              </a:rPr>
              <a:t>是奇函数</a:t>
            </a:r>
            <a:r>
              <a:rPr lang="en-US" altLang="zh-CN" sz="2800">
                <a:solidFill>
                  <a:srgbClr val="000000"/>
                </a:solidFill>
                <a:latin typeface="阿里巴巴普惠体"/>
                <a:ea typeface="微软雅黑"/>
                <a:cs typeface="Times New Roman" panose="02020603050405020304" pitchFamily="18" charset="0"/>
                <a:sym typeface="阿里巴巴普惠体"/>
              </a:rPr>
              <a:t>	</a:t>
            </a:r>
            <a:r>
              <a:rPr lang="en-US" altLang="zh-CN" sz="2800" smtClean="0">
                <a:solidFill>
                  <a:srgbClr val="000000"/>
                </a:solidFill>
                <a:latin typeface="阿里巴巴普惠体"/>
                <a:ea typeface="微软雅黑"/>
                <a:cs typeface="Times New Roman" panose="02020603050405020304" pitchFamily="18" charset="0"/>
                <a:sym typeface="阿里巴巴普惠体"/>
              </a:rPr>
              <a:t>	B</a:t>
            </a:r>
            <a:r>
              <a:rPr lang="en-US" altLang="zh-CN" sz="2800">
                <a:solidFill>
                  <a:srgbClr val="000000"/>
                </a:solidFill>
                <a:latin typeface="阿里巴巴普惠体"/>
                <a:ea typeface="微软雅黑"/>
                <a:cs typeface="Times New Roman" panose="02020603050405020304" pitchFamily="18" charset="0"/>
                <a:sym typeface="阿里巴巴普惠体"/>
              </a:rPr>
              <a:t>.</a:t>
            </a:r>
            <a:r>
              <a:rPr lang="zh-CN" altLang="zh-CN" sz="2800">
                <a:solidFill>
                  <a:srgbClr val="000000"/>
                </a:solidFill>
                <a:latin typeface="阿里巴巴普惠体"/>
                <a:ea typeface="微软雅黑"/>
                <a:cs typeface="Times New Roman" panose="02020603050405020304" pitchFamily="18" charset="0"/>
                <a:sym typeface="阿里巴巴普惠体"/>
              </a:rPr>
              <a:t>是偶函数</a:t>
            </a:r>
          </a:p>
          <a:p>
            <a:pPr>
              <a:lnSpc>
                <a:spcPct val="130000"/>
              </a:lnSpc>
              <a:spcAft>
                <a:spcPts val="0"/>
              </a:spcAft>
              <a:tabLst>
                <a:tab pos="1188085" algn="l"/>
                <a:tab pos="2163445" algn="l"/>
                <a:tab pos="3142615" algn="l"/>
                <a:tab pos="4190365" algn="l"/>
              </a:tabLst>
            </a:pPr>
            <a:r>
              <a:rPr lang="en-US" altLang="zh-CN" sz="2800">
                <a:solidFill>
                  <a:srgbClr val="000000"/>
                </a:solidFill>
                <a:latin typeface="阿里巴巴普惠体"/>
                <a:ea typeface="微软雅黑"/>
                <a:cs typeface="Times New Roman" panose="02020603050405020304" pitchFamily="18" charset="0"/>
                <a:sym typeface="阿里巴巴普惠体"/>
              </a:rPr>
              <a:t>C.</a:t>
            </a:r>
            <a:r>
              <a:rPr lang="zh-CN" altLang="zh-CN" sz="2800">
                <a:solidFill>
                  <a:srgbClr val="000000"/>
                </a:solidFill>
                <a:latin typeface="阿里巴巴普惠体"/>
                <a:ea typeface="微软雅黑"/>
                <a:cs typeface="Times New Roman" panose="02020603050405020304" pitchFamily="18" charset="0"/>
                <a:sym typeface="阿里巴巴普惠体"/>
              </a:rPr>
              <a:t>是非奇非偶函数</a:t>
            </a:r>
            <a:r>
              <a:rPr lang="en-US" altLang="zh-CN" sz="2800">
                <a:solidFill>
                  <a:srgbClr val="000000"/>
                </a:solidFill>
                <a:latin typeface="阿里巴巴普惠体"/>
                <a:ea typeface="微软雅黑"/>
                <a:cs typeface="Times New Roman" panose="02020603050405020304" pitchFamily="18" charset="0"/>
                <a:sym typeface="阿里巴巴普惠体"/>
              </a:rPr>
              <a:t>	D.</a:t>
            </a:r>
            <a:r>
              <a:rPr lang="zh-CN" altLang="zh-CN" sz="2800">
                <a:solidFill>
                  <a:srgbClr val="000000"/>
                </a:solidFill>
                <a:latin typeface="阿里巴巴普惠体"/>
                <a:ea typeface="微软雅黑"/>
                <a:cs typeface="Times New Roman" panose="02020603050405020304" pitchFamily="18" charset="0"/>
                <a:sym typeface="阿里巴巴普惠体"/>
              </a:rPr>
              <a:t>既是奇函数又是偶函数</a:t>
            </a:r>
          </a:p>
          <a:p>
            <a:pPr>
              <a:lnSpc>
                <a:spcPct val="130000"/>
              </a:lnSpc>
              <a:spcAft>
                <a:spcPts val="0"/>
              </a:spcAft>
              <a:tabLst>
                <a:tab pos="1188085" algn="l"/>
                <a:tab pos="2163445" algn="l"/>
                <a:tab pos="3142615" algn="l"/>
                <a:tab pos="4190365" algn="l"/>
              </a:tabLst>
            </a:pPr>
            <a:r>
              <a:rPr lang="zh-CN" altLang="zh-CN" sz="2800">
                <a:solidFill>
                  <a:srgbClr val="4040C8"/>
                </a:solidFill>
                <a:latin typeface="阿里巴巴普惠体"/>
                <a:ea typeface="微软雅黑"/>
                <a:cs typeface="Times New Roman" panose="02020603050405020304" pitchFamily="18" charset="0"/>
                <a:sym typeface="阿里巴巴普惠体"/>
              </a:rPr>
              <a:t>答案 </a:t>
            </a:r>
            <a:r>
              <a:rPr lang="en-US" altLang="zh-CN" sz="2800">
                <a:solidFill>
                  <a:srgbClr val="000000"/>
                </a:solidFill>
                <a:latin typeface="阿里巴巴普惠体"/>
                <a:ea typeface="微软雅黑"/>
                <a:cs typeface="Times New Roman" panose="02020603050405020304" pitchFamily="18" charset="0"/>
                <a:sym typeface="阿里巴巴普惠体"/>
              </a:rPr>
              <a:t>B</a:t>
            </a:r>
            <a:endParaRPr lang="zh-CN" altLang="zh-CN" sz="2800">
              <a:solidFill>
                <a:srgbClr val="000000"/>
              </a:solidFill>
              <a:effectLst/>
              <a:latin typeface="阿里巴巴普惠体"/>
              <a:ea typeface="微软雅黑"/>
              <a:cs typeface="Times New Roman" panose="02020603050405020304" pitchFamily="18" charset="0"/>
              <a:sym typeface="阿里巴巴普惠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18062876"/>
              </p:ext>
            </p:extLst>
          </p:nvPr>
        </p:nvGraphicFramePr>
        <p:xfrm>
          <a:off x="458424" y="3468537"/>
          <a:ext cx="11275153" cy="1487573"/>
        </p:xfrm>
        <a:graphic>
          <a:graphicData uri="http://schemas.openxmlformats.org/presentationml/2006/ole">
            <mc:AlternateContent xmlns:mc="http://schemas.openxmlformats.org/markup-compatibility/2006">
              <mc:Choice xmlns:v="urn:schemas-microsoft-com:vml" Requires="v">
                <p:oleObj spid="_x0000_s27653" name="文档" r:id="rId4" imgW="4510061" imgH="595029" progId="Word.Document.12">
                  <p:embed/>
                </p:oleObj>
              </mc:Choice>
              <mc:Fallback>
                <p:oleObj name="文档" r:id="rId4" imgW="4510061" imgH="595029" progId="Word.Document.12">
                  <p:embed/>
                  <p:pic>
                    <p:nvPicPr>
                      <p:cNvPr id="0" name=""/>
                      <p:cNvPicPr/>
                      <p:nvPr/>
                    </p:nvPicPr>
                    <p:blipFill>
                      <a:blip r:embed="rId5"/>
                      <a:stretch>
                        <a:fillRect/>
                      </a:stretch>
                    </p:blipFill>
                    <p:spPr>
                      <a:xfrm>
                        <a:off x="458424" y="3468537"/>
                        <a:ext cx="11275153" cy="1487573"/>
                      </a:xfrm>
                      <a:prstGeom prst="rect">
                        <a:avLst/>
                      </a:prstGeom>
                    </p:spPr>
                  </p:pic>
                </p:oleObj>
              </mc:Fallback>
            </mc:AlternateContent>
          </a:graphicData>
        </a:graphic>
      </p:graphicFrame>
    </p:spTree>
    <p:extLst>
      <p:ext uri="{BB962C8B-B14F-4D97-AF65-F5344CB8AC3E}">
        <p14:creationId xmlns:p14="http://schemas.microsoft.com/office/powerpoint/2010/main" val="30572521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607636568"/>
              </p:ext>
            </p:extLst>
          </p:nvPr>
        </p:nvGraphicFramePr>
        <p:xfrm>
          <a:off x="458424" y="1364756"/>
          <a:ext cx="11275153" cy="992015"/>
        </p:xfrm>
        <a:graphic>
          <a:graphicData uri="http://schemas.openxmlformats.org/presentationml/2006/ole">
            <mc:AlternateContent xmlns:mc="http://schemas.openxmlformats.org/markup-compatibility/2006">
              <mc:Choice xmlns:v="urn:schemas-microsoft-com:vml" Requires="v">
                <p:oleObj spid="_x0000_s28683" name="文档" r:id="rId4" imgW="4510061" imgH="396806" progId="Word.Document.12">
                  <p:embed/>
                </p:oleObj>
              </mc:Choice>
              <mc:Fallback>
                <p:oleObj name="文档" r:id="rId4" imgW="4510061" imgH="396806" progId="Word.Document.12">
                  <p:embed/>
                  <p:pic>
                    <p:nvPicPr>
                      <p:cNvPr id="0" name=""/>
                      <p:cNvPicPr/>
                      <p:nvPr/>
                    </p:nvPicPr>
                    <p:blipFill>
                      <a:blip r:embed="rId5"/>
                      <a:stretch>
                        <a:fillRect/>
                      </a:stretch>
                    </p:blipFill>
                    <p:spPr>
                      <a:xfrm>
                        <a:off x="458424" y="1364756"/>
                        <a:ext cx="11275153" cy="99201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770411845"/>
              </p:ext>
            </p:extLst>
          </p:nvPr>
        </p:nvGraphicFramePr>
        <p:xfrm>
          <a:off x="458424" y="2486289"/>
          <a:ext cx="11275153" cy="495558"/>
        </p:xfrm>
        <a:graphic>
          <a:graphicData uri="http://schemas.openxmlformats.org/presentationml/2006/ole">
            <mc:AlternateContent xmlns:mc="http://schemas.openxmlformats.org/markup-compatibility/2006">
              <mc:Choice xmlns:v="urn:schemas-microsoft-com:vml" Requires="v">
                <p:oleObj spid="_x0000_s28684" name="文档" r:id="rId7" imgW="4510061" imgH="198223" progId="Word.Document.12">
                  <p:embed/>
                </p:oleObj>
              </mc:Choice>
              <mc:Fallback>
                <p:oleObj name="文档" r:id="rId7" imgW="4510061" imgH="198223" progId="Word.Document.12">
                  <p:embed/>
                  <p:pic>
                    <p:nvPicPr>
                      <p:cNvPr id="0" name=""/>
                      <p:cNvPicPr/>
                      <p:nvPr/>
                    </p:nvPicPr>
                    <p:blipFill>
                      <a:blip r:embed="rId8"/>
                      <a:stretch>
                        <a:fillRect/>
                      </a:stretch>
                    </p:blipFill>
                    <p:spPr>
                      <a:xfrm>
                        <a:off x="458424" y="2486289"/>
                        <a:ext cx="11275153" cy="49555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594309776"/>
              </p:ext>
            </p:extLst>
          </p:nvPr>
        </p:nvGraphicFramePr>
        <p:xfrm>
          <a:off x="458424" y="3208647"/>
          <a:ext cx="11275153" cy="1983130"/>
        </p:xfrm>
        <a:graphic>
          <a:graphicData uri="http://schemas.openxmlformats.org/presentationml/2006/ole">
            <mc:AlternateContent xmlns:mc="http://schemas.openxmlformats.org/markup-compatibility/2006">
              <mc:Choice xmlns:v="urn:schemas-microsoft-com:vml" Requires="v">
                <p:oleObj spid="_x0000_s28685" name="文档" r:id="rId10" imgW="4510061" imgH="793252" progId="Word.Document.12">
                  <p:embed/>
                </p:oleObj>
              </mc:Choice>
              <mc:Fallback>
                <p:oleObj name="文档" r:id="rId10" imgW="4510061" imgH="793252" progId="Word.Document.12">
                  <p:embed/>
                  <p:pic>
                    <p:nvPicPr>
                      <p:cNvPr id="0" name=""/>
                      <p:cNvPicPr/>
                      <p:nvPr/>
                    </p:nvPicPr>
                    <p:blipFill>
                      <a:blip r:embed="rId11"/>
                      <a:stretch>
                        <a:fillRect/>
                      </a:stretch>
                    </p:blipFill>
                    <p:spPr>
                      <a:xfrm>
                        <a:off x="458424" y="3208647"/>
                        <a:ext cx="11275153" cy="1983130"/>
                      </a:xfrm>
                      <a:prstGeom prst="rect">
                        <a:avLst/>
                      </a:prstGeom>
                    </p:spPr>
                  </p:pic>
                </p:oleObj>
              </mc:Fallback>
            </mc:AlternateContent>
          </a:graphicData>
        </a:graphic>
      </p:graphicFrame>
    </p:spTree>
    <p:extLst>
      <p:ext uri="{BB962C8B-B14F-4D97-AF65-F5344CB8AC3E}">
        <p14:creationId xmlns:p14="http://schemas.microsoft.com/office/powerpoint/2010/main" val="32524281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854715159"/>
              </p:ext>
            </p:extLst>
          </p:nvPr>
        </p:nvGraphicFramePr>
        <p:xfrm>
          <a:off x="458424" y="1980007"/>
          <a:ext cx="11275153" cy="1487573"/>
        </p:xfrm>
        <a:graphic>
          <a:graphicData uri="http://schemas.openxmlformats.org/presentationml/2006/ole">
            <mc:AlternateContent xmlns:mc="http://schemas.openxmlformats.org/markup-compatibility/2006">
              <mc:Choice xmlns:v="urn:schemas-microsoft-com:vml" Requires="v">
                <p:oleObj spid="_x0000_s29701" name="文档" r:id="rId4" imgW="4510061" imgH="595029" progId="Word.Document.12">
                  <p:embed/>
                </p:oleObj>
              </mc:Choice>
              <mc:Fallback>
                <p:oleObj name="文档" r:id="rId4" imgW="4510061" imgH="595029" progId="Word.Document.12">
                  <p:embed/>
                  <p:pic>
                    <p:nvPicPr>
                      <p:cNvPr id="0" name=""/>
                      <p:cNvPicPr/>
                      <p:nvPr/>
                    </p:nvPicPr>
                    <p:blipFill>
                      <a:blip r:embed="rId5"/>
                      <a:stretch>
                        <a:fillRect/>
                      </a:stretch>
                    </p:blipFill>
                    <p:spPr>
                      <a:xfrm>
                        <a:off x="458424" y="1980007"/>
                        <a:ext cx="11275153" cy="1487573"/>
                      </a:xfrm>
                      <a:prstGeom prst="rect">
                        <a:avLst/>
                      </a:prstGeom>
                    </p:spPr>
                  </p:pic>
                </p:oleObj>
              </mc:Fallback>
            </mc:AlternateContent>
          </a:graphicData>
        </a:graphic>
      </p:graphicFrame>
    </p:spTree>
    <p:extLst>
      <p:ext uri="{BB962C8B-B14F-4D97-AF65-F5344CB8AC3E}">
        <p14:creationId xmlns:p14="http://schemas.microsoft.com/office/powerpoint/2010/main" val="4174493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765396176"/>
              </p:ext>
            </p:extLst>
          </p:nvPr>
        </p:nvGraphicFramePr>
        <p:xfrm>
          <a:off x="458424" y="467839"/>
          <a:ext cx="11275153" cy="5950293"/>
        </p:xfrm>
        <a:graphic>
          <a:graphicData uri="http://schemas.openxmlformats.org/presentationml/2006/ole">
            <mc:AlternateContent xmlns:mc="http://schemas.openxmlformats.org/markup-compatibility/2006">
              <mc:Choice xmlns:v="urn:schemas-microsoft-com:vml" Requires="v">
                <p:oleObj spid="_x0000_s30725" name="文档" r:id="rId4" imgW="4510061" imgH="2380117" progId="Word.Document.12">
                  <p:embed/>
                </p:oleObj>
              </mc:Choice>
              <mc:Fallback>
                <p:oleObj name="文档" r:id="rId4" imgW="4510061" imgH="2380117" progId="Word.Document.12">
                  <p:embed/>
                  <p:pic>
                    <p:nvPicPr>
                      <p:cNvPr id="0" name=""/>
                      <p:cNvPicPr/>
                      <p:nvPr/>
                    </p:nvPicPr>
                    <p:blipFill>
                      <a:blip r:embed="rId5"/>
                      <a:stretch>
                        <a:fillRect/>
                      </a:stretch>
                    </p:blipFill>
                    <p:spPr>
                      <a:xfrm>
                        <a:off x="458424" y="467839"/>
                        <a:ext cx="11275153" cy="5950293"/>
                      </a:xfrm>
                      <a:prstGeom prst="rect">
                        <a:avLst/>
                      </a:prstGeom>
                    </p:spPr>
                  </p:pic>
                </p:oleObj>
              </mc:Fallback>
            </mc:AlternateContent>
          </a:graphicData>
        </a:graphic>
      </p:graphicFrame>
    </p:spTree>
    <p:extLst>
      <p:ext uri="{BB962C8B-B14F-4D97-AF65-F5344CB8AC3E}">
        <p14:creationId xmlns:p14="http://schemas.microsoft.com/office/powerpoint/2010/main" val="25218254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325712" y="1511279"/>
            <a:ext cx="7280625" cy="3396125"/>
          </a:xfrm>
          <a:prstGeom prst="rect">
            <a:avLst/>
          </a:prstGeom>
        </p:spPr>
      </p:pic>
      <p:pic>
        <p:nvPicPr>
          <p:cNvPr id="11" name="图片 10"/>
          <p:cNvPicPr>
            <a:picLocks noChangeAspect="1"/>
          </p:cNvPicPr>
          <p:nvPr/>
        </p:nvPicPr>
        <p:blipFill>
          <a:blip r:embed="rId3" cstate="email">
            <a:clrChange>
              <a:clrFrom>
                <a:srgbClr val="ECECEE"/>
              </a:clrFrom>
              <a:clrTo>
                <a:srgbClr val="ECECEE">
                  <a:alpha val="0"/>
                </a:srgbClr>
              </a:clrTo>
            </a:clrChange>
            <a:extLst>
              <a:ext uri="{28A0092B-C50C-407E-A947-70E740481C1C}">
                <a14:useLocalDpi xmlns:a14="http://schemas.microsoft.com/office/drawing/2010/main"/>
              </a:ext>
            </a:extLst>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pPr algn="ctr"/>
            <a:r>
              <a:rPr lang="zh-CN" altLang="en-US" sz="6000" b="1" dirty="0">
                <a:solidFill>
                  <a:srgbClr val="55463D"/>
                </a:solidFill>
                <a:latin typeface="阿里巴巴普惠体"/>
                <a:ea typeface="微软雅黑"/>
                <a:sym typeface="阿里巴巴普惠体"/>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800" decel="100000"/>
                                        <p:tgtEl>
                                          <p:spTgt spid="11"/>
                                        </p:tgtEl>
                                      </p:cBhvr>
                                    </p:animEffect>
                                    <p:anim calcmode="lin" valueType="num">
                                      <p:cBhvr>
                                        <p:cTn id="8" dur="800" decel="100000" fill="hold"/>
                                        <p:tgtEl>
                                          <p:spTgt spid="11"/>
                                        </p:tgtEl>
                                        <p:attrNameLst>
                                          <p:attrName>style.rotation</p:attrName>
                                        </p:attrNameLst>
                                      </p:cBhvr>
                                      <p:tavLst>
                                        <p:tav tm="0">
                                          <p:val>
                                            <p:fltVal val="-90"/>
                                          </p:val>
                                        </p:tav>
                                        <p:tav tm="100000">
                                          <p:val>
                                            <p:fltVal val="0"/>
                                          </p:val>
                                        </p:tav>
                                      </p:tavLst>
                                    </p:anim>
                                    <p:anim calcmode="lin" valueType="num">
                                      <p:cBhvr>
                                        <p:cTn id="9" dur="800" decel="100000" fill="hold"/>
                                        <p:tgtEl>
                                          <p:spTgt spid="11"/>
                                        </p:tgtEl>
                                        <p:attrNameLst>
                                          <p:attrName>ppt_x</p:attrName>
                                        </p:attrNameLst>
                                      </p:cBhvr>
                                      <p:tavLst>
                                        <p:tav tm="0">
                                          <p:val>
                                            <p:strVal val="#ppt_x+0.4"/>
                                          </p:val>
                                        </p:tav>
                                        <p:tav tm="100000">
                                          <p:val>
                                            <p:strVal val="#ppt_x-0.05"/>
                                          </p:val>
                                        </p:tav>
                                      </p:tavLst>
                                    </p:anim>
                                    <p:anim calcmode="lin" valueType="num">
                                      <p:cBhvr>
                                        <p:cTn id="10" dur="800" decel="100000" fill="hold"/>
                                        <p:tgtEl>
                                          <p:spTgt spid="11"/>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264223" y="4392141"/>
            <a:ext cx="9663556"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模</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板：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2"/>
              </a:rPr>
              <a:t>/</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行业</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6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素</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材：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5"/>
              </a:rPr>
              <a:t>www.1ppt.com/sucai</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5"/>
              </a:rPr>
              <a:t>/</a:t>
            </a:r>
            <a:endParaRPr lang="en-US" altLang="zh-CN" sz="16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6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图</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表：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7"/>
              </a:rPr>
              <a:t>/</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6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教程</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9"/>
              </a:rPr>
              <a:t>/</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Word</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模板：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10"/>
              </a:rPr>
              <a:t>/</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Excel</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模板：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11"/>
              </a:rPr>
              <a:t>/</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600" dirty="0">
                <a:solidFill>
                  <a:srgbClr val="EEECE1">
                    <a:lumMod val="25000"/>
                  </a:srgbClr>
                </a:solidFill>
                <a:latin typeface="微软雅黑" panose="020B0503020204020204" pitchFamily="34" charset="-122"/>
                <a:ea typeface="微软雅黑" panose="020B0503020204020204" pitchFamily="34" charset="-122"/>
              </a:rPr>
              <a:t>个人简历</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课</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件：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600" dirty="0">
                <a:solidFill>
                  <a:srgbClr val="EEECE1">
                    <a:lumMod val="25000"/>
                  </a:srgbClr>
                </a:solidFill>
                <a:latin typeface="微软雅黑" panose="020B0503020204020204" pitchFamily="34" charset="-122"/>
                <a:ea typeface="微软雅黑" panose="020B0503020204020204" pitchFamily="34" charset="-122"/>
                <a:hlinkClick r:id="rId13"/>
              </a:rPr>
              <a:t>/</a:t>
            </a:r>
            <a:r>
              <a:rPr lang="en-US" altLang="zh-CN" sz="16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600" dirty="0">
                <a:solidFill>
                  <a:srgbClr val="EEECE1">
                    <a:lumMod val="25000"/>
                  </a:srgbClr>
                </a:solidFill>
                <a:latin typeface="微软雅黑" panose="020B0503020204020204" pitchFamily="34" charset="-122"/>
                <a:ea typeface="微软雅黑" panose="020B0503020204020204" pitchFamily="34" charset="-122"/>
              </a:rPr>
              <a:t>手抄报</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试</a:t>
            </a:r>
            <a:r>
              <a:rPr lang="zh-CN" altLang="en-US" sz="1600" dirty="0">
                <a:solidFill>
                  <a:srgbClr val="EEECE1">
                    <a:lumMod val="25000"/>
                  </a:srgbClr>
                </a:solidFill>
                <a:latin typeface="微软雅黑" panose="020B0503020204020204" pitchFamily="34" charset="-122"/>
                <a:ea typeface="微软雅黑" panose="020B0503020204020204" pitchFamily="34" charset="-122"/>
              </a:rPr>
              <a:t>题</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下载：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a:t>
            </a:r>
          </a:p>
          <a:p>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600" dirty="0" smtClean="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600" dirty="0" smtClean="0">
                <a:solidFill>
                  <a:srgbClr val="EEECE1">
                    <a:lumMod val="25000"/>
                  </a:srgbClr>
                </a:solidFill>
                <a:latin typeface="微软雅黑" panose="020B0503020204020204" pitchFamily="34" charset="-122"/>
                <a:ea typeface="微软雅黑" panose="020B0503020204020204" pitchFamily="34" charset="-122"/>
              </a:rPr>
              <a:t>              </a:t>
            </a:r>
            <a:endParaRPr lang="zh-CN" altLang="en-US" sz="16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275"/>
            <a:ext cx="12192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528410" y="3097350"/>
            <a:ext cx="5471583"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可以在下列情况使用</a:t>
            </a:r>
            <a:endParaRPr lang="zh-CN" altLang="en-US" sz="1200"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a:t>
            </a:r>
            <a:r>
              <a:rPr lang="zh-CN" altLang="en-US" sz="1200" kern="0" dirty="0" smtClean="0">
                <a:solidFill>
                  <a:prstClr val="white"/>
                </a:solidFill>
                <a:latin typeface="微软雅黑" pitchFamily="34" charset="-122"/>
                <a:ea typeface="微软雅黑" pitchFamily="34" charset="-122"/>
              </a:rPr>
              <a:t>人学习、研究。</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50"/>
            <a:ext cx="5471584"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不可以在以下情况使用</a:t>
            </a:r>
            <a:endParaRPr lang="zh-CN" altLang="en-US" sz="1050" b="1"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刻录光碟销售。</a:t>
            </a:r>
            <a:endParaRPr lang="zh-CN" altLang="en-GB" sz="1200" kern="0" dirty="0" smtClean="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2149476" y="356250"/>
            <a:ext cx="7893049"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410481"/>
      </p:ext>
    </p:extLst>
  </p:cSld>
  <p:clrMapOvr>
    <a:masterClrMapping/>
  </p:clrMapOvr>
  <p:timing>
    <p:tnLst>
      <p:par>
        <p:cTn id="1" dur="indefinite" restart="never" nodeType="tmRoot"/>
      </p:par>
    </p:tnLst>
  </p:timing>
</p:sld>
</file>

<file path=ppt/theme/theme1.xml><?xml version="1.0" encoding="utf-8"?>
<a:theme xmlns:a="http://schemas.openxmlformats.org/drawingml/2006/main" name="第一PPT模板网-WWW.1PPT.COM">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理科模板.potx" id="{05826FBC-0476-4FCB-B977-CA3F865E7FE8}" vid="{B144E781-9AB7-495A-AD7E-C26B852AA6C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114</TotalTime>
  <Words>1160</Words>
  <Application>Microsoft Office PowerPoint</Application>
  <PresentationFormat>自定义</PresentationFormat>
  <Paragraphs>115</Paragraphs>
  <Slides>39</Slides>
  <Notes>0</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39</vt:i4>
      </vt:variant>
    </vt:vector>
  </HeadingPairs>
  <TitlesOfParts>
    <vt:vector size="42" baseType="lpstr">
      <vt:lpstr>第一PPT模板网-WWW.1PPT.COM</vt:lpstr>
      <vt:lpstr>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第一PPT模板网-WWW.1PPT.COM</dc:title>
  <dc:creator>第一PPT模板网-WWW.1PPT.COM</dc:creator>
  <cp:lastModifiedBy>123</cp:lastModifiedBy>
  <cp:revision>60</cp:revision>
  <dcterms:created xsi:type="dcterms:W3CDTF">2020-12-30T07:17:36Z</dcterms:created>
  <dcterms:modified xsi:type="dcterms:W3CDTF">2025-07-21T05:54:18Z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