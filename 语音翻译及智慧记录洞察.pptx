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  <p:sldMasterId id="2147483666" r:id="rId3"/>
    <p:sldMasterId id="2147483668" r:id="rId4"/>
  </p:sldMasterIdLst>
  <p:notesMasterIdLst>
    <p:notesMasterId r:id="rId20"/>
  </p:notesMasterIdLst>
  <p:sldIdLst>
    <p:sldId id="428" r:id="rId5"/>
    <p:sldId id="2147483601" r:id="rId6"/>
    <p:sldId id="2147483602" r:id="rId7"/>
    <p:sldId id="2147483603" r:id="rId8"/>
    <p:sldId id="2147483609" r:id="rId9"/>
    <p:sldId id="2147483604" r:id="rId10"/>
    <p:sldId id="2147483610" r:id="rId11"/>
    <p:sldId id="2147483605" r:id="rId12"/>
    <p:sldId id="2147483611" r:id="rId13"/>
    <p:sldId id="2147483606" r:id="rId14"/>
    <p:sldId id="2147483612" r:id="rId15"/>
    <p:sldId id="2147483607" r:id="rId16"/>
    <p:sldId id="2147483613" r:id="rId17"/>
    <p:sldId id="2147483608" r:id="rId18"/>
    <p:sldId id="214748361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F48"/>
    <a:srgbClr val="C00000"/>
    <a:srgbClr val="DDEAF7"/>
    <a:srgbClr val="5C9BD5"/>
    <a:srgbClr val="6CA5D9"/>
    <a:srgbClr val="DEEBF7"/>
    <a:srgbClr val="F5F8FE"/>
    <a:srgbClr val="343E46"/>
    <a:srgbClr val="6676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6" autoAdjust="0"/>
    <p:restoredTop sz="81629" autoAdjust="0"/>
  </p:normalViewPr>
  <p:slideViewPr>
    <p:cSldViewPr snapToGrid="0">
      <p:cViewPr varScale="1">
        <p:scale>
          <a:sx n="78" d="100"/>
          <a:sy n="78" d="100"/>
        </p:scale>
        <p:origin x="452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21F13-393F-4530-A220-B4DF84B54F2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A65F2-73BC-43AE-875B-67BAD6EFC3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47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BB28CB31-DFC9-2463-D9BC-D531668B5B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42194A87-0A65-96E8-CF02-300721BA6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1" lang="zh-CN" altLang="en-US"/>
          </a:p>
        </p:txBody>
      </p:sp>
      <p:sp>
        <p:nvSpPr>
          <p:cNvPr id="8196" name="幻灯片编号占位符 3">
            <a:extLst>
              <a:ext uri="{FF2B5EF4-FFF2-40B4-BE49-F238E27FC236}">
                <a16:creationId xmlns:a16="http://schemas.microsoft.com/office/drawing/2014/main" id="{438ECB87-9329-454F-C25F-EE33E5BC1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fld id="{65B70A1F-BC59-422A-884F-109BC85ECFB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BB28CB31-DFC9-2463-D9BC-D531668B5B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42194A87-0A65-96E8-CF02-300721BA6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1" lang="zh-CN" altLang="en-US"/>
          </a:p>
        </p:txBody>
      </p:sp>
      <p:sp>
        <p:nvSpPr>
          <p:cNvPr id="8196" name="幻灯片编号占位符 3">
            <a:extLst>
              <a:ext uri="{FF2B5EF4-FFF2-40B4-BE49-F238E27FC236}">
                <a16:creationId xmlns:a16="http://schemas.microsoft.com/office/drawing/2014/main" id="{438ECB87-9329-454F-C25F-EE33E5BC1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fld id="{65B70A1F-BC59-422A-884F-109BC85ECFB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722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A65F2-73BC-43AE-875B-67BAD6EFC3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1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202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5B44A-199B-0351-C869-8D4D01B5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43BA2B-EAFD-ABBF-78E9-7C1D6C1A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8885AB-E754-2F03-E7D8-4F317AB34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F4EAA4-96FB-B089-B7C6-5C0CF3265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918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984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0236-F593-6F20-AD46-A00A5822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8C5938-6424-C06C-8F25-BF879B78A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352338-7B7C-B94C-B41E-6D556C4B4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4C4BA6-7A0B-A3EF-D911-FB9A0927D7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501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187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9D0D-FA27-7C2B-2F08-08924BE4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1B45B2-8B15-D5F3-0B19-461D51382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DDAEAB-D5F6-0E90-ABDB-17F926346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B4F82B-1C89-409F-EBFE-57F95620F3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071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0400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25BC5-7F69-D88F-EE0E-B0B6FCC76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E36EA3-9B9D-87AA-8560-E1AD50025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30D10D-8EBE-D50A-92A7-948F1BC15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7DB400-05C4-3430-2D11-7FE8F9BFD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691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F5FE-828E-F463-C053-C05E11D5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1E48A2-33F2-3FA2-5655-7D63CB12F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266D67-3BD2-55A0-045E-00FA36DB0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92BC63-F02F-B621-A5F4-E1D9BD3367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810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507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CD30-3D1F-7923-1392-4C5D1C143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1E69AE-B879-75AD-1ECA-13072C456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5197F6-2B33-AFED-44E5-A6B77C034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05D539-E475-1491-970F-935C6A4125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05600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F2D66-9C0D-4EC1-9C5C-B0209DCE6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9BD51C-3B2C-4EC8-B3E7-56F78F593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3F779-3DD6-405C-BEA0-5EF30624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DA26FB-8ECA-45EB-85FE-F41154F5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9D3C6-202A-4A96-9EF9-8639013F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0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5B0C1F-834A-4D8E-B2C5-5AF84D34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38871B-7BA0-49DC-B92F-7AFE1B682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B164A7-825E-4548-8332-52E40776F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4055E-546F-4B70-8D1A-EEF1DDE3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440026-76B6-498C-982B-0AC8C70C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56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5F778-805F-4E67-9D31-904F55D5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A802CC-439A-4A36-837F-8837A2FF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C6F7F-A2D5-42FA-AFB9-2EEB8F31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73759B-309E-456E-86AD-2208BEAB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B02B1-3D82-40D4-9810-EA2F7742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90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E4E88-8CC3-4CDB-9E2E-E1480229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F6DC9-648D-4ED8-B3AF-DCD4F3322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2D297A-BB5E-4444-8E0D-4051D6EDD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73E0DD-E720-443B-973B-C2EABCBE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FEF5FC-AA14-4AC5-8D4E-D63D95B2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5764CF-9A45-4704-8C36-CF024165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03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1CFAD-6AB4-4FA3-8A23-C7EABE0BF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52AF08-3E80-4324-847C-D33F89246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CEB25B-BCE3-43E5-BD37-CEDC8BCD6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0F2281-1C49-48A6-8C0A-90C453EB2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D2C0EC-00E8-4A7D-BB80-912191F95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2E20C1-69B2-4A0F-B0D7-D1F5F479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7773A2-564C-408F-9092-7239ED79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6B308F-30BC-4E56-B5AD-1A59D978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46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76EC7-D45C-4CE3-885D-EAC96D11F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309EB9-5CEA-42ED-A0EC-B4A3AAC8E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4E719-B6BC-4258-B7AA-7B295933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5E20D9-A3BD-4FFA-A5FD-D8D4A368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52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B5619C-15E3-42AE-ABE9-85882678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832B94-22FB-4DE3-BD87-784D500F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68EFF6-6D18-49A6-BB6F-51AD187F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99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D183F-EA86-4B2E-88F8-7339EEEF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2CB21-3E3A-456C-941C-A95CD8691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860C40-0A73-4C44-8B4E-B20882D40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4BD283-F0B3-4D7C-B5C2-2BEED82D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0B2806-3914-4405-9F94-0E1B7DC7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E69EDC-DE76-49BC-8EAF-1B37EAB4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67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113A2-4B7F-4927-A000-045F2EB55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85372D-46DF-428F-BB3E-31F5F3B95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36F327-4BA7-46C2-B7F2-1AACE6FB7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F6A99B-FF6B-4F59-9770-AE5B2631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5D224B-2090-4298-AF14-EB99A7CF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8811D7-5743-4DF3-8CFC-BF9E0EA7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45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77F11-9876-4486-8A7A-61103471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99BFB3-B3E0-41E2-A74E-147DB0147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619561-1D28-492C-9D01-CE9274DE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5416A-BB97-494C-B48F-1573554C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D34E47-B26D-4341-BD59-6EDBC471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8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2EA981-D392-42BA-BF13-360513D36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D36964-87BC-44A1-9434-2875E54DE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D0F30-EAF2-44BB-8690-50057CA27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B00574-5F03-45F0-A4A1-A1A1B065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13D4A9-669B-474E-B264-E7DCFC52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B55244-6AC2-9D1F-28C0-61ADD3394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92F917A-A1E6-7D26-C71E-F16BAA77D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b="23589"/>
          <a:stretch>
            <a:fillRect/>
          </a:stretch>
        </p:blipFill>
        <p:spPr bwMode="auto">
          <a:xfrm>
            <a:off x="1873250" y="0"/>
            <a:ext cx="10318750" cy="52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079E17-4BC0-2D8A-61A7-DEDBF56ABF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55138" y="5918200"/>
            <a:ext cx="2506662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B1D9BE-89B8-65D9-65F4-2FE087FED2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5722938"/>
            <a:ext cx="18462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7484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36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B55244-6AC2-9D1F-28C0-61ADD3394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92F917A-A1E6-7D26-C71E-F16BAA77D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b="23589"/>
          <a:stretch>
            <a:fillRect/>
          </a:stretch>
        </p:blipFill>
        <p:spPr bwMode="auto">
          <a:xfrm>
            <a:off x="1873250" y="0"/>
            <a:ext cx="10318750" cy="52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079E17-4BC0-2D8A-61A7-DEDBF56ABF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55138" y="5918200"/>
            <a:ext cx="2506662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B1D9BE-89B8-65D9-65F4-2FE087FED2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5722938"/>
            <a:ext cx="18462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657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C8C02C-DDDC-99ED-AB4D-80BC3DC503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126350-8598-1D6E-75E2-F0A35174CF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938" y="6330950"/>
            <a:ext cx="12493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67CE97E-FDA5-4904-36B5-B971714BC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EFC57CCE-4B21-46FA-8DF9-9AE80427FC2A}" type="slidenum">
              <a:rPr lang="zh-CN" altLang="en-US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591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4376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2669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412655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7287" y="2370889"/>
            <a:ext cx="744262" cy="761910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035945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5"/>
            <a:ext cx="12192669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90188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2669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66542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4"/>
            </a:lvl2pPr>
            <a:lvl3pPr marL="1186975" indent="0" algn="ctr">
              <a:buNone/>
              <a:defRPr sz="2334"/>
            </a:lvl3pPr>
            <a:lvl4pPr marL="1780463" indent="0" algn="ctr">
              <a:buNone/>
              <a:defRPr sz="2079"/>
            </a:lvl4pPr>
            <a:lvl5pPr marL="2373950" indent="0" algn="ctr">
              <a:buNone/>
              <a:defRPr sz="2079"/>
            </a:lvl5pPr>
            <a:lvl6pPr marL="2967438" indent="0" algn="ctr">
              <a:buNone/>
              <a:defRPr sz="2079"/>
            </a:lvl6pPr>
            <a:lvl7pPr marL="3560290" indent="0" algn="ctr">
              <a:buNone/>
              <a:defRPr sz="2079"/>
            </a:lvl7pPr>
            <a:lvl8pPr marL="4153778" indent="0" algn="ctr">
              <a:buNone/>
              <a:defRPr sz="2079"/>
            </a:lvl8pPr>
            <a:lvl9pPr marL="474726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89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 sz="17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7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52" algn="ctr"/>
              </a:tabLst>
              <a:defRPr sz="15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476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52" algn="ctr"/>
              </a:tabLst>
              <a:defRPr sz="12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4pPr>
            <a:lvl5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98" marR="0" lvl="1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4747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tiff"/><Relationship Id="rId3" Type="http://schemas.openxmlformats.org/officeDocument/2006/relationships/image" Target="../media/image5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3.xml"/><Relationship Id="rId5" Type="http://schemas.openxmlformats.org/officeDocument/2006/relationships/image" Target="../media/image6.tif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7" Type="http://schemas.openxmlformats.org/officeDocument/2006/relationships/image" Target="../media/image7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C44D32-D67B-4101-B68C-C6F6B646A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9EF326-ED63-4590-99C2-92320E5F7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4C8C93-58CD-4A96-8234-163C636BA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B1ECD-A50D-47BA-B4AE-3E43F067E73F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47A69-D175-474C-99D9-2CED5E28D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C0A8F-B7E2-423F-B1E9-B1F2C2AF4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2E58B-37E5-4B0F-96AB-0DCD96268B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0" y="0"/>
            <a:ext cx="12199234" cy="686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72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62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50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orient="horz" pos="38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8" name="Picture 46">
            <a:extLst>
              <a:ext uri="{FF2B5EF4-FFF2-40B4-BE49-F238E27FC236}">
                <a16:creationId xmlns:a16="http://schemas.microsoft.com/office/drawing/2014/main" id="{D32A324E-25A7-442D-B51B-1DD93A275E4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3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6" r:id="rId2"/>
    <p:sldLayoutId id="2147483677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4"/>
            <a:ext cx="12192000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/>
            <a:endParaRPr lang="en-US" sz="1799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55" y="5970991"/>
            <a:ext cx="2259917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6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hf hdr="0" ftr="0" dt="0"/>
  <p:txStyles>
    <p:titleStyle>
      <a:lvl1pPr algn="l" defTabSz="914034" rtl="0" eaLnBrk="1" latinLnBrk="0" hangingPunct="1">
        <a:lnSpc>
          <a:spcPts val="3439"/>
        </a:lnSpc>
        <a:spcBef>
          <a:spcPct val="0"/>
        </a:spcBef>
        <a:buNone/>
        <a:defRPr sz="3199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034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tter.ai/" TargetMode="External"/><Relationship Id="rId4" Type="http://schemas.openxmlformats.org/officeDocument/2006/relationships/hyperlink" Target="https://fireflies.ai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2">
            <a:extLst>
              <a:ext uri="{FF2B5EF4-FFF2-40B4-BE49-F238E27FC236}">
                <a16:creationId xmlns:a16="http://schemas.microsoft.com/office/drawing/2014/main" id="{CE3F7375-FC4E-C611-B430-DEE4C98BD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2117725"/>
            <a:ext cx="869622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 eaLnBrk="1" hangingPunct="1"/>
            <a:r>
              <a:rPr lang="en-US" altLang="zh-CN" sz="4200" b="1" dirty="0">
                <a:solidFill>
                  <a:srgbClr val="231815"/>
                </a:solidFill>
                <a:latin typeface="Huawei Sans Medium" panose="020C0603030203020204" pitchFamily="34" charset="0"/>
              </a:rPr>
              <a:t>AI Native</a:t>
            </a:r>
            <a:r>
              <a:rPr lang="zh-CN" altLang="en-US" sz="4200" b="1" dirty="0">
                <a:solidFill>
                  <a:srgbClr val="231815"/>
                </a:solidFill>
                <a:latin typeface="Huawei Sans Medium" panose="020C0603030203020204" pitchFamily="34" charset="0"/>
              </a:rPr>
              <a:t>应用：语音翻译、智慧记录</a:t>
            </a:r>
            <a:endParaRPr lang="en-US" altLang="zh-CN" sz="4200" b="1" dirty="0">
              <a:solidFill>
                <a:srgbClr val="231815"/>
              </a:solidFill>
              <a:latin typeface="Huawei Sans Medium" panose="020C06030302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2">
            <a:extLst>
              <a:ext uri="{FF2B5EF4-FFF2-40B4-BE49-F238E27FC236}">
                <a16:creationId xmlns:a16="http://schemas.microsoft.com/office/drawing/2014/main" id="{CE3F7375-FC4E-C611-B430-DEE4C98BD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2117725"/>
            <a:ext cx="233910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 eaLnBrk="1" hangingPunct="1"/>
            <a:r>
              <a:rPr lang="zh-CN" altLang="en-US" sz="4200" b="1">
                <a:solidFill>
                  <a:srgbClr val="231815"/>
                </a:solidFill>
                <a:latin typeface="Huawei Sans Medium" panose="020C0603030203020204" pitchFamily="34" charset="0"/>
              </a:rPr>
              <a:t>智慧记录</a:t>
            </a:r>
            <a:endParaRPr lang="en-US" altLang="zh-CN" sz="4200" b="1" dirty="0">
              <a:solidFill>
                <a:srgbClr val="231815"/>
              </a:solidFill>
              <a:latin typeface="Huawei Sans Medium" panose="020C06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62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3">
            <a:extLst>
              <a:ext uri="{FF2B5EF4-FFF2-40B4-BE49-F238E27FC236}">
                <a16:creationId xmlns:a16="http://schemas.microsoft.com/office/drawing/2014/main" id="{D4DFD8C2-FB90-4412-83D1-ED44DD84F319}"/>
              </a:ext>
            </a:extLst>
          </p:cNvPr>
          <p:cNvSpPr txBox="1">
            <a:spLocks noChangeArrowheads="1"/>
          </p:cNvSpPr>
          <p:nvPr/>
        </p:nvSpPr>
        <p:spPr>
          <a:xfrm>
            <a:off x="790220" y="574620"/>
            <a:ext cx="1368993" cy="985239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ctr">
            <a:normAutofit/>
          </a:bodyPr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4000" b="1" dirty="0">
                <a:latin typeface="+mn-lt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latin typeface="+mn-lt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9A6B95E-DA7E-4C45-97B3-891CFDF7949E}"/>
              </a:ext>
            </a:extLst>
          </p:cNvPr>
          <p:cNvCxnSpPr>
            <a:cxnSpLocks/>
          </p:cNvCxnSpPr>
          <p:nvPr/>
        </p:nvCxnSpPr>
        <p:spPr>
          <a:xfrm>
            <a:off x="782536" y="1567543"/>
            <a:ext cx="1092368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74C8EC8A-D4EE-4430-9826-33C600FA18B7}"/>
              </a:ext>
            </a:extLst>
          </p:cNvPr>
          <p:cNvGrpSpPr/>
          <p:nvPr/>
        </p:nvGrpSpPr>
        <p:grpSpPr>
          <a:xfrm>
            <a:off x="1144921" y="1940838"/>
            <a:ext cx="4417679" cy="523056"/>
            <a:chOff x="1050485" y="1748082"/>
            <a:chExt cx="3955722" cy="523260"/>
          </a:xfrm>
        </p:grpSpPr>
        <p:sp>
          <p:nvSpPr>
            <p:cNvPr id="8" name="Text 22">
              <a:extLst>
                <a:ext uri="{FF2B5EF4-FFF2-40B4-BE49-F238E27FC236}">
                  <a16:creationId xmlns:a16="http://schemas.microsoft.com/office/drawing/2014/main" id="{4251C606-8FF0-46C3-A763-D38FF5514532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9" name="Text 23">
              <a:extLst>
                <a:ext uri="{FF2B5EF4-FFF2-40B4-BE49-F238E27FC236}">
                  <a16:creationId xmlns:a16="http://schemas.microsoft.com/office/drawing/2014/main" id="{390E26C9-BFA8-4BE5-BAF0-458BCB644430}"/>
                </a:ext>
              </a:extLst>
            </p:cNvPr>
            <p:cNvSpPr/>
            <p:nvPr/>
          </p:nvSpPr>
          <p:spPr>
            <a:xfrm>
              <a:off x="1867778" y="1748082"/>
              <a:ext cx="3138429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背景与洞察框架</a:t>
              </a:r>
              <a:endParaRPr lang="en-US" sz="27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CAEEBCF-B621-4C9D-B978-1C58CD4AD286}"/>
              </a:ext>
            </a:extLst>
          </p:cNvPr>
          <p:cNvGrpSpPr/>
          <p:nvPr/>
        </p:nvGrpSpPr>
        <p:grpSpPr>
          <a:xfrm>
            <a:off x="1144921" y="2837150"/>
            <a:ext cx="5778393" cy="523016"/>
            <a:chOff x="1050485" y="1748082"/>
            <a:chExt cx="5174146" cy="523220"/>
          </a:xfrm>
        </p:grpSpPr>
        <p:sp>
          <p:nvSpPr>
            <p:cNvPr id="11" name="Text 22">
              <a:extLst>
                <a:ext uri="{FF2B5EF4-FFF2-40B4-BE49-F238E27FC236}">
                  <a16:creationId xmlns:a16="http://schemas.microsoft.com/office/drawing/2014/main" id="{350622CB-7FFD-4307-AE69-8C34D24EC66B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02</a:t>
              </a:r>
            </a:p>
          </p:txBody>
        </p:sp>
        <p:sp>
          <p:nvSpPr>
            <p:cNvPr id="12" name="Text 23">
              <a:extLst>
                <a:ext uri="{FF2B5EF4-FFF2-40B4-BE49-F238E27FC236}">
                  <a16:creationId xmlns:a16="http://schemas.microsoft.com/office/drawing/2014/main" id="{2BB38289-F2E6-4729-AB65-9716BE488F22}"/>
                </a:ext>
              </a:extLst>
            </p:cNvPr>
            <p:cNvSpPr/>
            <p:nvPr/>
          </p:nvSpPr>
          <p:spPr>
            <a:xfrm>
              <a:off x="1867778" y="1748082"/>
              <a:ext cx="4356853" cy="52322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产品与业务现状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A6AE136-A390-4607-BA6B-37B68C26BEE3}"/>
              </a:ext>
            </a:extLst>
          </p:cNvPr>
          <p:cNvGrpSpPr/>
          <p:nvPr/>
        </p:nvGrpSpPr>
        <p:grpSpPr>
          <a:xfrm>
            <a:off x="1144921" y="3733462"/>
            <a:ext cx="5778393" cy="523056"/>
            <a:chOff x="1050485" y="1748082"/>
            <a:chExt cx="5174147" cy="523260"/>
          </a:xfrm>
        </p:grpSpPr>
        <p:sp>
          <p:nvSpPr>
            <p:cNvPr id="14" name="Text 22">
              <a:extLst>
                <a:ext uri="{FF2B5EF4-FFF2-40B4-BE49-F238E27FC236}">
                  <a16:creationId xmlns:a16="http://schemas.microsoft.com/office/drawing/2014/main" id="{C9470133-7C9D-431F-BE4B-A68711BA265F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03</a:t>
              </a:r>
            </a:p>
          </p:txBody>
        </p:sp>
        <p:sp>
          <p:nvSpPr>
            <p:cNvPr id="15" name="Text 23">
              <a:extLst>
                <a:ext uri="{FF2B5EF4-FFF2-40B4-BE49-F238E27FC236}">
                  <a16:creationId xmlns:a16="http://schemas.microsoft.com/office/drawing/2014/main" id="{D979ECD9-45CE-42A4-B643-3CF066C577B7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业界产品与场景洞察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1389970-3F19-43AC-8CC1-D075C1C4EB9E}"/>
              </a:ext>
            </a:extLst>
          </p:cNvPr>
          <p:cNvGrpSpPr/>
          <p:nvPr/>
        </p:nvGrpSpPr>
        <p:grpSpPr>
          <a:xfrm>
            <a:off x="6413607" y="1940836"/>
            <a:ext cx="5778393" cy="523056"/>
            <a:chOff x="1050485" y="1748082"/>
            <a:chExt cx="5174147" cy="523260"/>
          </a:xfrm>
        </p:grpSpPr>
        <p:sp>
          <p:nvSpPr>
            <p:cNvPr id="17" name="Text 22">
              <a:extLst>
                <a:ext uri="{FF2B5EF4-FFF2-40B4-BE49-F238E27FC236}">
                  <a16:creationId xmlns:a16="http://schemas.microsoft.com/office/drawing/2014/main" id="{3DBBAE9A-B91C-4E04-A77D-CA7A9492B9FE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04</a:t>
              </a:r>
            </a:p>
          </p:txBody>
        </p:sp>
        <p:sp>
          <p:nvSpPr>
            <p:cNvPr id="18" name="Text 23">
              <a:extLst>
                <a:ext uri="{FF2B5EF4-FFF2-40B4-BE49-F238E27FC236}">
                  <a16:creationId xmlns:a16="http://schemas.microsoft.com/office/drawing/2014/main" id="{B1B2B1A6-C725-4D6F-9612-BF2A9118EBE2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技术趋势与标杆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05A7044-DDF4-43F5-B3F9-D5D30E3233D0}"/>
              </a:ext>
            </a:extLst>
          </p:cNvPr>
          <p:cNvGrpSpPr/>
          <p:nvPr/>
        </p:nvGrpSpPr>
        <p:grpSpPr>
          <a:xfrm>
            <a:off x="6413607" y="2837112"/>
            <a:ext cx="5778393" cy="523056"/>
            <a:chOff x="1050485" y="1748082"/>
            <a:chExt cx="5174147" cy="523260"/>
          </a:xfrm>
        </p:grpSpPr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565C8E74-98D3-486E-9280-CE79C7CC5F83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05</a:t>
              </a:r>
            </a:p>
          </p:txBody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ABD8C52D-49B4-4F3E-9B0F-97BD882C32F5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机会与外延增量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B0C27F7-B4E9-4267-931A-F14C9581A06B}"/>
              </a:ext>
            </a:extLst>
          </p:cNvPr>
          <p:cNvGrpSpPr/>
          <p:nvPr/>
        </p:nvGrpSpPr>
        <p:grpSpPr>
          <a:xfrm>
            <a:off x="6413607" y="3733443"/>
            <a:ext cx="5778393" cy="523056"/>
            <a:chOff x="1050485" y="1748082"/>
            <a:chExt cx="5174147" cy="523260"/>
          </a:xfrm>
        </p:grpSpPr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7496AE57-18A2-4282-8708-1C5F8BA4F841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06</a:t>
              </a: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A1BDDAEA-4E63-413F-88BD-F1359647F3F3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战略与路线图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09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1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背景与洞察框架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94944"/>
            <a:ext cx="11750040" cy="292608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（上）要求：为什么现在做、看什么、怎么判断。结论先讲完，再展开框架。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" y="1005840"/>
            <a:ext cx="11750040" cy="502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一句话：摘要已经免费，入口正在变贵，真正开始收费的是「会开完之后谁去干活」。会中听懂被平台和耳机收走；智慧记录的增量在会后结构、待办和确认后写入。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" y="1536192"/>
            <a:ext cx="5806440" cy="5074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为什么现在做（技术 / 产品 / 场景三条都在变）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技术：翻译从 ASR→MT→TTS 级联切到语音进、语音出。2026-06-09 Gemini 3.5 Live Translate：70+ 语、2000+ 语对、不经英语中转，Translate App 全球可用，Meet 仍企业预览。2026-09-15 DeepL Voice GA，Win/Mac 桌面自动检测 Zoom/Teams/Meet，保留音色（官方约 12 语，日媒 14 语含中日）；厂商引用 Slator：DeepL 错误率约 4%，三家平台平均约 17%。2026-05 GPT-Realtime-Translate 约 0.034 美元/分钟可买。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产品：Zoom 把 Companion 收进 Workplace，另开 ZoomMate 约 20 美元/人/月卖改 Salesforce/Jira、写文档。飞书 8.0（2026-09-15）Agent 进群、读妙记、走审批，CLI 能力点 247→767。腾讯元宝会中弹幕 + AI 托管代参会。Notion 3.7 Custom Agent 会后自动干活。单点「更顺的摘要」不再能要预算。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场景：面对面、通话、同传、眼镜/耳机、微信语音、代参会共用「听懂+记下来」。Laxis 2026：约 62% 用户称每周省约 4 小时；84% 见会里有 Bot 会改口；73% 企业把隐私列为规模化第一障碍。财富 500 里约 67%「在某处」用过 AI 记笔记，但 5000 人以上渗透约 43%，小公司反而 78–81%——卡在治理，不卡模型。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1536192"/>
            <a:ext cx="5760720" cy="5074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看什么、怎么判断（四维框架 + 分层）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范围：产品、技术、场景、标杆、竞争、外延增量。不评谁转写更准——AssemblyAI 2026-09 横评指出 Granola/Zoom/Fireflies 等大量跑在同类托管语音 API 上，ASR 正在基础设施化。评谁把会变成可执行、可核对的结果。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四维：技术路线（级联 vs S2ST、云 vs 端）× 产品体验（延迟、音色、结构纪要）× 设备生态（是否同一会话）× 地域部署（国内主场、出境回国、出海）。我们设备全栈是优势；短板是 5s 首响、端侧仅中英、慧记结构深度。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分层 L1 采集 → L2 转写 → L3 纪要 → L4 跨会智能 → L5 Agent → L6 同传。「语音翻译+智慧记录」落在 L3–L6。套件会把 L1–L3 价格打穿；能单独要到预算的是 L4–L6 里套件做不深的一段。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市场只看数量级：AI 记笔记约 7 亿美元级（Laxis）；会议助手约 40 亿+；通话智能上百亿。中国不是再做一个 Otter，而是套件内嵌 + 中文方言 + 信创。北美仍占会议智能收入约 33–42%。</a:t>
            </a:r>
          </a:p>
        </p:txBody>
      </p:sp>
    </p:spTree>
    <p:extLst>
      <p:ext uri="{BB962C8B-B14F-4D97-AF65-F5344CB8AC3E}">
        <p14:creationId xmlns:p14="http://schemas.microsoft.com/office/powerpoint/2010/main" val="254095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6BD8-974C-0EA7-2ADC-1549B4353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7CADFA41-DBBC-79F8-FC06-382E1963F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1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背景与洞察框架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D5319FE9-19EE-C1F3-A3ED-FD88A3A2AD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76656"/>
            <a:ext cx="11750040" cy="256032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（下）四问必须能答。上半页给判断，下半页给 12 个月确定性和三种收场（均来自洞察文 8.3 节）。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37744" y="950976"/>
          <a:ext cx="117500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606040"/>
                <a:gridCol w="3794760"/>
                <a:gridCol w="3657600"/>
              </a:tblGrid>
              <a:tr h="612648"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可引用依据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对我们意味着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612648"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S2ST 会不会取代级联？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主力语种会逐步取代，长尾和出海不会一夜切完。2027–28 成主流。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Gemini 3.5 Live Translate（Google 博客 2026-06-09）；DeepL Voice GA（deepl.com 2026-09-15）；GPT-Realtime-Translate 约 $0.034/分钟（2026-05）。TTS 仍占级联约 62% 算力。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 S2ST 做共用底座。长尾级联托底，但级联也要先改流式 TTS。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智慧记录是不是最大增量？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是。会中听懂已商品化；会后结构+待办+原话几乎空白。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Zoom 把 Companion 收进 Workplace，另卖 ZoomMate。飞书 8.0 Agent 读妙记。Ai好记/话袋用「议题-决议-待办」打流水账摘要。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卖同一时间轴的双语结构文档，不按小时卖同传。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612648"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端侧多语种拐点？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技术拐点到了，产品未到。我们仍仅中英。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Hy-MT2：1.8B / 440MB / 33 语。传音 Hi Translate 约 170M / 约 60 语。讯飞眼镜宣传 18 语离线。Apple Live Translation 端侧，官方写明中国大陆不可用。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 端侧扩到 21 语。离线是金融政务入场券。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补短板还是差异化？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并行。差异化不能当推迟延迟的借口。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业界流式目标 2–3s。我们七类终端已接入，业界多数单设备。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2000" rIns="24000" tIns="18000" bIns="14000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P0 打延迟和结构纪要。差异化做跨设备同一会话。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37744" y="4096512"/>
            <a:ext cx="5806440" cy="251460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12 个月内大概率已经发生（确定性较高）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套件把「会后一篇摘要」做成标配，靠摘要本身收费更难。第三方进会 Bot 继续被拒或标 Unverified。说话人+词级时间戳成为托管 ASR 常规字段（微软 MAI-Transcribe-2）。采购合同普遍要「不训练、可删、可设留存」——没有这三项进不了 500 人以上公司。拟声同传必须可关、可标注：中国最高法 2026-09-07《涉人工智能纠纷意见》已写声音权益。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Laxis 2026：约 62% 用户称每周省约 4 小时；84% 见 Bot 改口；73% 企业把隐私列为规模化第一障碍。财富 500 约 67%「在某处」用过，但 5000 人以上渗透约 43%，小公司 78–81%。卡点是治理不是模型。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096512"/>
            <a:ext cx="5760720" cy="251460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三种收场，只押最可能的那一种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1. 最可能：平台吃掉会中，独立做会后垂直（跨设备、双语结构、私有化、评审/客户会）。2. 操作系统助手挤占独立纪要：24 个月内只会在部分地区、部分设备出现，过不了企业采购。3. 硬件成为入口、软件变成云：钉钉 A1、影石×腾讯、飞书×安克在试。我们只做接入，不自研模具。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对外三句话：入口变贵、摘要变便宜、动作层刚开始收费。建议+人点确认能卖；全自动改生产系统多数企业还不敢开。</a:t>
            </a:r>
          </a:p>
        </p:txBody>
      </p:sp>
    </p:spTree>
    <p:extLst>
      <p:ext uri="{BB962C8B-B14F-4D97-AF65-F5344CB8AC3E}">
        <p14:creationId xmlns:p14="http://schemas.microsoft.com/office/powerpoint/2010/main" val="354395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2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产品与业务现状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94944"/>
            <a:ext cx="11750040" cy="292608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（上）要求：有什么、缺什么。按语种、体验、设备、地域把家底摊开。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37744" y="1024128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383280"/>
                <a:gridCol w="3383280"/>
                <a:gridCol w="3474720"/>
              </a:tblGrid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我们现在有什么（业务口径）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缺什么 / 弱在哪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和业界比，用户能感到什么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语种与技术路线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中英日韩俄泰：S2TT 端到端，首响约 5s 内。其余约 15 语种：ASR 小模型+翻译 LLM 级联，实时性差。中英 S2ST 正在探索、推进慢。非中英 TTS 仍是小模型。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主力语种还停在语音到文字，不是语音到语音。S2ST 共用底座没立住。长尾级联把延迟和体验差放大。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Gemini/DeepL 已语音进出、数秒级流式。用户感到的是「对话总慢半拍」，不是模型名字。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面对面翻译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两种方式，含 21 语种识别。端侧仅中英，其余走云。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端侧和云侧 21 语能力不一致，无网/出境会掉到中英。缺行业词库和跨轮会话记忆。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时空壶 W4 Plus：52 语/106 口音、5 个行业领域、会话记忆、实时总结、骨声纹；另卖通话翻译。一人一耳双向同传。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同传 + AI 字幕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同传：21 语与中文互译，复用慧记做会中会后纪要。字幕：英日韩→中，中英日韩纯转写；声音事件检测在落地。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会中听懂有了，会后不是结构文档。同传音频和纪要时间轴未对齐。待办容易中英串在一起。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Teams Interpreter、Zoom Voice Translator（英中西法日）、DeepL 跨三家桌面。会中他们强，会后结构他们也弱——缝在这里。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小艺慧记 / 通话翻译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慧记翻译：中英互译，仅云侧。通话翻译：端侧中英，服务离线/隐私，规划扩 21 语种。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慧记刚上线。缺议题/决议/待办（人+期）、跳回原话、说话人改名写回、角色裁剪。云侧在隐私场景说不过去。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飞书/元宝已是结构输出；Granola 无 Bot+MCP；Wispr 把「名字写对」当差异。说话人仍是工程最疼的一层。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设备生态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手机、耳机、眼镜、PC、平板、车机、手表均已接入。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还不是同一次会话跨设备续上。每端各自存一份，优势摊薄成五个 Demo。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业界多数单设备。讯飞眼镜 40g/4299 元，翻译之后接 GlassClaw 做纪要和发邮件——硬件也在抢「听懂之后」。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308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地域部署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国内主部署，出境数据回国。出海仅级联，S2TT 未出海。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出海缺端到端；出境回国伤时延和合规叙事。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DeepL 桌面跨三家；Apple 端侧同传大陆不可用。国内中英体验应先打穿。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88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A92F-0969-1F87-3879-1375A564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B4CFF6C2-228B-12F2-4E5F-6AA4DB144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2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产品与业务现状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A28AF2E3-98FB-3CC5-6678-5CCA288611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76656"/>
            <a:ext cx="11750040" cy="256032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（下）优先级必须能排出来：P0 三项、P1 三项，以及评测集和说话人这两件「看起来不像功能、不做就会翻车」的工程。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" y="969264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P0 必须现在做（90 天验收）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1. 首响 5s→2–3s。2–3s 是工程目标：更快听众跟不上，更慢节奏断掉。TTS 占级联约 62% 算力，流式 TTS 是最高 ROI。网易有道 2026-09-16 开源子曰4-R2T2，宣传流式 ASR 延迟 200–600ms——延迟竞赛已经公开。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2. 中英 S2ST 可演示，并复用到面对面、通话、同传。三套模型会把 5s 复制三遍。S2ST 是底座不是开关。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3. 慧记冻结：议题/决议/待办（人+期）/风险；每条跳回原话；说话人会后可改名。没有改名，待办落到「说话人 2」等于没发生。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验收：一场真实中英混合会或上传录音，采集到导出当场走通。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969264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P1 立刻排期 / P2 可以后做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P1 端侧：仅中英扩到 21 语识别/互译，无网和出境不掉能力。非中英 TTS 换掉小模型。Hy-MT2、传音 170M 已证明端侧多语可行。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P1 慧记：可离线选项；改名写回后续场次；客户会、评审会两个模板；术语表进同传和纪要。词表是应用层最便宜的准确率杠杆。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P1 设备：主入口=手机+耳机或 PC。一场对话一份库。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P2：S2TT 出海立项；长尾 15 语种升级；跨会检索；只读 MCP。国内中英没打穿之前，出海容易变成级联体验的国际版。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" y="3840480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说话人：工程上最疼、也最该先做的一层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转写「字对了」不够。待办要落到人，必须先分清是谁在说。中科大 MISP-Meeting：163 场真实中文会约 125 小时，加入唇动和注视后远场字错率可从约 37% 降到约 20%。MISP 2025 音视频说话人最好成绩 DER 约 8%。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产品层还没吃到这些结果。常见失败：声线接近、远程+本地混编、中途换座、方言和交叠。Wispr 2026 评测反复强调「名字写对」比摘要文采值钱。微软 MAI-Transcribe-2 把说话人+词级时间戳写成托管 ASR 标配——应用不必自研到底，但必须让用户能改名、并写回后续场次。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840480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评测集自己建，以及明确不要做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不要用干净播客当准绳。评测集至少覆盖：中英混合、交叠说话、专有名词、远程+本地、带 PPT 的评审。这五类不过，线上演示会在真实客户会上翻车。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不要：自研通用 ASR、自建会议客户端、情绪仪表盘（欧盟 AI Act 2025-02 起禁职场情绪推断，医疗/安全除外）、谈话占比排行、默认全天监听、一键改生产系统、用客户会训公有模型。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治理现在写进设置页：不训练、可关采集、合成音标注。法务卡在这里，不卡在摘要文采。中国拟声需单独同意（最高法 2026-09-07）。</a:t>
            </a:r>
          </a:p>
        </p:txBody>
      </p:sp>
    </p:spTree>
    <p:extLst>
      <p:ext uri="{BB962C8B-B14F-4D97-AF65-F5344CB8AC3E}">
        <p14:creationId xmlns:p14="http://schemas.microsoft.com/office/powerpoint/2010/main" val="230698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3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业界产品与场景洞察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94944"/>
            <a:ext cx="11750040" cy="292608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（上）要求：谁在做、怎么做。硬件把翻译戴上身，软件把会议变成动作。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37744" y="1024128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069080"/>
                <a:gridCol w="3063240"/>
                <a:gridCol w="3337560"/>
              </a:tblGrid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标杆与可核对事实（2026）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怎么做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对我们的信号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硬件同传耳机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时空壶 W4 Plus（IFA 2026）：Babel OS 3.0；52 语/106 口音；General/科技/制造/新能源/生药物领域词库；会话记忆、实时总结；骨声纹+双麦。另卖通话翻译（截获蓝牙音频，适配几乎所有会议软件）和媒体翻译。买断约 379 美元，或 299 美元+14.99 美元/月。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面对面听懂做成可穿戴。一人一耳双向同传，不必把手机伸到两人中间。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我们已有耳机，缺行业词库、会话记忆和「像对话不是对讲机」的时延。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眼镜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讯飞 AI 眼镜（BEYOND 2026-05，预售 4299 元）：40g；122 语（含方言口音）；18 语离线面对面；旁听同传/面对面/线上同传/通话翻译/视觉翻译；唇动识别降噪；8 米全向拾音；提词；内置 GlassClaw，可做会议纪要、出差方案、发邮件。宣传 17+1 行业词库。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翻译之后接 Agent。眼镜不只是显示器，是「听懂到干活」的入口。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硬件也在抢慧记的下一跳。我们眼镜若只做听懂、不接结构纪要，会被当成翻译配件。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音色 / 套件硬件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有道：本人音色输出；2026-09 开源子曰4-R2T2/T3PO，并推「叭哥说」100+ 语实时互译、宣传终身免费、声音本地处理。OPPO：耳机端 AI 对话翻译。飞书×安克会议耳机约 1799 元，录完进妙记。Plaud NotePin S：长按录、短按标记重点，Desktop 无 Bot。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入口从手机屏转到耳朵；套件用硬件把线下焊回自家库。按键「这句重要」是人机对齐。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拟声要可关、要标注。Highlight 语义应做成产品能力，不必自研模具。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会议平台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ZoomMate 约 $20/人/月/2200 credits，动作层单独卖。Teams Interpreter + Facilitator 会中搜网 + 多语言 Recap。腾讯元宝：每 2 分钟小结、弹幕、AI 托管。飞书 8.0：Agent 进群读妙记，豆包工作伙伴定向共创。Google Take notes for me 一场会一种口语、不含中文。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会中摘要 bundled；会后改系统开始收费。代参会已经产品化。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不要拼会中免费摘要。对齐「建议+确认」的动作层，默认比 ZoomMate 保守。中英混合会官方尚未当一等场景。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Granola：无 Bot + Spaces + MCP（Basic 限 30 天），C 轮 1.25 亿美元。Fathom 3.0 免费无限录。Wispr 卖名字写对。Fellow 卖治理。Ai好记/话袋卖议题-决议-待办。多维视界能看 PPT/白板。ima 吃微信语音进知识库。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结构、画面、无 Bot、MCP、治理，是套件流水账留下的缝。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慧记对齐结构+改名，而不是更长摘要。MCP 放 6–12 月，schema 先冻结。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92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39C4-077F-BC8C-EF53-2583EB6B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7446C5DC-10E4-6962-7A29-D9F197827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3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业界产品与场景洞察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B8AC4987-66BF-D136-4DD6-3B873A5EA8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76656"/>
            <a:ext cx="11750040" cy="256032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（下）要求：哪些场景正在起量。十条都写开，并标明谁已经占坑、缝在哪。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" y="969264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场景 1–5（翻译入口已经在，纪要还没接上）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1. 跨语言客户会。Teams Interpreter、Zoom Voice Translator、DeepL Voice、Meet 已做会中。会后双语结构仍弱：待办中英串在一起。Google Take notes 一场会一种口语、不含中文。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2. 人到不了会。腾讯 AI 托管 2025-09 已产品化；飞书豆包工作伙伴可带上下文代参会（定向共创）。增量是角色裁剪和不能托管的会清单，不是再做一个进会机器人。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3. 展会/工厂嘈杂。时空壶骨声纹、讯飞唇动降噪、飞书×安克耳机、钉钉 A1、Plaud 按一下再录。Limitless 全天佩戴 2025-12 被 Meta 收购后停售新品——始终在听政治风险极高。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4. 面试/销售/评审模板。腾讯已出面试助手、学霸笔记。通用摘要对业务团队不够用。5. 纪要到执行。Notion 2026-07 Custom Agent 写 recap/建工单；ZoomMate 改 Jira。纪要不进系统等于没发生。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969264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场景 6–10（知识和合规，国内特有入口）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6. 组织级检索。「上季度客户怎么说交期」是知识层。Otter、Fireflies AskFred、Granola Spaces、ima 在抢。7. 无 Bot 合规采集。金融、医疗、政府、HR 1:1。Granola/Fellow/本机方案证明需求真实。Laxis：84% 见 Bot 改口。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8. 画面+声音。听悟抽约 200 张幻灯（挡会差）；多维视界看 PPT/白板；元宝 2026-09-17 边录边拍。巨头会议客户端多数没认真做。评审会仍然听得到、看不到。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9. 微信/电话承诺。国内大量不在会议室。听悟、讯飞听见、ima 能吃本地语音；飞书妙记这条路不顺。应是一等采集。10. 培训录播知识化。Ai好记、ima、NotebookLM：2 小时培训变可检索笔记。相邻市场，同一套结构+引用。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" y="3840480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产品信号：跟什么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Agent 化：ZoomMate、Notion、豆包、WorkBuddy、讯飞 GlassClaw 都在听懂之后干活。建议+确认能卖。Deloitte 口径多数企业 24 个月内不敢全自动改生产；近九成觉得 Agent 落地有障碍。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音色：DeepL 保留声线；Teams「模拟我的声音」。拟声默认关。有道 2026-09 推「叭哥说」100+ 语实时互译，宣传终身免费、声音本地处理——消费端在用「不上传」抢信任。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词库与离线：讯飞眼镜宣传 17+1 行业词库；时空壶 5 个领域。钉钉听记宣传 72 语互译。国内也在把同传+纪要捆成一条链。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840480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产品信号：不跟什么，以及空档三格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不跟：更准的通用中文转写器（讯飞护城河）；Gong 的销售操作系统（另一价位）；默认全天可穿戴；职场情绪仪表盘；未告知看屏幕。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竞品速查里空得最明显的三格：① 同传和纪要同一时间轴；② 中文场景无 Bot 跨平台记忆；③ PPT/画面进纪要。选题就从这三格来。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海外：Granola 把无 Bot 做成估值叙事（C 轮 1.25 亿美元）。国内：飞书/腾讯/钉钉/WPS 抢组织，讯飞抢准和信创，听悟抢个人免费，小艺和手机厂商抢系统入口。中间「跨套件、双语、可解释」的缝还在，但不会永远空着。</a:t>
            </a:r>
          </a:p>
        </p:txBody>
      </p:sp>
    </p:spTree>
    <p:extLst>
      <p:ext uri="{BB962C8B-B14F-4D97-AF65-F5344CB8AC3E}">
        <p14:creationId xmlns:p14="http://schemas.microsoft.com/office/powerpoint/2010/main" val="367503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4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技术趋势与标杆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94944"/>
            <a:ext cx="11750040" cy="292608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（上）要求：我们处在哪——优势、差距、风险。按原图做成能力矩阵。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37744" y="1024128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880360"/>
                <a:gridCol w="2468880"/>
                <a:gridCol w="3200400"/>
              </a:tblGrid>
              <a:tr h="691515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我们（现状）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业界标杆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标杆指标怎么读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差距 / 风险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691515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语种覆盖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 语与中文互译；端侧仅中英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有道宣传 71；钉钉听记 72；时空壶 52 语/106 口音；讯飞眼镜 122 语（含方言口音，厂商口径）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互译语对数、口音、中英是否可商用，不要只比广告数字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广度不足，中文互译有深度。堆语种不是战略，但 21 不是终点。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端侧能力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面对面/通话端侧仅中英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Hy-MT2 1.8B/440MB/33 语；传音 170M/约 60 语；OPPO NPU；讯飞眼镜 18 语离线；Apple 端侧（大陆不可用）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体积、语种、能否离线、NPU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端侧语种差距大。技术拐点已到，产品未到。P1 扩 21 语。风险：无网/出境掉到中英。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691515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S2TT 首响约 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Gemini/DeepL 流式数秒；业界目标 2–3s；有道开源流式 ASR 宣传 200–600ms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首响、是否流式出声、断句自然度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用户能直接感到的代差，P0。TTS 占级联约 62%，先改流式 TTS。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TTS / 声音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中英外小模型，效果弱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DeepL 保留音色；PASST 解耦语言/韵律/音色；声音事件检测进字幕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自然度、拟声可否关、事件召回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体验代差。拟声默认关、要标注，否则撞声音权益。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691515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智慧记录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同传复用慧记，刚上线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结构+待办+跳回原话；ZoomMate/Notion/飞书 Agent；Granola MCP；元宝弹幕+托管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结构完整、原话可核对、待办落到人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最大增量也是最大缺口。可用性未验证是风险。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设备生态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七类终端已接入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多数单设备；讯飞眼镜把翻译和纪要/邮件串在 GlassClaw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是否同一会话、主入口清不清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结构性优势。摊薄成五端五份库就是风险。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691515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仅级联出海，S2TT 未出海，出境回国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DeepL 桌面跨三家；Apple 端侧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合规落地、时延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需加速，但国内中英应先打穿。出境回国伤体验。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3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ACD3-6675-66C7-C615-414F5BFC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7DECA1F-C2C5-F9DE-8002-F39DE35C1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4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技术趋势与标杆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EE1237F1-FE0F-8EFA-6844-15ADC87177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76656"/>
            <a:ext cx="11750040" cy="256032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（下）要求：技术往哪走、标杆指标是什么。四条曲线分开写，治理单独成块。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" y="969264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① S2ST　② 流式延迟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S2ST 标杆：Meta SeamlessM4T v2；Gemini 3.5 Live Translate（70+ 语、2000+ 语对、不经英语中转，Meet 企业预览不能说已全量）；通义 Qwen LiveTranslate；GPT-Realtime-Translate。关键趋势：低延迟、流式、韵律保留。从英语中转扩到直接语对，是架构切换不是堆语种。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判断：2027–28 年 S2ST 成主力语种主流，级联退守长尾、低算力设备和部分出海。中英必须站上这条线，否则面对面和同传会一直慢半拍。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延迟：5s→2–3s。2–3s 是实用目标。TTS 占级联约 62%，流式 TTS 最高 ROI，可立刻排期。有道子曰4-R2T2 宣传 200–600ms，延迟竞赛已公开，不能再内部慢慢打磨。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969264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③ 端侧　④ 平台化与说话人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端侧：Hy-MT2 1.8B/1.25-bit/440MB/33 语；传音约 170M/60 语；OPPO 天玑 NPU；讯飞眼镜 18 语离线。拐点不取决于再训通用大模型，而取决于 21 语何时下云。准备三档推理位置：默认云、专有云、端侧只出结构不存原声。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平台化：会议/通话/字幕/慧记/车机共用 S2ST、术语表、说话人库。各自为政会把 5s 复制五遍。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说话人正在被基础设施化。微软 MAI-Transcribe-2 把说话人+词级时间戳写成托管 ASR 标配。应用要会用、会让用户改名，不必自研到底。多模态务实结构：视觉只在翻页/激光笔/关键帧采样。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" y="3840480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采用卡在治理：海外口径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Laxis 2026：5000 人以上渗透约 43%，小公司 78–81%；隐私约 73% 第一障碍。采购写死 SOC2、可删、合同不训练、可配留存、数据驻留、敏感会无 Bot。会议室 IT 里安全和系统集成排在预算前面。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欧盟 GDPR + AI Act：雇佣场景「同意」很难算自愿；职场情绪推断 2025-02 起禁（医疗/安全除外）；合成音/像需标识。美国加州/佛州/伊州等为全员同意录音州；2026-09 SHRM 公开提醒面试+AI 转写必须披露并取得在场同意。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840480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采用卡在治理：中国口径与产品最低配置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个保法 + 生成式 AI 办法；2026-06《个人信息安全规范》征求意见稿单列大模型/智能体 PIA；2026-09-07 最高法《涉人工智能纠纷意见》：未经同意用声音训练/拟声侵害声音权益；GB 45438-2025 AI 生成内容标识。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产品最低配置：入会可见提示、可关采集、默认不训练、可设留存天数、每条跳回原话、合成音标注「AI 翻译」、拟声默认关。面试/HR 单独策略。Agent 改系统必须两步确认并留审计。</a:t>
            </a:r>
          </a:p>
        </p:txBody>
      </p:sp>
    </p:spTree>
    <p:extLst>
      <p:ext uri="{BB962C8B-B14F-4D97-AF65-F5344CB8AC3E}">
        <p14:creationId xmlns:p14="http://schemas.microsoft.com/office/powerpoint/2010/main" val="99210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5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机会与外延增量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94944"/>
            <a:ext cx="11750040" cy="292608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（上）要求：语音翻译和智慧记录还能外延出什么增量。六类场景对照。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37744" y="1024128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651760"/>
                <a:gridCol w="3200400"/>
                <a:gridCol w="2011680"/>
                <a:gridCol w="2514600"/>
              </a:tblGrid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业界已经做到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仍然空着（可切）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 天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不要做成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中英/多语客户会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会中同传：Teams、Zoom Voice Translator、DeepL GA、Meet。飞书有译文写入纪要的叙事。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同一时间轴双栏：议题/决议/待办中英对照；待办字段分开；时间戳点回原话。Google Take notes 一场会一种口语、不含中文；Teams 多语混说只记所选语言。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能。ASR+MT 即可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按小时卖同传主产品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人到不了会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 AI 托管 2025-09；飞书豆包工作伙伴可带上下文代参会（定向）。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按角色裁一页纸；不能托管的会清单（加密、等候室、研讨会）。托管中主账号入会应取消托管。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缺席者 Catch-up 模板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默认代发言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评审/培训/Demo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听悟抽约 200 张幻灯（挡会差）；元宝边录边拍；多维视界看 PPT/白板；Plaud 可拍照进上下文。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翻页/激光笔/用户打点才采样。Highlight 加权进决议/待办。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上传录像或手动打点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未告知常驻看屏幕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会后执行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ZoomMate、Notion Custom Agent、豆包、WorkBuddy、讯飞 GlassClaw。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建议清单（系统、标题、人、期、原话）→勾选→写入一个任务系统，可回滚。默认只写测试空间。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只打通一个系统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一键改生产 CRM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790302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跨入口记忆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各家只认自家的会。Granola MCP、ima 吃微信、Fireflies→Claude。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腾讯会+飞书+Zoom+线下+通话+微信语音进同一 schema。问「上季度客户怎么说交期」。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一个来源+上传语音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同时接四家 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0308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合规采集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Fellow 治理；Apple 端侧（大陆不可用）；Minutes 本地+31 个 MCP。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设置页：不训练、可关、留存 30/90/0、标题禁录、合成音标注、拟声默认关。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设置页先于文采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全天可穿戴监听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23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4EA5-E0C8-6E9D-4ED1-B51C4DC20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61EE23BB-DAD3-68C9-5F7E-AC9B770A4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5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机会与外延增量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66B29A26-F0FA-CE65-82D4-89433393CB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76656"/>
            <a:ext cx="11750040" cy="256032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（下）增量切在第几层。第 1 层保体验，第 2 层做增量，第 3 层做平台。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" y="969264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第 1 层 会中听懂（保体验，不是增量本身）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字幕双显、语音同传。Teams Interpreter、Zoom Voice Translator、DeepL Voice GA、Meet 语音翻译、我们 21 语同传，都在这一层。平台和耳机还在继续收。很难靠「再准一点」建壁垒。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第 2 层 会后双语结构（90 天该打穿，领导点名的外延）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同一时间轴产出可执行、可核对的中英文档。飞书有「译文写入纪要」叙事；Zoom/Teams 会后弱；Google Take notes 不含中文且一场会一种口语。待办字段分开、每条能回原话。停在第 1 层=和耳机/Zoom 死磕。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969264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第 3 层 跨语言知识（6–12 月）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用中文问一场英文客户会。Granola MCP（Basic 限近 30 天，付费才有转写）；Fireflies Claude connector；ima 吃微信进库；飞书 8.0 让 Agent 读妙记。几乎仍是空白。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schema 先冻结，再暴露只读 MCP：list_meetings / get_meeting / query_with_citations。Enterprise 默认关、个人 OAuth、无服务账号。不暴露接口的独立纪要会被组织 Agent 跨过。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空档三格再强调：同一时间轴、中文无 Bot 跨平台记忆、PPT 进纪要。选题不要离开这三格。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" y="3840480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P0 / P1 切口怎么落地（洞察文第 14 节）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P0 双语同一时间轴：一场会一条轴，字幕双显，会后四段结构中英对照。P0 角色裁剪一页纸：主持人看决议、执行人看自己的待办、缺席者 3 分钟 Catch-up——换 schema 权重不是换皮肤。腾讯已宣传多角色「未来上线」。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P0 说话人改名写回后续场次。P1 待办两步确认写入一个任务系统，失败可回滚，默认测试空间。P1 Highlight 打点（对标 Plaud 短按、安克双击）。P1 术语表。P1 治理写进设置页。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840480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P2 与 90 天过关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P2 PPT 关键帧（翻页才采样）。P2 只读 MCP。P2 端侧/专有云作为可售选项，不是口号。硬件只做接入。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90 天过关：中英混合会→双栏结构纪要→待办有人有期不串语言→能回放→能改名→能导出。当场能答第 1 节四问，且和第 6 节路线图一致。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加分：缺席者一页纸；打一个 Highlight 后待办被加权；设置页能关采集、能看到不用于训练。做不到闭环就是又一个翻译 Demo。</a:t>
            </a:r>
          </a:p>
        </p:txBody>
      </p:sp>
    </p:spTree>
    <p:extLst>
      <p:ext uri="{BB962C8B-B14F-4D97-AF65-F5344CB8AC3E}">
        <p14:creationId xmlns:p14="http://schemas.microsoft.com/office/powerpoint/2010/main" val="103822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6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战略与路线图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94944"/>
            <a:ext cx="11750040" cy="292608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（上）要求：现在做什么、正在做什么、未来准备做什么。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37744" y="1024128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697480"/>
                <a:gridCol w="2697480"/>
                <a:gridCol w="2468880"/>
                <a:gridCol w="2606040"/>
              </a:tblGrid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战线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现在（90 天能演示）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立刻排期（约 180 天试点）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未来 6–12 月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成功长什么样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语音翻译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锁中英：S2ST 可演示；首响 5s 往 2–3s 打。面对面/通话/同传共用底座。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 TTS。21 语识别打磨。术语表进同传。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端侧扩到 21 语。非中英 TTS 换小模型。S2TT 出海立项。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中英不破节奏。拟声可关，合成音有标注。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智慧记录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结构冻结：议题/决议/待办（人+期）/风险。每条回放。会后改名。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改名写回后续场次。客户会、评审会模板。Highlight。待办导出文件。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角色裁剪。跨会检索。只读 MCP。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一页纸也信，因为能点回原话。待办落到人。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翻译×纪要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一场中英混合会：字幕双显+双栏对照。待办字段分开。标注 AI 翻译。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同传音频与纪要时间轴对齐。缺席者 Catch-up。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用中文问英文客户会。跨语言知识层。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不再在同传和纪要两个入口复制粘贴。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设备协同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主入口=手机+耳机或 PC。一场对话一份库。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跨设备续上。通话翻译与慧记打通。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眼镜/车机/手表只做听懂和提醒。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戴着就能记，不是每端一个 App。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</a:tr>
              <a:tr h="922020"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治理与出海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默认不训练、可关采集。设置页先于文采。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留存 30/90/0 天。标题禁录。拟声默认关。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端侧/专有云可售。S2TT 出海。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000" rIns="28000" tIns="22000" bIns="18000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 500 人公司法务和信创清单。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75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C434D-C61C-D15F-FA51-6EBC6E90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C3001DCB-ACEA-277B-199B-161C682C4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6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战略与路线图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1E3F3F6D-2853-4A65-3F02-DE112D933D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7744" y="676656"/>
            <a:ext cx="11750040" cy="256032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（下）不做什么、对标谁、如何衡量，以及 90 天怎样算过关。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" y="969264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明确不做什么（写进项目计划）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不自研通用 ASR：AssemblyAI 2026-09 横评指出大量纪要产品跑在同类托管语音 API 上，应用层再自研很难构成长期壁垒。不自建会议客户端：那是 Zoom/腾讯/飞书主场。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不跟 Gong 做销售 CI 全套（另一价位，最多做客户会模板+几个 CRM 字段）。不跟讯飞拼方言和两会级准确率（90 天追不上，买或租）。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不做职场情绪、谈话占比（欧盟红线+国内观感差）。不默认全天可穿戴监听（Limitless/Bee 结局已演示）。不未告知看屏幕。不用客户会训公有模型。不一键自动改生产系统。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969264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对标谁、不跟谁（洞察文 8.4）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体感对标 Granola：人还在记，AI 补全，会议室不出现第三个头像。交付对标腾讯元宝纪要+飞书译文入纪要：会中能看见要点，会后是中英对照结构，不是两篇互不相干的摘要。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闭环对标 Notion Agent，但更保守：待办可以出草稿，写入必须人点。治理对标 Fellow：禁录、留存、不训练写进设置页而不是白皮书。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三条发展建议：① 先成为跨腾讯/飞书/Zoom 的同一份结果，再谈 Agent。② 把中英混合会做成样本，而不是把同传做成主产品。③ 2027 年竞争点从「谁记了」变成「谁被允许接着干活」——现在就把确认流做成产品。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" y="3840480"/>
            <a:ext cx="580644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90 天演示过关标准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一场真实中英混合会，或上传一通真实录音。采集走本机、耳机或通话，不进会 Bot。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当场产出：双栏结构纪要（议题/决议/待办/风险）；待办有责任人、有截止日期、中英字段不串；每条能回放原话；说话人能改名；待办能导出文件。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当场能答四问，且与第 1 节、第 6 节一致：S2ST 怎么走、纪要增量在哪、端侧何时扩语种、先补延迟还是先做花活。加分：缺席者一页纸、Highlight 加权、设置页能关采集。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840480"/>
            <a:ext cx="5760720" cy="2788920"/>
          </a:xfrm>
          <a:prstGeom prst="rect">
            <a:avLst/>
          </a:prstGeom>
          <a:noFill/>
        </p:spPr>
        <p:txBody>
          <a:bodyPr wrap="square" lIns="50000" rIns="40000" tIns="28000" bIns="20000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衡量是否做对了（不要只报转写准确率）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对外用四件事：纪要人工改动率、待办被执行率、双语会后追问次数、从开会到任务进系统的时长。用户会后还打不打开慧记，比 WER 更真实。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组织上：评测集覆盖中英混合、交叠说话、专有名词、远程+本地、带 PPT 的评审。说话人允许会后改名并写回。默认关闭训练、默认 30/90 天可配留存、默认合成音标注。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0F1115"/>
                </a:solidFill>
                <a:latin typeface="微软雅黑"/>
                <a:ea typeface="微软雅黑"/>
                <a:cs typeface="微软雅黑"/>
              </a:rPr>
              <a:t>做不到闭环，就是又一个翻译 Demo。有闭环，才有资格谈 Agent、出海和端侧扩语种。先打通一个任务系统和一个会议来源，深度比清单好看。</a:t>
            </a:r>
          </a:p>
        </p:txBody>
      </p:sp>
    </p:spTree>
    <p:extLst>
      <p:ext uri="{BB962C8B-B14F-4D97-AF65-F5344CB8AC3E}">
        <p14:creationId xmlns:p14="http://schemas.microsoft.com/office/powerpoint/2010/main" val="298869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ez1qtycj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3.xml><?xml version="1.0" encoding="utf-8"?>
<a:theme xmlns:a="http://schemas.openxmlformats.org/drawingml/2006/main" name="1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4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3085</TotalTime>
  <Words>1293</Words>
  <Application>Microsoft Office PowerPoint</Application>
  <PresentationFormat>宽屏</PresentationFormat>
  <Paragraphs>113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Huawei Sans</vt:lpstr>
      <vt:lpstr>Huawei Sans Medium</vt:lpstr>
      <vt:lpstr>quote-cjk-patch</vt:lpstr>
      <vt:lpstr>等线</vt:lpstr>
      <vt:lpstr>等线 Light</vt:lpstr>
      <vt:lpstr>微软雅黑</vt:lpstr>
      <vt:lpstr>Arial</vt:lpstr>
      <vt:lpstr>Office 主题​​</vt:lpstr>
      <vt:lpstr>6_章节页</vt:lpstr>
      <vt:lpstr>12_章节页</vt:lpstr>
      <vt:lpstr>封面页_图片版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Xuyue</dc:creator>
  <cp:lastModifiedBy>业飞 侯</cp:lastModifiedBy>
  <cp:revision>217</cp:revision>
  <dcterms:created xsi:type="dcterms:W3CDTF">2026-09-10T02:12:11Z</dcterms:created>
  <dcterms:modified xsi:type="dcterms:W3CDTF">2026-09-17T12:07:10Z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1789540133</vt:lpwstr>
  </property>
</Properties>
</file>