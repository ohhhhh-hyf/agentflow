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43"/>
  </p:notesMasterIdLst>
  <p:sldIdLst>
    <p:sldId id="677" r:id="rId3"/>
    <p:sldId id="488" r:id="rId4"/>
    <p:sldId id="703" r:id="rId5"/>
    <p:sldId id="392" r:id="rId6"/>
    <p:sldId id="704" r:id="rId7"/>
    <p:sldId id="710" r:id="rId8"/>
    <p:sldId id="711" r:id="rId9"/>
    <p:sldId id="712" r:id="rId10"/>
    <p:sldId id="713" r:id="rId11"/>
    <p:sldId id="714" r:id="rId12"/>
    <p:sldId id="715" r:id="rId13"/>
    <p:sldId id="407" r:id="rId14"/>
    <p:sldId id="394" r:id="rId15"/>
    <p:sldId id="716" r:id="rId16"/>
    <p:sldId id="717" r:id="rId17"/>
    <p:sldId id="718" r:id="rId18"/>
    <p:sldId id="402" r:id="rId19"/>
    <p:sldId id="719" r:id="rId20"/>
    <p:sldId id="720" r:id="rId21"/>
    <p:sldId id="721" r:id="rId22"/>
    <p:sldId id="722" r:id="rId23"/>
    <p:sldId id="705" r:id="rId24"/>
    <p:sldId id="723" r:id="rId25"/>
    <p:sldId id="724" r:id="rId26"/>
    <p:sldId id="725" r:id="rId27"/>
    <p:sldId id="726" r:id="rId28"/>
    <p:sldId id="708" r:id="rId29"/>
    <p:sldId id="727" r:id="rId30"/>
    <p:sldId id="729" r:id="rId31"/>
    <p:sldId id="728" r:id="rId32"/>
    <p:sldId id="731" r:id="rId33"/>
    <p:sldId id="709" r:id="rId34"/>
    <p:sldId id="732" r:id="rId35"/>
    <p:sldId id="733" r:id="rId36"/>
    <p:sldId id="734" r:id="rId37"/>
    <p:sldId id="735" r:id="rId38"/>
    <p:sldId id="736" r:id="rId39"/>
    <p:sldId id="737" r:id="rId40"/>
    <p:sldId id="490" r:id="rId41"/>
    <p:sldId id="738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68">
          <p15:clr>
            <a:srgbClr val="A4A3A4"/>
          </p15:clr>
        </p15:guide>
        <p15:guide id="2" pos="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C8"/>
    <a:srgbClr val="464646"/>
    <a:srgbClr val="DC5B3E"/>
    <a:srgbClr val="7088DB"/>
    <a:srgbClr val="CF5B1B"/>
    <a:srgbClr val="38425D"/>
    <a:srgbClr val="4472C4"/>
    <a:srgbClr val="DFF0F5"/>
    <a:srgbClr val="159470"/>
    <a:srgbClr val="157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145" autoAdjust="0"/>
  </p:normalViewPr>
  <p:slideViewPr>
    <p:cSldViewPr snapToGrid="0">
      <p:cViewPr varScale="1">
        <p:scale>
          <a:sx n="116" d="100"/>
          <a:sy n="116" d="100"/>
        </p:scale>
        <p:origin x="-390" y="-96"/>
      </p:cViewPr>
      <p:guideLst>
        <p:guide orient="horz" pos="368"/>
        <p:guide pos="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powerpoint/" TargetMode="External"/><Relationship Id="rId13" Type="http://schemas.openxmlformats.org/officeDocument/2006/relationships/hyperlink" Target="http://www.1ppt.com/jianli/" TargetMode="External"/><Relationship Id="rId18" Type="http://schemas.openxmlformats.org/officeDocument/2006/relationships/hyperlink" Target="http://www.1ppt.com/kejian/meishu/" TargetMode="External"/><Relationship Id="rId3" Type="http://schemas.openxmlformats.org/officeDocument/2006/relationships/hyperlink" Target="http://www.1ppt.com/moban/" TargetMode="External"/><Relationship Id="rId21" Type="http://schemas.openxmlformats.org/officeDocument/2006/relationships/hyperlink" Target="http://www.1ppt.com/kejian/huaxue/" TargetMode="External"/><Relationship Id="rId7" Type="http://schemas.openxmlformats.org/officeDocument/2006/relationships/hyperlink" Target="http://www.1ppt.com/xiazai/" TargetMode="External"/><Relationship Id="rId12" Type="http://schemas.openxmlformats.org/officeDocument/2006/relationships/hyperlink" Target="http://www.1ppt.com/jiaoan/" TargetMode="External"/><Relationship Id="rId17" Type="http://schemas.openxmlformats.org/officeDocument/2006/relationships/hyperlink" Target="http://www.1ppt.com/kejian/yingyu/" TargetMode="External"/><Relationship Id="rId2" Type="http://schemas.openxmlformats.org/officeDocument/2006/relationships/slide" Target="../slides/slide5.xml"/><Relationship Id="rId16" Type="http://schemas.openxmlformats.org/officeDocument/2006/relationships/hyperlink" Target="http://www.1ppt.com/kejian/shuxue/" TargetMode="External"/><Relationship Id="rId20" Type="http://schemas.openxmlformats.org/officeDocument/2006/relationships/hyperlink" Target="http://www.1ppt.com/kejian/wuli/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1ppt.com/tubiao/" TargetMode="External"/><Relationship Id="rId11" Type="http://schemas.openxmlformats.org/officeDocument/2006/relationships/hyperlink" Target="http://www.1ppt.com/shiti/" TargetMode="External"/><Relationship Id="rId24" Type="http://schemas.openxmlformats.org/officeDocument/2006/relationships/hyperlink" Target="http://www.1ppt.com/kejian/lishi/" TargetMode="External"/><Relationship Id="rId5" Type="http://schemas.openxmlformats.org/officeDocument/2006/relationships/hyperlink" Target="http://www.1ppt.com/beijing/" TargetMode="External"/><Relationship Id="rId15" Type="http://schemas.openxmlformats.org/officeDocument/2006/relationships/hyperlink" Target="http://www.1ppt.com/kejian/yuwen/" TargetMode="External"/><Relationship Id="rId23" Type="http://schemas.openxmlformats.org/officeDocument/2006/relationships/hyperlink" Target="http://www.1ppt.com/kejian/dili/" TargetMode="External"/><Relationship Id="rId10" Type="http://schemas.openxmlformats.org/officeDocument/2006/relationships/hyperlink" Target="http://www.1ppt.com/excel/" TargetMode="External"/><Relationship Id="rId19" Type="http://schemas.openxmlformats.org/officeDocument/2006/relationships/hyperlink" Target="http://www.1ppt.com/kejian/kexue/" TargetMode="External"/><Relationship Id="rId4" Type="http://schemas.openxmlformats.org/officeDocument/2006/relationships/hyperlink" Target="http://www.1ppt.com/sucai/" TargetMode="External"/><Relationship Id="rId9" Type="http://schemas.openxmlformats.org/officeDocument/2006/relationships/hyperlink" Target="http://www.1ppt.com/word/" TargetMode="External"/><Relationship Id="rId14" Type="http://schemas.openxmlformats.org/officeDocument/2006/relationships/hyperlink" Target="http://www.1ppt.com/kejian/" TargetMode="External"/><Relationship Id="rId22" Type="http://schemas.openxmlformats.org/officeDocument/2006/relationships/hyperlink" Target="http://www.1ppt.com/kejian/shengwu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3"/>
              </a:rPr>
              <a:t>www.1ppt.com/moban/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素材：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4"/>
              </a:rPr>
              <a:t>www.1ppt.com/sucai/</a:t>
            </a:r>
            <a:endParaRPr lang="en-US" altLang="zh-CN" sz="1200" dirty="0" smtClean="0">
              <a:solidFill>
                <a:srgbClr val="EEECE1">
                  <a:lumMod val="25000"/>
                </a:srgbClr>
              </a:solidFill>
            </a:endParaRP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背景：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5"/>
              </a:rPr>
              <a:t>www.1ppt.com/beijing/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图表：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6"/>
              </a:rPr>
              <a:t>www.1ppt.com/tubiao/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</a:t>
            </a: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7"/>
              </a:rPr>
              <a:t>www.1ppt.com/xiazai/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教程： 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8"/>
              </a:rPr>
              <a:t>www.1ppt.com/powerpoint/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</a:t>
            </a:r>
          </a:p>
          <a:p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Word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9"/>
              </a:rPr>
              <a:t>www.1ppt.com/word/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Excel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模板：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0"/>
              </a:rPr>
              <a:t>www.1ppt.com/excel/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试卷下载：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1"/>
              </a:rPr>
              <a:t>www.1ppt.com/shiti/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教案下载：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2"/>
              </a:rPr>
              <a:t>www.1ppt.com/jiaoan/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个人简历：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3"/>
              </a:rPr>
              <a:t>www.1ppt.com/jianli/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          PPT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4"/>
              </a:rPr>
              <a:t>www.1ppt.com/kejian/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语文课件：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5"/>
              </a:rPr>
              <a:t>www.1ppt.com/kejian/yuwen/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数学课件：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6"/>
              </a:rPr>
              <a:t>www.1ppt.com/kejian/shuxue/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英语课件：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7"/>
              </a:rPr>
              <a:t>www.1ppt.com/kejian/yingyu/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美术课件：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8"/>
              </a:rPr>
              <a:t>www.1ppt.com/kejian/meishu/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科学课件：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19"/>
              </a:rPr>
              <a:t>www.1ppt.com/kejian/kexue/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物理课件：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0"/>
              </a:rPr>
              <a:t>www.1ppt.com/kejian/wuli/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化学课件：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1"/>
              </a:rPr>
              <a:t>www.1ppt.com/kejian/huaxue/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生物课件：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2"/>
              </a:rPr>
              <a:t>www.1ppt.com/kejian/shengwu/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</a:t>
            </a:r>
          </a:p>
          <a:p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地理课件：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3"/>
              </a:rPr>
              <a:t>www.1ppt.com/kejian/dili/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        </a:t>
            </a:r>
            <a:r>
              <a:rPr lang="zh-CN" altLang="en-US" sz="1200" dirty="0" smtClean="0">
                <a:solidFill>
                  <a:srgbClr val="EEECE1">
                    <a:lumMod val="25000"/>
                  </a:srgbClr>
                </a:solidFill>
              </a:rPr>
              <a:t>历史课件：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  <a:hlinkClick r:id="rId24"/>
              </a:rPr>
              <a:t>www.1ppt.com/kejian/lishi/</a:t>
            </a:r>
            <a:r>
              <a:rPr lang="en-US" altLang="zh-CN" sz="1200" dirty="0" smtClean="0">
                <a:solidFill>
                  <a:srgbClr val="EEECE1">
                    <a:lumMod val="25000"/>
                  </a:srgbClr>
                </a:solidFill>
              </a:rPr>
              <a:t> 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BDB411-4171-48A7-B819-B87F89F6C7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90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圆角矩形 2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5733256"/>
            <a:ext cx="12192000" cy="1124744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5157192"/>
            <a:ext cx="12192000" cy="170080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4615840"/>
            <a:ext cx="12192000" cy="2242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4057902"/>
            <a:ext cx="12192000" cy="2800097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3505783"/>
            <a:ext cx="12192000" cy="335221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2953922"/>
            <a:ext cx="12192000" cy="390407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413194"/>
            <a:ext cx="12192000" cy="444480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1874469"/>
            <a:ext cx="12192000" cy="49835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圆角矩形 2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1287169"/>
            <a:ext cx="12192000" cy="55708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圆角矩形 2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5733256"/>
            <a:ext cx="12192000" cy="1124744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5573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5157192"/>
            <a:ext cx="12192000" cy="170080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5297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615840"/>
            <a:ext cx="12192000" cy="2242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083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057902"/>
            <a:ext cx="12192000" cy="2800097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5169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3505783"/>
            <a:ext cx="12192000" cy="335221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3922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953922"/>
            <a:ext cx="12192000" cy="390407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7034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413194"/>
            <a:ext cx="12192000" cy="444480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6536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874469"/>
            <a:ext cx="12192000" cy="49835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2053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287169"/>
            <a:ext cx="12192000" cy="55708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9339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59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3438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0923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9928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75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280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108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707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0211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7451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5703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63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61" r:id="rId2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85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package" Target="../embeddings/Microsoft_Word___2.docx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5" Type="http://schemas.openxmlformats.org/officeDocument/2006/relationships/package" Target="../embeddings/Microsoft_Word___5.docx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10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7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__18.docx"/><Relationship Id="rId4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7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2.vml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7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28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32.docx"/><Relationship Id="rId4" Type="http://schemas.openxmlformats.org/officeDocument/2006/relationships/image" Target="../media/image30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package" Target="../embeddings/Microsoft_Word___33.docx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__34.docx"/><Relationship Id="rId4" Type="http://schemas.openxmlformats.org/officeDocument/2006/relationships/image" Target="../media/image3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3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3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39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65797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smtClean="0">
                <a:solidFill>
                  <a:srgbClr val="757C82"/>
                </a:solidFill>
                <a:latin typeface="阿里巴巴普惠体"/>
                <a:ea typeface="微软雅黑"/>
                <a:sym typeface="阿里巴巴普惠体"/>
              </a:rPr>
              <a:t>高中同步学案优化</a:t>
            </a:r>
            <a:r>
              <a:rPr lang="zh-CN" altLang="en-US" sz="2400" b="1" spc="600">
                <a:solidFill>
                  <a:srgbClr val="757C82"/>
                </a:solidFill>
                <a:latin typeface="阿里巴巴普惠体"/>
                <a:ea typeface="微软雅黑"/>
                <a:sym typeface="阿里巴巴普惠体"/>
              </a:rPr>
              <a:t>设计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3676091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94482" y="974358"/>
            <a:ext cx="382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b="1" spc="-150" dirty="0" smtClean="0">
                <a:solidFill>
                  <a:srgbClr val="757C82"/>
                </a:solidFill>
                <a:latin typeface="阿里巴巴普惠体"/>
                <a:ea typeface="微软雅黑"/>
                <a:sym typeface="阿里巴巴普惠体"/>
              </a:rPr>
              <a:t>GAO ZHONG TONG BU XUE AN YOU HAU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/>
                <a:ea typeface="微软雅黑"/>
                <a:sym typeface="阿里巴巴普惠体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19320" y="3517799"/>
              <a:ext cx="8158783" cy="8310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800" b="1" dirty="0" smtClean="0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rPr>
                <a:t>周</a:t>
              </a:r>
              <a:r>
                <a:rPr lang="zh-CN" altLang="en-US" sz="4800" b="1" dirty="0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rPr>
                <a:t>期性、奇偶性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阿里巴巴普惠体"/>
                <a:ea typeface="微软雅黑"/>
                <a:cs typeface="Open Sans" panose="020B0606030504020204" pitchFamily="34" charset="0"/>
                <a:sym typeface="阿里巴巴普惠体"/>
              </a:rPr>
              <a:t>第五章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605090" y="5818189"/>
            <a:ext cx="4982453" cy="470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-WWW.1PPT.COM</a:t>
            </a:r>
            <a:endParaRPr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latin typeface="阿里巴巴普惠体"/>
                <a:ea typeface="微软雅黑"/>
                <a:cs typeface="+mn-ea"/>
                <a:sym typeface="阿里巴巴普惠体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latin typeface="阿里巴巴普惠体"/>
              <a:ea typeface="微软雅黑"/>
              <a:cs typeface="+mn-ea"/>
              <a:sym typeface="阿里巴巴普惠体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672261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17320" y="687170"/>
              <a:ext cx="676868" cy="6134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阿里巴巴普惠体"/>
                  <a:ea typeface="微软雅黑"/>
                  <a:sym typeface="阿里巴巴普惠体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3238838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17321" y="1736701"/>
              <a:ext cx="676868" cy="6134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阿里巴巴普惠体"/>
                  <a:ea typeface="微软雅黑"/>
                  <a:sym typeface="阿里巴巴普惠体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764727"/>
            <a:ext cx="2759089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课前篇  自主预习</a:t>
            </a:r>
            <a:endParaRPr lang="zh-CN" altLang="en-US" sz="2665" b="1" dirty="0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3349585"/>
            <a:ext cx="2759089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课堂篇  探究学习</a:t>
            </a:r>
            <a:endParaRPr lang="zh-CN" altLang="en-US" sz="2665" b="1" dirty="0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407327"/>
            <a:ext cx="162095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smtClean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课标阐释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81000" y="3417653"/>
            <a:ext cx="162095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smtClean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思维脉络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110614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理解周期函数、周期、最小正周期的定义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数学抽象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会求正弦函数、余弦函数的周期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并会应用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数学运算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掌握正弦函数、余弦函数的奇偶性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会判断简单三角函数的奇偶性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数学运算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)</a:t>
            </a:r>
            <a:endParaRPr lang="zh-CN" altLang="en-US" sz="2800" dirty="0">
              <a:latin typeface="阿里巴巴普惠体"/>
              <a:ea typeface="微软雅黑"/>
              <a:sym typeface="阿里巴巴普惠体"/>
            </a:endParaRPr>
          </a:p>
        </p:txBody>
      </p:sp>
      <p:pic>
        <p:nvPicPr>
          <p:cNvPr id="6" name="A192.eps"/>
          <p:cNvPicPr/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8771" y="3512603"/>
            <a:ext cx="5341522" cy="201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5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40601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879736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55261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课前篇  自主预习</a:t>
            </a:r>
            <a:endParaRPr lang="zh-CN" altLang="en-US" sz="5400" b="1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76324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[</a:t>
            </a:r>
            <a:r>
              <a:rPr lang="zh-CN" altLang="zh-CN" sz="2800" dirty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激趣诱思</a:t>
            </a:r>
            <a:r>
              <a:rPr lang="en-US" altLang="zh-CN" sz="2800" dirty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]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观察钟表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我们发现钟表上的时针每经过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12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小时运行一周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分针每经过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小时运行一周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分针、时针转动的周期分别是多少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219537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94495"/>
            <a:ext cx="192552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[</a:t>
            </a:r>
            <a:r>
              <a:rPr lang="zh-CN" altLang="zh-CN" sz="28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知识点拨</a:t>
            </a:r>
            <a:r>
              <a:rPr lang="en-US" altLang="zh-CN" sz="2800" smtClean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]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953381"/>
            <a:ext cx="11430000" cy="11701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知识点一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函数的周期性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周期函数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4" name="表格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84304073"/>
              </p:ext>
            </p:extLst>
          </p:nvPr>
        </p:nvGraphicFramePr>
        <p:xfrm>
          <a:off x="381000" y="2188349"/>
          <a:ext cx="11430000" cy="1730121"/>
        </p:xfrm>
        <a:graphic>
          <a:graphicData uri="http://schemas.openxmlformats.org/drawingml/2006/table">
            <a:tbl>
              <a:tblPr firstRow="1" firstCol="1" bandRow="1"/>
              <a:tblGrid>
                <a:gridCol w="923818"/>
                <a:gridCol w="10506182"/>
              </a:tblGrid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条件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宋体" panose="02010600030101010101" pitchFamily="2" charset="-122"/>
                          <a:sym typeface="阿里巴巴普惠体"/>
                        </a:rPr>
                        <a:t>①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函数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f(x)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的定义域为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D,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如果存在一个</a:t>
                      </a:r>
                      <a:r>
                        <a:rPr lang="zh-CN" sz="2800" u="sng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非零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常数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T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宋体" panose="02010600030101010101" pitchFamily="2" charset="-122"/>
                          <a:sym typeface="阿里巴巴普惠体"/>
                        </a:rPr>
                        <a:t>②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对每一个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x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宋体" panose="02010600030101010101" pitchFamily="2" charset="-122"/>
                          <a:sym typeface="阿里巴巴普惠体"/>
                        </a:rPr>
                        <a:t>∈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D,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都有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x+T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宋体" panose="02010600030101010101" pitchFamily="2" charset="-122"/>
                          <a:sym typeface="阿里巴巴普惠体"/>
                        </a:rPr>
                        <a:t>∈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D,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且</a:t>
                      </a:r>
                      <a:r>
                        <a:rPr lang="en-US" sz="2800" u="none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f(x+T)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=f(x)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结论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函数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f(x)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叫做周期函数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,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非零常数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T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叫做这个函数的周期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059708"/>
            <a:ext cx="2388795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最小正</a:t>
            </a:r>
            <a:r>
              <a:rPr lang="zh-CN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6" name="表格 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36858058"/>
              </p:ext>
            </p:extLst>
          </p:nvPr>
        </p:nvGraphicFramePr>
        <p:xfrm>
          <a:off x="381000" y="4680195"/>
          <a:ext cx="11430000" cy="1153414"/>
        </p:xfrm>
        <a:graphic>
          <a:graphicData uri="http://schemas.openxmlformats.org/drawingml/2006/table">
            <a:tbl>
              <a:tblPr firstRow="1" firstCol="1" bandRow="1"/>
              <a:tblGrid>
                <a:gridCol w="1057382"/>
                <a:gridCol w="10372618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条件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如果在周期函数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f(x)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的所有周期中存在一个最小的</a:t>
                      </a:r>
                      <a:r>
                        <a:rPr lang="zh-CN" sz="2800" u="sng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正数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结论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这个最小</a:t>
                      </a:r>
                      <a:r>
                        <a:rPr lang="zh-CN" sz="2800" u="sng">
                          <a:solidFill>
                            <a:srgbClr val="FF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正数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叫做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f(x)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的最小正周期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7151650" y="2311215"/>
            <a:ext cx="757746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02563" y="3021287"/>
            <a:ext cx="979979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302563" y="3400928"/>
            <a:ext cx="9799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067536" y="4804044"/>
            <a:ext cx="757746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30021" y="5446299"/>
            <a:ext cx="757746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06266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76900"/>
            <a:ext cx="11430000" cy="56462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名师点析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对周期函数与周期定义中的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取定义域内的每一个值时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要特别注意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每一个值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的要求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如果只是对某些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有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x+T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那么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不一定是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自变量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本身加的常数才是最小正周期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如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x+T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中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不是最小正周期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x+T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[2(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   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)]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才是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最小正周期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周期函数的周期不唯一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的最小正周期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kT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也是函数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并不是所有的周期函数都存在最小正周期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例如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对于常数函数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=c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所有非零实数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T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都是它的周期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而最小正数是不存在的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所以常数函数没有最小正周期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endParaRPr lang="zh-CN" altLang="en-US" sz="2800" dirty="0">
              <a:latin typeface="阿里巴巴普惠体"/>
              <a:ea typeface="微软雅黑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012478"/>
              </p:ext>
            </p:extLst>
          </p:nvPr>
        </p:nvGraphicFramePr>
        <p:xfrm>
          <a:off x="3964045" y="2835994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文档" r:id="rId3" imgW="399226" imgH="398969" progId="Word.Document.12">
                  <p:embed/>
                </p:oleObj>
              </mc:Choice>
              <mc:Fallback>
                <p:oleObj name="文档" r:id="rId3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4045" y="2835994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198351"/>
              </p:ext>
            </p:extLst>
          </p:nvPr>
        </p:nvGraphicFramePr>
        <p:xfrm>
          <a:off x="6255182" y="2835994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文档" r:id="rId5" imgW="399226" imgH="398969" progId="Word.Document.12">
                  <p:embed/>
                </p:oleObj>
              </mc:Choice>
              <mc:Fallback>
                <p:oleObj name="文档" r:id="rId5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5182" y="2835994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681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763240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微思考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周期函数的周期是否唯一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?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提示 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不唯一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x+T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x+nT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n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42280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9279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微判断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的定义域可以为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[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b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](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b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所有的函数都有最小正周期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　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(1)×</a:t>
            </a:r>
            <a:r>
              <a:rPr lang="zh-CN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(2)×</a:t>
            </a:r>
            <a:r>
              <a:rPr lang="zh-CN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(3)×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微练习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若函数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是以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为周期的函数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(5)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　　　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 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解析 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由已知得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(5)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785475"/>
              </p:ext>
            </p:extLst>
          </p:nvPr>
        </p:nvGraphicFramePr>
        <p:xfrm>
          <a:off x="458424" y="2265916"/>
          <a:ext cx="11275153" cy="66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文档" r:id="rId3" imgW="4510061" imgH="266300" progId="Word.Document.12">
                  <p:embed/>
                </p:oleObj>
              </mc:Choice>
              <mc:Fallback>
                <p:oleObj name="文档" r:id="rId3" imgW="4510061" imgH="2663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265916"/>
                        <a:ext cx="11275153" cy="66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244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33459"/>
            <a:ext cx="795442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知识点二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正弦函数、余弦函数的周期性和</a:t>
            </a:r>
            <a:r>
              <a:rPr lang="zh-CN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奇偶性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表格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8920982"/>
              </p:ext>
            </p:extLst>
          </p:nvPr>
        </p:nvGraphicFramePr>
        <p:xfrm>
          <a:off x="381000" y="1285945"/>
          <a:ext cx="11429999" cy="2313814"/>
        </p:xfrm>
        <a:graphic>
          <a:graphicData uri="http://schemas.openxmlformats.org/drawingml/2006/table">
            <a:tbl>
              <a:tblPr firstRow="1" firstCol="1" bandRow="1"/>
              <a:tblGrid>
                <a:gridCol w="2280007"/>
                <a:gridCol w="1728051"/>
                <a:gridCol w="7421941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函数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y=sin 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y=cos x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周期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2kπ(k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宋体" panose="02010600030101010101" pitchFamily="2" charset="-122"/>
                          <a:sym typeface="阿里巴巴普惠体"/>
                        </a:rPr>
                        <a:t>∈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Z</a:t>
                      </a: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且</a:t>
                      </a: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k≠0)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最小正周期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2π</a:t>
                      </a:r>
                      <a:endParaRPr lang="zh-CN" sz="2800">
                        <a:solidFill>
                          <a:srgbClr val="000000"/>
                        </a:solidFill>
                        <a:effectLst/>
                        <a:latin typeface="阿里巴巴普惠体"/>
                        <a:ea typeface="微软雅黑"/>
                        <a:cs typeface="Times New Roman" panose="02020603050405020304" pitchFamily="18" charset="0"/>
                        <a:sym typeface="阿里巴巴普惠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奇偶性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奇函数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88085" algn="l"/>
                          <a:tab pos="2163445" algn="l"/>
                          <a:tab pos="3142615" algn="l"/>
                          <a:tab pos="4190365" algn="l"/>
                        </a:tabLst>
                      </a:pPr>
                      <a:r>
                        <a:rPr lang="zh-CN" sz="2800">
                          <a:solidFill>
                            <a:srgbClr val="000000"/>
                          </a:solidFill>
                          <a:effectLst/>
                          <a:latin typeface="阿里巴巴普惠体"/>
                          <a:ea typeface="微软雅黑"/>
                          <a:cs typeface="Times New Roman" panose="02020603050405020304" pitchFamily="18" charset="0"/>
                          <a:sym typeface="阿里巴巴普惠体"/>
                        </a:rPr>
                        <a:t>偶函数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884194"/>
            <a:ext cx="11522676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名师点析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)(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其中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的最小正周期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     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)(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其中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ω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φ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为常数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ω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的最小正周期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T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=     .</a:t>
            </a:r>
            <a:endParaRPr lang="zh-CN" altLang="en-US" sz="2800" dirty="0">
              <a:latin typeface="阿里巴巴普惠体"/>
              <a:ea typeface="微软雅黑"/>
              <a:sym typeface="阿里巴巴普惠体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011912"/>
              </p:ext>
            </p:extLst>
          </p:nvPr>
        </p:nvGraphicFramePr>
        <p:xfrm>
          <a:off x="10765538" y="4341006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文档" r:id="rId3" imgW="399226" imgH="398969" progId="Word.Document.12">
                  <p:embed/>
                </p:oleObj>
              </mc:Choice>
              <mc:Fallback>
                <p:oleObj name="文档" r:id="rId3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5538" y="4341006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980852"/>
              </p:ext>
            </p:extLst>
          </p:nvPr>
        </p:nvGraphicFramePr>
        <p:xfrm>
          <a:off x="10765538" y="4957901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文档" r:id="rId5" imgW="399226" imgH="398969" progId="Word.Document.12">
                  <p:embed/>
                </p:oleObj>
              </mc:Choice>
              <mc:Fallback>
                <p:oleObj name="文档" r:id="rId5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5538" y="4957901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35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75429"/>
            <a:ext cx="11430000" cy="4573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微练习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i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   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周期为</a:t>
            </a:r>
            <a:r>
              <a:rPr lang="en-US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的奇函数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周期为</a:t>
            </a:r>
            <a:r>
              <a:rPr lang="en-US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的偶函数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的奇函数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的偶函数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D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</a:pPr>
            <a:r>
              <a:rPr lang="zh-CN" altLang="zh-CN" sz="2800">
                <a:solidFill>
                  <a:srgbClr val="4040C8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解析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i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  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454895"/>
              </p:ext>
            </p:extLst>
          </p:nvPr>
        </p:nvGraphicFramePr>
        <p:xfrm>
          <a:off x="2578148" y="1180472"/>
          <a:ext cx="298551" cy="60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文档" r:id="rId3" imgW="134970" imgH="276728" progId="Word.Document.12">
                  <p:embed/>
                </p:oleObj>
              </mc:Choice>
              <mc:Fallback>
                <p:oleObj name="文档" r:id="rId3" imgW="134970" imgH="27672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48" y="1180472"/>
                        <a:ext cx="298551" cy="609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450413"/>
              </p:ext>
            </p:extLst>
          </p:nvPr>
        </p:nvGraphicFramePr>
        <p:xfrm>
          <a:off x="2727423" y="4539000"/>
          <a:ext cx="298551" cy="60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文档" r:id="rId5" imgW="134970" imgH="276728" progId="Word.Document.12">
                  <p:embed/>
                </p:oleObj>
              </mc:Choice>
              <mc:Fallback>
                <p:oleObj name="文档" r:id="rId5" imgW="134970" imgH="27672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423" y="4539000"/>
                        <a:ext cx="298551" cy="609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890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940601" y="2636520"/>
            <a:ext cx="1105802" cy="815646"/>
            <a:chOff x="-1604504" y="2147667"/>
            <a:chExt cx="3687215" cy="2719712"/>
          </a:xfrm>
        </p:grpSpPr>
        <p:cxnSp>
          <p:nvCxnSpPr>
            <p:cNvPr id="14" name="直接连接符 13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16" name="组合 15"/>
          <p:cNvGrpSpPr/>
          <p:nvPr/>
        </p:nvGrpSpPr>
        <p:grpSpPr>
          <a:xfrm flipH="1" flipV="1">
            <a:off x="8879736" y="2665586"/>
            <a:ext cx="1105803" cy="815646"/>
            <a:chOff x="-1604504" y="2147667"/>
            <a:chExt cx="3687215" cy="2719712"/>
          </a:xfrm>
        </p:grpSpPr>
        <p:cxnSp>
          <p:nvCxnSpPr>
            <p:cNvPr id="17" name="直接连接符 1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9" name="文本框 18"/>
          <p:cNvSpPr txBox="1"/>
          <p:nvPr/>
        </p:nvSpPr>
        <p:spPr>
          <a:xfrm>
            <a:off x="2918208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课堂篇  探究学习</a:t>
            </a:r>
            <a:endParaRPr lang="zh-CN" altLang="en-US" sz="5400" b="1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810998" cy="433754"/>
            <a:chOff x="381000" y="205656"/>
            <a:chExt cx="1181099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810998" cy="433754"/>
              <a:chOff x="3048000" y="2286000"/>
              <a:chExt cx="5015133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694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803112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三角函数的周期问题及简单应用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52975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例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求下列三角函数的周期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4)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269376"/>
              </p:ext>
            </p:extLst>
          </p:nvPr>
        </p:nvGraphicFramePr>
        <p:xfrm>
          <a:off x="458424" y="3256380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文档" r:id="rId3" imgW="4510061" imgH="396806" progId="Word.Document.12">
                  <p:embed/>
                </p:oleObj>
              </mc:Choice>
              <mc:Fallback>
                <p:oleObj name="文档" r:id="rId3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3256380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2690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(1)3sin(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2π)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由周期函数的定义知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2π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(2)cos 2(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cos(2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2π)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由周期函数的定义知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003352"/>
              </p:ext>
            </p:extLst>
          </p:nvPr>
        </p:nvGraphicFramePr>
        <p:xfrm>
          <a:off x="458424" y="2739428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文档" r:id="rId3" imgW="4510061" imgH="793252" progId="Word.Document.12">
                  <p:embed/>
                </p:oleObj>
              </mc:Choice>
              <mc:Fallback>
                <p:oleObj name="文档" r:id="rId3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739428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80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54247"/>
            <a:ext cx="714330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(4)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x|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的图象如图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实线部分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所示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pic>
        <p:nvPicPr>
          <p:cNvPr id="3" name="A194.eps" descr="id:2147515666;FounderCES"/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2578" y="824541"/>
            <a:ext cx="7806844" cy="2481616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3125336"/>
            <a:ext cx="5317481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由图象可知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x|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en-US" altLang="zh-CN" sz="2800" i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81000" y="377782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反思感悟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求函数最小正周期的常用方法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求三角函数的最小周期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一般有两种方法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:(1)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公式法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即先将函数化为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y=A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+B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或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y=A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cos(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+B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的形式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再利用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en-US" altLang="zh-CN" sz="2800" i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      </a:t>
            </a:r>
            <a:r>
              <a:rPr lang="zh-CN" altLang="zh-CN" sz="280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求得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;(2)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图象法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利用变换的方法或作出函数的图象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通过观察得到最小正周期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786016"/>
              </p:ext>
            </p:extLst>
          </p:nvPr>
        </p:nvGraphicFramePr>
        <p:xfrm>
          <a:off x="8529174" y="4820239"/>
          <a:ext cx="7858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174" y="4820239"/>
                        <a:ext cx="785812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314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1042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变式训练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求下列函数的最小正周期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smtClean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|x|.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910332"/>
              </p:ext>
            </p:extLst>
          </p:nvPr>
        </p:nvGraphicFramePr>
        <p:xfrm>
          <a:off x="458424" y="1280893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文档" r:id="rId3" imgW="4510061" imgH="396806" progId="Word.Document.12">
                  <p:embed/>
                </p:oleObj>
              </mc:Choice>
              <mc:Fallback>
                <p:oleObj name="文档" r:id="rId3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280893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069060"/>
              </p:ext>
            </p:extLst>
          </p:nvPr>
        </p:nvGraphicFramePr>
        <p:xfrm>
          <a:off x="458424" y="3074287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文档" r:id="rId5" imgW="4510061" imgH="396806" progId="Word.Document.12">
                  <p:embed/>
                </p:oleObj>
              </mc:Choice>
              <mc:Fallback>
                <p:oleObj name="文档" r:id="rId5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074287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879545"/>
            <a:ext cx="11430000" cy="11701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因为函数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为偶函数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|x|=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从而函数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|x|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的图象一样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因此最小正周期相同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2π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92977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149939"/>
            <a:ext cx="11810998" cy="433754"/>
            <a:chOff x="381000" y="205656"/>
            <a:chExt cx="1181099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810998" cy="433754"/>
              <a:chOff x="3048000" y="2286000"/>
              <a:chExt cx="5015133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694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803112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三角函数的奇偶性及其应用</a:t>
                </a:r>
                <a:endParaRPr lang="en-US" altLang="zh-CN" sz="2800" b="1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604935"/>
            <a:ext cx="11430000" cy="11737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例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判断下列函数的奇偶性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x|+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918604"/>
              </p:ext>
            </p:extLst>
          </p:nvPr>
        </p:nvGraphicFramePr>
        <p:xfrm>
          <a:off x="458424" y="2757302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文档" r:id="rId3" imgW="4510061" imgH="793252" progId="Word.Document.12">
                  <p:embed/>
                </p:oleObj>
              </mc:Choice>
              <mc:Fallback>
                <p:oleObj name="文档" r:id="rId3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757302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75710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x|+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的定义域为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∵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|+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=|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x|+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∴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是偶函数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609719"/>
              </p:ext>
            </p:extLst>
          </p:nvPr>
        </p:nvGraphicFramePr>
        <p:xfrm>
          <a:off x="458424" y="2931455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文档" r:id="rId3" imgW="4510061" imgH="1190059" progId="Word.Document.12">
                  <p:embed/>
                </p:oleObj>
              </mc:Choice>
              <mc:Fallback>
                <p:oleObj name="文档" r:id="rId3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931455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353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832363"/>
              </p:ext>
            </p:extLst>
          </p:nvPr>
        </p:nvGraphicFramePr>
        <p:xfrm>
          <a:off x="458424" y="1572419"/>
          <a:ext cx="11275153" cy="396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文档" r:id="rId3" imgW="4510061" imgH="1586865" progId="Word.Document.12">
                  <p:embed/>
                </p:oleObj>
              </mc:Choice>
              <mc:Fallback>
                <p:oleObj name="文档" r:id="rId3" imgW="4510061" imgH="15868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572419"/>
                        <a:ext cx="11275153" cy="396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513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59225"/>
            <a:ext cx="11430000" cy="52198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反思感悟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判断函数奇偶性的常用方法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定义法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即从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的解析式中拼凑出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的解析式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再看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是否成立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图象法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即作出函数的图象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由图象的对称性确定其奇偶性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验证法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即验证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0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是否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成立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此法通常用于函数是非奇非偶函数的情形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判断函数奇偶性时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必须先判断其定义域是否关于原点对称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如果是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再验证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是否等于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进而再判断函数的奇偶性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如果不是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那么该函数是非奇非偶函数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999386"/>
              </p:ext>
            </p:extLst>
          </p:nvPr>
        </p:nvGraphicFramePr>
        <p:xfrm>
          <a:off x="5941811" y="2983918"/>
          <a:ext cx="62071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文档" r:id="rId3" imgW="2751332" imgH="399690" progId="Word.Document.12">
                  <p:embed/>
                </p:oleObj>
              </mc:Choice>
              <mc:Fallback>
                <p:oleObj name="文档" r:id="rId3" imgW="2751332" imgH="3996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1811" y="2983918"/>
                        <a:ext cx="6207125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982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89688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变式训练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判断下列函数的奇偶性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(π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);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的定义域为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(π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x=-f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为奇函数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的定义域为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sin[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)]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为偶函数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13556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810998" cy="433754"/>
            <a:chOff x="381000" y="205656"/>
            <a:chExt cx="1181099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810998" cy="433754"/>
              <a:chOff x="3048000" y="2286000"/>
              <a:chExt cx="5015133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694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探究三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803112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函数奇偶性、周期性的综合问题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360562"/>
              </p:ext>
            </p:extLst>
          </p:nvPr>
        </p:nvGraphicFramePr>
        <p:xfrm>
          <a:off x="458424" y="929194"/>
          <a:ext cx="11275153" cy="247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文档" r:id="rId3" imgW="4510061" imgH="991836" progId="Word.Document.12">
                  <p:embed/>
                </p:oleObj>
              </mc:Choice>
              <mc:Fallback>
                <p:oleObj name="文档" r:id="rId3" imgW="4510061" imgH="991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929194"/>
                        <a:ext cx="11275153" cy="2479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720610"/>
              </p:ext>
            </p:extLst>
          </p:nvPr>
        </p:nvGraphicFramePr>
        <p:xfrm>
          <a:off x="458424" y="3433429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5" imgW="4510061" imgH="793252" progId="Word.Document.12">
                  <p:embed/>
                </p:oleObj>
              </mc:Choice>
              <mc:Fallback>
                <p:oleObj name="文档" r:id="rId5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433429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57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127331"/>
              </p:ext>
            </p:extLst>
          </p:nvPr>
        </p:nvGraphicFramePr>
        <p:xfrm>
          <a:off x="458424" y="311545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文档" r:id="rId3" imgW="4510061" imgH="1190059" progId="Word.Document.12">
                  <p:embed/>
                </p:oleObj>
              </mc:Choice>
              <mc:Fallback>
                <p:oleObj name="文档" r:id="rId3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311545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17913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3),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故函数是周期为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的周期函数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又因为函数是奇函数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(2 019)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(6×337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(3)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0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6237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682144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反思感悟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解决三角函数的奇偶性与周期性综合问题的方法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利用函数的周期性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可以把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x+nT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n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的函数值转化为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的函数值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利用奇偶性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可以找到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与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的函数值的关系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从而可解决求值问题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推得函数周期的若干形式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x+t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则函数周期为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x+t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则函数周期为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423345"/>
              </p:ext>
            </p:extLst>
          </p:nvPr>
        </p:nvGraphicFramePr>
        <p:xfrm>
          <a:off x="458424" y="3951447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文档" r:id="rId3" imgW="4510061" imgH="793252" progId="Word.Document.12">
                  <p:embed/>
                </p:oleObj>
              </mc:Choice>
              <mc:Fallback>
                <p:oleObj name="文档" r:id="rId3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3951447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813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975169"/>
              </p:ext>
            </p:extLst>
          </p:nvPr>
        </p:nvGraphicFramePr>
        <p:xfrm>
          <a:off x="458424" y="982215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文档" r:id="rId3" imgW="4510061" imgH="793252" progId="Word.Document.12">
                  <p:embed/>
                </p:oleObj>
              </mc:Choice>
              <mc:Fallback>
                <p:oleObj name="文档" r:id="rId3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982215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310733"/>
            <a:ext cx="129554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0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33956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442922"/>
              </p:ext>
            </p:extLst>
          </p:nvPr>
        </p:nvGraphicFramePr>
        <p:xfrm>
          <a:off x="458424" y="413407"/>
          <a:ext cx="11275153" cy="5950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文档" r:id="rId3" imgW="4510061" imgH="2380117" progId="Word.Document.12">
                  <p:embed/>
                </p:oleObj>
              </mc:Choice>
              <mc:Fallback>
                <p:oleObj name="文档" r:id="rId3" imgW="4510061" imgH="23801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413407"/>
                        <a:ext cx="11275153" cy="5950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751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149939"/>
            <a:ext cx="10685217" cy="433754"/>
            <a:chOff x="381000" y="205656"/>
            <a:chExt cx="10685217" cy="433754"/>
          </a:xfrm>
        </p:grpSpPr>
        <p:sp>
          <p:nvSpPr>
            <p:cNvPr id="10" name="矩形 9"/>
            <p:cNvSpPr/>
            <p:nvPr/>
          </p:nvSpPr>
          <p:spPr>
            <a:xfrm>
              <a:off x="874159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0685217" cy="433754"/>
              <a:chOff x="3048000" y="2286000"/>
              <a:chExt cx="4537109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209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325088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素养形成</a:t>
                </a:r>
                <a:endParaRPr lang="en-US" altLang="zh-CN" sz="2800" b="1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087882"/>
            <a:ext cx="4945585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已知三角函数的奇偶性求</a:t>
            </a:r>
            <a:r>
              <a:rPr lang="zh-CN" altLang="zh-CN" sz="2800" b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参数</a:t>
            </a:r>
            <a:r>
              <a:rPr lang="en-US" altLang="zh-CN" sz="2800" b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260114"/>
              </p:ext>
            </p:extLst>
          </p:nvPr>
        </p:nvGraphicFramePr>
        <p:xfrm>
          <a:off x="458424" y="1740368"/>
          <a:ext cx="11275153" cy="347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文档" r:id="rId3" imgW="4510061" imgH="1388282" progId="Word.Document.12">
                  <p:embed/>
                </p:oleObj>
              </mc:Choice>
              <mc:Fallback>
                <p:oleObj name="文档" r:id="rId3" imgW="4510061" imgH="13882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740368"/>
                        <a:ext cx="11275153" cy="3470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519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523432"/>
              </p:ext>
            </p:extLst>
          </p:nvPr>
        </p:nvGraphicFramePr>
        <p:xfrm>
          <a:off x="458424" y="1308138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文档" r:id="rId3" imgW="4510061" imgH="1190059" progId="Word.Document.12">
                  <p:embed/>
                </p:oleObj>
              </mc:Choice>
              <mc:Fallback>
                <p:oleObj name="文档" r:id="rId3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308138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81000" y="4138734"/>
            <a:ext cx="1327608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206992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415055"/>
              </p:ext>
            </p:extLst>
          </p:nvPr>
        </p:nvGraphicFramePr>
        <p:xfrm>
          <a:off x="458424" y="2068426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文档" r:id="rId3" imgW="4510061" imgH="1190059" progId="Word.Document.12">
                  <p:embed/>
                </p:oleObj>
              </mc:Choice>
              <mc:Fallback>
                <p:oleObj name="文档" r:id="rId3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068426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4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524348"/>
              </p:ext>
            </p:extLst>
          </p:nvPr>
        </p:nvGraphicFramePr>
        <p:xfrm>
          <a:off x="458424" y="636271"/>
          <a:ext cx="11275153" cy="446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文档" r:id="rId3" imgW="4510061" imgH="1785088" progId="Word.Document.12">
                  <p:embed/>
                </p:oleObj>
              </mc:Choice>
              <mc:Fallback>
                <p:oleObj name="文档" r:id="rId3" imgW="4510061" imgH="17850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636271"/>
                        <a:ext cx="11275153" cy="4462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5098991"/>
            <a:ext cx="130356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62237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55896"/>
            <a:ext cx="11430000" cy="30654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方法点睛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与三角函数奇偶性有关的结论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要使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为奇函数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);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要使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为偶函数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   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);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要使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为奇函数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   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);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要使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i="1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x+</a:t>
            </a:r>
            <a:r>
              <a:rPr lang="en-US" altLang="zh-CN" sz="2800" i="1" dirty="0" err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ω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为偶函数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φ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=k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Z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968679"/>
              </p:ext>
            </p:extLst>
          </p:nvPr>
        </p:nvGraphicFramePr>
        <p:xfrm>
          <a:off x="8167291" y="3038547"/>
          <a:ext cx="298551" cy="60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文档" r:id="rId3" imgW="134970" imgH="276728" progId="Word.Document.12">
                  <p:embed/>
                </p:oleObj>
              </mc:Choice>
              <mc:Fallback>
                <p:oleObj name="文档" r:id="rId3" imgW="134970" imgH="27672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7291" y="3038547"/>
                        <a:ext cx="298551" cy="609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651201"/>
              </p:ext>
            </p:extLst>
          </p:nvPr>
        </p:nvGraphicFramePr>
        <p:xfrm>
          <a:off x="8198113" y="3732615"/>
          <a:ext cx="298551" cy="60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文档" r:id="rId5" imgW="134970" imgH="276728" progId="Word.Document.12">
                  <p:embed/>
                </p:oleObj>
              </mc:Choice>
              <mc:Fallback>
                <p:oleObj name="文档" r:id="rId5" imgW="134970" imgH="27672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8113" y="3732615"/>
                        <a:ext cx="298551" cy="6099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85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149939"/>
            <a:ext cx="10685217" cy="433754"/>
            <a:chOff x="381000" y="205656"/>
            <a:chExt cx="10685217" cy="433754"/>
          </a:xfrm>
        </p:grpSpPr>
        <p:sp>
          <p:nvSpPr>
            <p:cNvPr id="10" name="矩形 9"/>
            <p:cNvSpPr/>
            <p:nvPr/>
          </p:nvSpPr>
          <p:spPr>
            <a:xfrm>
              <a:off x="874159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0685217" cy="433754"/>
              <a:chOff x="3048000" y="2286000"/>
              <a:chExt cx="4537109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209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325088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</a:t>
                </a:r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当堂检测</a:t>
                </a:r>
                <a:endParaRPr lang="en-US" altLang="zh-CN" sz="2800" b="1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62790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的奇偶性是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奇函数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偶函数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既是奇函数又是偶函数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非奇非偶函数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解析 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因为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x=-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所以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为奇函数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22732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545929"/>
              </p:ext>
            </p:extLst>
          </p:nvPr>
        </p:nvGraphicFramePr>
        <p:xfrm>
          <a:off x="458424" y="1074683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文档" r:id="rId3" imgW="4510061" imgH="793252" progId="Word.Document.12">
                  <p:embed/>
                </p:oleObj>
              </mc:Choice>
              <mc:Fallback>
                <p:oleObj name="文档" r:id="rId3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074683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979076"/>
            <a:ext cx="130356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617152"/>
              </p:ext>
            </p:extLst>
          </p:nvPr>
        </p:nvGraphicFramePr>
        <p:xfrm>
          <a:off x="458424" y="3620676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文档" r:id="rId5" imgW="4510061" imgH="793252" progId="Word.Document.12">
                  <p:embed/>
                </p:oleObj>
              </mc:Choice>
              <mc:Fallback>
                <p:oleObj name="文档" r:id="rId5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3620676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267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468507"/>
              </p:ext>
            </p:extLst>
          </p:nvPr>
        </p:nvGraphicFramePr>
        <p:xfrm>
          <a:off x="458424" y="943515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文档" r:id="rId3" imgW="4510061" imgH="396806" progId="Word.Document.12">
                  <p:embed/>
                </p:oleObj>
              </mc:Choice>
              <mc:Fallback>
                <p:oleObj name="文档" r:id="rId3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943515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1771571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最小正周期为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B.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最小正周期为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的偶函数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最小正周期为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D.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最小正周期为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π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的偶函数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3591064"/>
              </p:ext>
            </p:extLst>
          </p:nvPr>
        </p:nvGraphicFramePr>
        <p:xfrm>
          <a:off x="458424" y="4572964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文档" r:id="rId5" imgW="4510061" imgH="396806" progId="Word.Document.12">
                  <p:embed/>
                </p:oleObj>
              </mc:Choice>
              <mc:Fallback>
                <p:oleObj name="文档" r:id="rId5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4572964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332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6889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4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已知函数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是定义在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上的周期为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的奇函数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(5)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zh-CN" altLang="zh-CN" sz="2800" i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　　　　　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 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解析 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由于函数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x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是定义在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上的周期为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的奇函数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(5)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(5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6)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又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f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(5)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244814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211972"/>
              </p:ext>
            </p:extLst>
          </p:nvPr>
        </p:nvGraphicFramePr>
        <p:xfrm>
          <a:off x="458424" y="881871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8" name="文档" r:id="rId3" imgW="4510061" imgH="396806" progId="Word.Document.12">
                  <p:embed/>
                </p:oleObj>
              </mc:Choice>
              <mc:Fallback>
                <p:oleObj name="文档" r:id="rId3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881871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430452"/>
              </p:ext>
            </p:extLst>
          </p:nvPr>
        </p:nvGraphicFramePr>
        <p:xfrm>
          <a:off x="458424" y="1775723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name="文档" r:id="rId5" imgW="4510061" imgH="396806" progId="Word.Document.12">
                  <p:embed/>
                </p:oleObj>
              </mc:Choice>
              <mc:Fallback>
                <p:oleObj name="文档" r:id="rId5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8424" y="1775723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21905"/>
              </p:ext>
            </p:extLst>
          </p:nvPr>
        </p:nvGraphicFramePr>
        <p:xfrm>
          <a:off x="458424" y="2597668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0" name="文档" r:id="rId7" imgW="4510061" imgH="1190059" progId="Word.Document.12">
                  <p:embed/>
                </p:oleObj>
              </mc:Choice>
              <mc:Fallback>
                <p:oleObj name="文档" r:id="rId7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597668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86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906806"/>
              </p:ext>
            </p:extLst>
          </p:nvPr>
        </p:nvGraphicFramePr>
        <p:xfrm>
          <a:off x="458424" y="2316205"/>
          <a:ext cx="11275153" cy="2479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文档" r:id="rId3" imgW="4510061" imgH="991836" progId="Word.Document.12">
                  <p:embed/>
                </p:oleObj>
              </mc:Choice>
              <mc:Fallback>
                <p:oleObj name="文档" r:id="rId3" imgW="4510061" imgH="9918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2316205"/>
                        <a:ext cx="11275153" cy="2479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62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406590"/>
              </p:ext>
            </p:extLst>
          </p:nvPr>
        </p:nvGraphicFramePr>
        <p:xfrm>
          <a:off x="458424" y="1076861"/>
          <a:ext cx="11275153" cy="4958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文档" r:id="rId3" imgW="4510061" imgH="1983311" progId="Word.Document.12">
                  <p:embed/>
                </p:oleObj>
              </mc:Choice>
              <mc:Fallback>
                <p:oleObj name="文档" r:id="rId3" imgW="4510061" imgH="1983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24" y="1076861"/>
                        <a:ext cx="11275153" cy="4958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4273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55463D"/>
                </a:solidFill>
                <a:latin typeface="阿里巴巴普惠体"/>
                <a:ea typeface="微软雅黑"/>
                <a:sym typeface="阿里巴巴普惠体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64223" y="4392141"/>
            <a:ext cx="9663556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10" y="3097350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50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9476" y="356250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988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模板网-WWW.1PPT.COM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理科模板.potx" id="{05826FBC-0476-4FCB-B977-CA3F865E7FE8}" vid="{B144E781-9AB7-495A-AD7E-C26B852AA6C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119</TotalTime>
  <Words>2358</Words>
  <Application>Microsoft Office PowerPoint</Application>
  <PresentationFormat>自定义</PresentationFormat>
  <Paragraphs>183</Paragraphs>
  <Slides>40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3" baseType="lpstr">
      <vt:lpstr>第一PPT模板网-WWW.1PPT.COM</vt:lpstr>
      <vt:lpstr>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123</cp:lastModifiedBy>
  <cp:revision>59</cp:revision>
  <dcterms:created xsi:type="dcterms:W3CDTF">2020-12-30T07:17:36Z</dcterms:created>
  <dcterms:modified xsi:type="dcterms:W3CDTF">2025-07-21T05:33:04Z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