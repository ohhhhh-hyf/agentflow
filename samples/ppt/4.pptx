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46"/>
  </p:notesMasterIdLst>
  <p:sldIdLst>
    <p:sldId id="677" r:id="rId3"/>
    <p:sldId id="488" r:id="rId4"/>
    <p:sldId id="703" r:id="rId5"/>
    <p:sldId id="711" r:id="rId6"/>
    <p:sldId id="392" r:id="rId7"/>
    <p:sldId id="704" r:id="rId8"/>
    <p:sldId id="710" r:id="rId9"/>
    <p:sldId id="713" r:id="rId10"/>
    <p:sldId id="714" r:id="rId11"/>
    <p:sldId id="715" r:id="rId12"/>
    <p:sldId id="716" r:id="rId13"/>
    <p:sldId id="717" r:id="rId14"/>
    <p:sldId id="718" r:id="rId15"/>
    <p:sldId id="407" r:id="rId16"/>
    <p:sldId id="394" r:id="rId17"/>
    <p:sldId id="719" r:id="rId18"/>
    <p:sldId id="720" r:id="rId19"/>
    <p:sldId id="721" r:id="rId20"/>
    <p:sldId id="723" r:id="rId21"/>
    <p:sldId id="724" r:id="rId22"/>
    <p:sldId id="722" r:id="rId23"/>
    <p:sldId id="402" r:id="rId24"/>
    <p:sldId id="725" r:id="rId25"/>
    <p:sldId id="726" r:id="rId26"/>
    <p:sldId id="727" r:id="rId27"/>
    <p:sldId id="728" r:id="rId28"/>
    <p:sldId id="729" r:id="rId29"/>
    <p:sldId id="730" r:id="rId30"/>
    <p:sldId id="705" r:id="rId31"/>
    <p:sldId id="733" r:id="rId32"/>
    <p:sldId id="708" r:id="rId33"/>
    <p:sldId id="734" r:id="rId34"/>
    <p:sldId id="735" r:id="rId35"/>
    <p:sldId id="736" r:id="rId36"/>
    <p:sldId id="737" r:id="rId37"/>
    <p:sldId id="709" r:id="rId38"/>
    <p:sldId id="738" r:id="rId39"/>
    <p:sldId id="739" r:id="rId40"/>
    <p:sldId id="740" r:id="rId41"/>
    <p:sldId id="741" r:id="rId42"/>
    <p:sldId id="742" r:id="rId43"/>
    <p:sldId id="490" r:id="rId44"/>
    <p:sldId id="743"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68">
          <p15:clr>
            <a:srgbClr val="A4A3A4"/>
          </p15:clr>
        </p15:guide>
        <p15:guide id="2" pos="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C8"/>
    <a:srgbClr val="464646"/>
    <a:srgbClr val="DC5B3E"/>
    <a:srgbClr val="7088DB"/>
    <a:srgbClr val="CF5B1B"/>
    <a:srgbClr val="38425D"/>
    <a:srgbClr val="4472C4"/>
    <a:srgbClr val="DFF0F5"/>
    <a:srgbClr val="159470"/>
    <a:srgbClr val="1573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6" d="100"/>
          <a:sy n="116" d="100"/>
        </p:scale>
        <p:origin x="-390" y="-96"/>
      </p:cViewPr>
      <p:guideLst>
        <p:guide orient="horz" pos="368"/>
        <p:guide pos="98"/>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2025/7/21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5.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2" name="圆角矩形 1">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3" name="圆角矩形 2">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5" name="圆角矩形 4">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10" name="矩形 9"/>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11" name="矩形 10"/>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12" name="矩形 11"/>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7_标题幻灯片">
    <p:spTree>
      <p:nvGrpSpPr>
        <p:cNvPr id="1" name=""/>
        <p:cNvGrpSpPr/>
        <p:nvPr/>
      </p:nvGrpSpPr>
      <p:grpSpPr>
        <a:xfrm>
          <a:off x="0" y="0"/>
          <a:ext cx="0" cy="0"/>
          <a:chOff x="0" y="0"/>
          <a:chExt cx="0" cy="0"/>
        </a:xfrm>
      </p:grpSpPr>
      <p:sp>
        <p:nvSpPr>
          <p:cNvPr id="12" name="矩形 11"/>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
        <p:nvSpPr>
          <p:cNvPr id="11" name="矩形 10"/>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8_标题幻灯片">
    <p:spTree>
      <p:nvGrpSpPr>
        <p:cNvPr id="1" name=""/>
        <p:cNvGrpSpPr/>
        <p:nvPr/>
      </p:nvGrpSpPr>
      <p:grpSpPr>
        <a:xfrm>
          <a:off x="0" y="0"/>
          <a:ext cx="0" cy="0"/>
          <a:chOff x="0" y="0"/>
          <a:chExt cx="0" cy="0"/>
        </a:xfrm>
      </p:grpSpPr>
      <p:sp>
        <p:nvSpPr>
          <p:cNvPr id="13" name="矩形 12"/>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5_标题幻灯片">
    <p:spTree>
      <p:nvGrpSpPr>
        <p:cNvPr id="1" name=""/>
        <p:cNvGrpSpPr/>
        <p:nvPr/>
      </p:nvGrpSpPr>
      <p:grpSpPr>
        <a:xfrm>
          <a:off x="0" y="0"/>
          <a:ext cx="0" cy="0"/>
          <a:chOff x="0" y="0"/>
          <a:chExt cx="0" cy="0"/>
        </a:xfrm>
      </p:grpSpPr>
      <p:sp>
        <p:nvSpPr>
          <p:cNvPr id="12" name="矩形 11"/>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 name="矩形 9"/>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9" name="矩形 8"/>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9_标题幻灯片">
    <p:spTree>
      <p:nvGrpSpPr>
        <p:cNvPr id="1" name=""/>
        <p:cNvGrpSpPr/>
        <p:nvPr/>
      </p:nvGrpSpPr>
      <p:grpSpPr>
        <a:xfrm>
          <a:off x="0" y="0"/>
          <a:ext cx="0" cy="0"/>
          <a:chOff x="0" y="0"/>
          <a:chExt cx="0" cy="0"/>
        </a:xfrm>
      </p:grpSpPr>
      <p:sp>
        <p:nvSpPr>
          <p:cNvPr id="4" name="矩形 3"/>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85573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0_标题幻灯片">
    <p:spTree>
      <p:nvGrpSpPr>
        <p:cNvPr id="1" name=""/>
        <p:cNvGrpSpPr/>
        <p:nvPr/>
      </p:nvGrpSpPr>
      <p:grpSpPr>
        <a:xfrm>
          <a:off x="0" y="0"/>
          <a:ext cx="0" cy="0"/>
          <a:chOff x="0" y="0"/>
          <a:chExt cx="0" cy="0"/>
        </a:xfrm>
      </p:grpSpPr>
      <p:sp>
        <p:nvSpPr>
          <p:cNvPr id="4" name="矩形 3"/>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52971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1_标题幻灯片">
    <p:spTree>
      <p:nvGrpSpPr>
        <p:cNvPr id="1" name=""/>
        <p:cNvGrpSpPr/>
        <p:nvPr/>
      </p:nvGrpSpPr>
      <p:grpSpPr>
        <a:xfrm>
          <a:off x="0" y="0"/>
          <a:ext cx="0" cy="0"/>
          <a:chOff x="0" y="0"/>
          <a:chExt cx="0" cy="0"/>
        </a:xfrm>
      </p:grpSpPr>
      <p:sp>
        <p:nvSpPr>
          <p:cNvPr id="4" name="矩形 3"/>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180835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2_标题幻灯片">
    <p:spTree>
      <p:nvGrpSpPr>
        <p:cNvPr id="1" name=""/>
        <p:cNvGrpSpPr/>
        <p:nvPr/>
      </p:nvGrpSpPr>
      <p:grpSpPr>
        <a:xfrm>
          <a:off x="0" y="0"/>
          <a:ext cx="0" cy="0"/>
          <a:chOff x="0" y="0"/>
          <a:chExt cx="0" cy="0"/>
        </a:xfrm>
      </p:grpSpPr>
      <p:sp>
        <p:nvSpPr>
          <p:cNvPr id="4" name="矩形 3"/>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51699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3_标题幻灯片">
    <p:spTree>
      <p:nvGrpSpPr>
        <p:cNvPr id="1" name=""/>
        <p:cNvGrpSpPr/>
        <p:nvPr/>
      </p:nvGrpSpPr>
      <p:grpSpPr>
        <a:xfrm>
          <a:off x="0" y="0"/>
          <a:ext cx="0" cy="0"/>
          <a:chOff x="0" y="0"/>
          <a:chExt cx="0" cy="0"/>
        </a:xfrm>
      </p:grpSpPr>
      <p:sp>
        <p:nvSpPr>
          <p:cNvPr id="4" name="矩形 3"/>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639221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4_标题幻灯片">
    <p:spTree>
      <p:nvGrpSpPr>
        <p:cNvPr id="1" name=""/>
        <p:cNvGrpSpPr/>
        <p:nvPr/>
      </p:nvGrpSpPr>
      <p:grpSpPr>
        <a:xfrm>
          <a:off x="0" y="0"/>
          <a:ext cx="0" cy="0"/>
          <a:chOff x="0" y="0"/>
          <a:chExt cx="0" cy="0"/>
        </a:xfrm>
      </p:grpSpPr>
      <p:sp>
        <p:nvSpPr>
          <p:cNvPr id="4" name="矩形 3"/>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270342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5_标题幻灯片">
    <p:spTree>
      <p:nvGrpSpPr>
        <p:cNvPr id="1" name=""/>
        <p:cNvGrpSpPr/>
        <p:nvPr/>
      </p:nvGrpSpPr>
      <p:grpSpPr>
        <a:xfrm>
          <a:off x="0" y="0"/>
          <a:ext cx="0" cy="0"/>
          <a:chOff x="0" y="0"/>
          <a:chExt cx="0" cy="0"/>
        </a:xfrm>
      </p:grpSpPr>
      <p:sp>
        <p:nvSpPr>
          <p:cNvPr id="4" name="矩形 3"/>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165362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矩形 2"/>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020538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矩形 2"/>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93396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2591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607507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260461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18301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72570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724747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98313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7628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806842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03549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18531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443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61" r:id="rId2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648554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5.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23.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19.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package" Target="../embeddings/Microsoft_Word___3.docx"/><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23.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package" Target="../embeddings/Microsoft_Word___5.docx"/><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23.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22.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2.xml"/><Relationship Id="rId1" Type="http://schemas.openxmlformats.org/officeDocument/2006/relationships/vmlDrawing" Target="../drawings/vmlDrawing6.vml"/><Relationship Id="rId4" Type="http://schemas.openxmlformats.org/officeDocument/2006/relationships/image" Target="../media/image15.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8" Type="http://schemas.openxmlformats.org/officeDocument/2006/relationships/package" Target="../embeddings/Microsoft_Word___12.docx"/><Relationship Id="rId3" Type="http://schemas.openxmlformats.org/officeDocument/2006/relationships/package" Target="../embeddings/Microsoft_Word___9.docx"/><Relationship Id="rId7" Type="http://schemas.openxmlformats.org/officeDocument/2006/relationships/package" Target="../embeddings/Microsoft_Word___11.docx"/><Relationship Id="rId2" Type="http://schemas.openxmlformats.org/officeDocument/2006/relationships/slideLayout" Target="../slideLayouts/slideLayout23.xml"/><Relationship Id="rId1" Type="http://schemas.openxmlformats.org/officeDocument/2006/relationships/vmlDrawing" Target="../drawings/vmlDrawing7.vml"/><Relationship Id="rId6" Type="http://schemas.openxmlformats.org/officeDocument/2006/relationships/image" Target="../media/image17.emf"/><Relationship Id="rId5" Type="http://schemas.openxmlformats.org/officeDocument/2006/relationships/package" Target="../embeddings/Microsoft_Word___10.docx"/><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3.xml"/><Relationship Id="rId1" Type="http://schemas.openxmlformats.org/officeDocument/2006/relationships/vmlDrawing" Target="../drawings/vmlDrawing8.vm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2.xml"/><Relationship Id="rId1" Type="http://schemas.openxmlformats.org/officeDocument/2006/relationships/vmlDrawing" Target="../drawings/vmlDrawing9.vml"/><Relationship Id="rId4" Type="http://schemas.openxmlformats.org/officeDocument/2006/relationships/image" Target="../media/image19.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3.xml"/><Relationship Id="rId1" Type="http://schemas.openxmlformats.org/officeDocument/2006/relationships/vmlDrawing" Target="../drawings/vmlDrawing10.vml"/><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2.xml"/><Relationship Id="rId1" Type="http://schemas.openxmlformats.org/officeDocument/2006/relationships/vmlDrawing" Target="../drawings/vmlDrawing11.vml"/><Relationship Id="rId4" Type="http://schemas.openxmlformats.org/officeDocument/2006/relationships/image" Target="../media/image21.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2.xml"/><Relationship Id="rId1" Type="http://schemas.openxmlformats.org/officeDocument/2006/relationships/vmlDrawing" Target="../drawings/vmlDrawing12.vml"/><Relationship Id="rId4" Type="http://schemas.openxmlformats.org/officeDocument/2006/relationships/image" Target="../media/image22.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2.xml"/><Relationship Id="rId1" Type="http://schemas.openxmlformats.org/officeDocument/2006/relationships/vmlDrawing" Target="../drawings/vmlDrawing13.v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image" Target="../media/image25.emf"/><Relationship Id="rId5" Type="http://schemas.openxmlformats.org/officeDocument/2006/relationships/package" Target="../embeddings/Microsoft_Word___20.docx"/><Relationship Id="rId4" Type="http://schemas.openxmlformats.org/officeDocument/2006/relationships/image" Target="../media/image24.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2.xml"/><Relationship Id="rId1" Type="http://schemas.openxmlformats.org/officeDocument/2006/relationships/vmlDrawing" Target="../drawings/vmlDrawing15.vml"/><Relationship Id="rId4" Type="http://schemas.openxmlformats.org/officeDocument/2006/relationships/image" Target="../media/image26.e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0.xml"/><Relationship Id="rId1" Type="http://schemas.openxmlformats.org/officeDocument/2006/relationships/vmlDrawing" Target="../drawings/vmlDrawing16.vml"/><Relationship Id="rId6" Type="http://schemas.openxmlformats.org/officeDocument/2006/relationships/image" Target="../media/image28.emf"/><Relationship Id="rId5" Type="http://schemas.openxmlformats.org/officeDocument/2006/relationships/package" Target="../embeddings/Microsoft_Word___23.docx"/><Relationship Id="rId4" Type="http://schemas.openxmlformats.org/officeDocument/2006/relationships/image" Target="../media/image27.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19.xml"/><Relationship Id="rId1" Type="http://schemas.openxmlformats.org/officeDocument/2006/relationships/vmlDrawing" Target="../drawings/vmlDrawing17.vml"/><Relationship Id="rId6" Type="http://schemas.openxmlformats.org/officeDocument/2006/relationships/image" Target="../media/image30.emf"/><Relationship Id="rId5" Type="http://schemas.openxmlformats.org/officeDocument/2006/relationships/package" Target="../embeddings/Microsoft_Word___25.docx"/><Relationship Id="rId4" Type="http://schemas.openxmlformats.org/officeDocument/2006/relationships/image" Target="../media/image29.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3.xml"/><Relationship Id="rId1" Type="http://schemas.openxmlformats.org/officeDocument/2006/relationships/vmlDrawing" Target="../drawings/vmlDrawing18.vml"/><Relationship Id="rId4" Type="http://schemas.openxmlformats.org/officeDocument/2006/relationships/image" Target="../media/image31.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23.xml"/><Relationship Id="rId1" Type="http://schemas.openxmlformats.org/officeDocument/2006/relationships/vmlDrawing" Target="../drawings/vmlDrawing19.vml"/><Relationship Id="rId4" Type="http://schemas.openxmlformats.org/officeDocument/2006/relationships/image" Target="../media/image32.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3.xml"/><Relationship Id="rId1" Type="http://schemas.openxmlformats.org/officeDocument/2006/relationships/vmlDrawing" Target="../drawings/vmlDrawing20.vml"/><Relationship Id="rId4" Type="http://schemas.openxmlformats.org/officeDocument/2006/relationships/image" Target="../media/image33.emf"/></Relationships>
</file>

<file path=ppt/slides/_rels/slide3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package" Target="../embeddings/Microsoft_Word___29.docx"/><Relationship Id="rId7" Type="http://schemas.openxmlformats.org/officeDocument/2006/relationships/package" Target="../embeddings/Microsoft_Word___31.docx"/><Relationship Id="rId2" Type="http://schemas.openxmlformats.org/officeDocument/2006/relationships/slideLayout" Target="../slideLayouts/slideLayout19.xml"/><Relationship Id="rId1" Type="http://schemas.openxmlformats.org/officeDocument/2006/relationships/vmlDrawing" Target="../drawings/vmlDrawing21.vml"/><Relationship Id="rId6" Type="http://schemas.openxmlformats.org/officeDocument/2006/relationships/image" Target="../media/image35.emf"/><Relationship Id="rId5" Type="http://schemas.openxmlformats.org/officeDocument/2006/relationships/package" Target="../embeddings/Microsoft_Word___30.docx"/><Relationship Id="rId4" Type="http://schemas.openxmlformats.org/officeDocument/2006/relationships/image" Target="../media/image34.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18.xml"/><Relationship Id="rId1" Type="http://schemas.openxmlformats.org/officeDocument/2006/relationships/vmlDrawing" Target="../drawings/vmlDrawing22.vml"/><Relationship Id="rId6" Type="http://schemas.openxmlformats.org/officeDocument/2006/relationships/image" Target="../media/image38.emf"/><Relationship Id="rId5" Type="http://schemas.openxmlformats.org/officeDocument/2006/relationships/package" Target="../embeddings/Microsoft_Word___33.docx"/><Relationship Id="rId4" Type="http://schemas.openxmlformats.org/officeDocument/2006/relationships/image" Target="../media/image37.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18.xml"/><Relationship Id="rId1" Type="http://schemas.openxmlformats.org/officeDocument/2006/relationships/vmlDrawing" Target="../drawings/vmlDrawing23.vml"/><Relationship Id="rId6" Type="http://schemas.openxmlformats.org/officeDocument/2006/relationships/image" Target="../media/image40.emf"/><Relationship Id="rId5" Type="http://schemas.openxmlformats.org/officeDocument/2006/relationships/package" Target="../embeddings/Microsoft_Word___35.docx"/><Relationship Id="rId4" Type="http://schemas.openxmlformats.org/officeDocument/2006/relationships/image" Target="../media/image39.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18.xml"/><Relationship Id="rId1" Type="http://schemas.openxmlformats.org/officeDocument/2006/relationships/vmlDrawing" Target="../drawings/vmlDrawing24.vml"/><Relationship Id="rId6" Type="http://schemas.openxmlformats.org/officeDocument/2006/relationships/image" Target="../media/image42.emf"/><Relationship Id="rId5" Type="http://schemas.openxmlformats.org/officeDocument/2006/relationships/package" Target="../embeddings/Microsoft_Word___37.docx"/><Relationship Id="rId4" Type="http://schemas.openxmlformats.org/officeDocument/2006/relationships/image" Target="../media/image41.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package" Target="../embeddings/Microsoft_Word___38.docx"/><Relationship Id="rId7" Type="http://schemas.openxmlformats.org/officeDocument/2006/relationships/package" Target="../embeddings/Microsoft_Word___40.docx"/><Relationship Id="rId2" Type="http://schemas.openxmlformats.org/officeDocument/2006/relationships/slideLayout" Target="../slideLayouts/slideLayout19.xml"/><Relationship Id="rId1" Type="http://schemas.openxmlformats.org/officeDocument/2006/relationships/vmlDrawing" Target="../drawings/vmlDrawing25.vml"/><Relationship Id="rId6" Type="http://schemas.openxmlformats.org/officeDocument/2006/relationships/image" Target="../media/image44.emf"/><Relationship Id="rId5" Type="http://schemas.openxmlformats.org/officeDocument/2006/relationships/package" Target="../embeddings/Microsoft_Word___39.docx"/><Relationship Id="rId4" Type="http://schemas.openxmlformats.org/officeDocument/2006/relationships/image" Target="../media/image43.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__41.docx"/><Relationship Id="rId2" Type="http://schemas.openxmlformats.org/officeDocument/2006/relationships/slideLayout" Target="../slideLayouts/slideLayout21.xml"/><Relationship Id="rId1" Type="http://schemas.openxmlformats.org/officeDocument/2006/relationships/vmlDrawing" Target="../drawings/vmlDrawing26.vml"/><Relationship Id="rId6" Type="http://schemas.openxmlformats.org/officeDocument/2006/relationships/image" Target="../media/image47.emf"/><Relationship Id="rId5" Type="http://schemas.openxmlformats.org/officeDocument/2006/relationships/package" Target="../embeddings/Microsoft_Word___42.docx"/><Relationship Id="rId4" Type="http://schemas.openxmlformats.org/officeDocument/2006/relationships/image" Target="../media/image46.emf"/></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50.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2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5797" y="519978"/>
            <a:ext cx="4047903" cy="461665"/>
          </a:xfrm>
          <a:prstGeom prst="rect">
            <a:avLst/>
          </a:prstGeom>
        </p:spPr>
        <p:txBody>
          <a:bodyPr wrap="none">
            <a:spAutoFit/>
          </a:bodyPr>
          <a:lstStyle/>
          <a:p>
            <a:pPr algn="dist"/>
            <a:r>
              <a:rPr lang="zh-CN" altLang="en-US" sz="2400" b="1" spc="600" smtClean="0">
                <a:solidFill>
                  <a:srgbClr val="757C82"/>
                </a:solidFill>
                <a:latin typeface="阿里巴巴普惠体"/>
                <a:ea typeface="微软雅黑"/>
                <a:sym typeface="阿里巴巴普惠体"/>
              </a:rPr>
              <a:t>高中同步学案优化</a:t>
            </a:r>
            <a:r>
              <a:rPr lang="zh-CN" altLang="en-US" sz="2400" b="1" spc="600">
                <a:solidFill>
                  <a:srgbClr val="757C82"/>
                </a:solidFill>
                <a:latin typeface="阿里巴巴普惠体"/>
                <a:ea typeface="微软雅黑"/>
                <a:sym typeface="阿里巴巴普惠体"/>
              </a:rPr>
              <a:t>设计</a:t>
            </a:r>
          </a:p>
        </p:txBody>
      </p:sp>
      <p:cxnSp>
        <p:nvCxnSpPr>
          <p:cNvPr id="3" name="直接连接符 2"/>
          <p:cNvCxnSpPr/>
          <p:nvPr/>
        </p:nvCxnSpPr>
        <p:spPr>
          <a:xfrm>
            <a:off x="2282351" y="1003843"/>
            <a:ext cx="3676091"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94482" y="974358"/>
            <a:ext cx="3826174" cy="307777"/>
          </a:xfrm>
          <a:prstGeom prst="rect">
            <a:avLst/>
          </a:prstGeom>
        </p:spPr>
        <p:txBody>
          <a:bodyPr wrap="square">
            <a:spAutoFit/>
          </a:bodyPr>
          <a:lstStyle/>
          <a:p>
            <a:pPr algn="dist"/>
            <a:r>
              <a:rPr lang="en-US" altLang="zh-CN" sz="1400" b="1" spc="-150" dirty="0" smtClean="0">
                <a:solidFill>
                  <a:srgbClr val="757C82"/>
                </a:solidFill>
                <a:latin typeface="阿里巴巴普惠体"/>
                <a:ea typeface="微软雅黑"/>
                <a:sym typeface="阿里巴巴普惠体"/>
              </a:rPr>
              <a:t>GAO ZHONG TONG BU XUE AN YOU HAU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7" name="矩形 6"/>
            <p:cNvSpPr/>
            <p:nvPr/>
          </p:nvSpPr>
          <p:spPr>
            <a:xfrm>
              <a:off x="3519320" y="3624812"/>
              <a:ext cx="8158783" cy="646401"/>
            </a:xfrm>
            <a:prstGeom prst="rect">
              <a:avLst/>
            </a:prstGeom>
          </p:spPr>
          <p:txBody>
            <a:bodyPr wrap="square">
              <a:spAutoFit/>
            </a:bodyPr>
            <a:lstStyle/>
            <a:p>
              <a:pPr algn="ctr"/>
              <a:r>
                <a:rPr lang="zh-CN" altLang="en-US" sz="3600" b="1" dirty="0" smtClean="0">
                  <a:solidFill>
                    <a:schemeClr val="bg1"/>
                  </a:solidFill>
                  <a:latin typeface="阿里巴巴普惠体"/>
                  <a:ea typeface="微软雅黑"/>
                  <a:sym typeface="阿里巴巴普惠体"/>
                </a:rPr>
                <a:t>两</a:t>
              </a:r>
              <a:r>
                <a:rPr lang="zh-CN" altLang="en-US" sz="3600" b="1" dirty="0">
                  <a:solidFill>
                    <a:schemeClr val="bg1"/>
                  </a:solidFill>
                  <a:latin typeface="阿里巴巴普惠体"/>
                  <a:ea typeface="微软雅黑"/>
                  <a:sym typeface="阿里巴巴普惠体"/>
                </a:rPr>
                <a:t>角和与差的正弦、余弦、正切公式</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阿里巴巴普惠体"/>
                <a:ea typeface="微软雅黑"/>
                <a:cs typeface="Open Sans" panose="020B0606030504020204" pitchFamily="34" charset="0"/>
                <a:sym typeface="阿里巴巴普惠体"/>
              </a:rPr>
              <a:t>第五章</a:t>
            </a:r>
          </a:p>
        </p:txBody>
      </p:sp>
      <p:pic>
        <p:nvPicPr>
          <p:cNvPr id="10" name="图片 9" descr="e37b0ec1d4924ecca897357d279cf883"/>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a:ext>
            </a:extLst>
          </a:blip>
          <a:stretch>
            <a:fillRect/>
          </a:stretch>
        </p:blipFill>
        <p:spPr>
          <a:xfrm>
            <a:off x="801370" y="175260"/>
            <a:ext cx="1453515" cy="1453515"/>
          </a:xfrm>
          <a:prstGeom prst="rect">
            <a:avLst/>
          </a:prstGeom>
        </p:spPr>
      </p:pic>
      <p:sp>
        <p:nvSpPr>
          <p:cNvPr id="12" name="矩形 11"/>
          <p:cNvSpPr/>
          <p:nvPr/>
        </p:nvSpPr>
        <p:spPr>
          <a:xfrm>
            <a:off x="635" y="5842902"/>
            <a:ext cx="12191365" cy="470257"/>
          </a:xfrm>
          <a:prstGeom prst="rect">
            <a:avLst/>
          </a:prstGeom>
        </p:spPr>
        <p:txBody>
          <a:bodyPr wrap="square">
            <a:spAutoFit/>
          </a:bodyPr>
          <a:lstStyle/>
          <a:p>
            <a:pPr marL="342900" lvl="0" indent="-342900" algn="ctr" fontAlgn="base">
              <a:lnSpc>
                <a:spcPct val="110000"/>
              </a:lnSpc>
              <a:spcBef>
                <a:spcPct val="0"/>
              </a:spcBef>
              <a:spcAft>
                <a:spcPct val="0"/>
              </a:spcAft>
            </a:pPr>
            <a:r>
              <a:rPr lang="zh-CN" altLang="en-US" sz="2400" kern="0" dirty="0" smtClean="0">
                <a:solidFill>
                  <a:srgbClr val="000000"/>
                </a:solidFill>
                <a:latin typeface="微软雅黑" panose="020B0503020204020204" pitchFamily="34" charset="-122"/>
                <a:ea typeface="微软雅黑" panose="020B0503020204020204" pitchFamily="34" charset="-122"/>
              </a:rPr>
              <a:t>第一</a:t>
            </a:r>
            <a:r>
              <a:rPr lang="en-US" altLang="zh-CN" sz="2400" kern="0" dirty="0" smtClean="0">
                <a:solidFill>
                  <a:srgbClr val="000000"/>
                </a:solidFill>
                <a:latin typeface="微软雅黑" panose="020B0503020204020204" pitchFamily="34" charset="-122"/>
                <a:ea typeface="微软雅黑" panose="020B0503020204020204" pitchFamily="34" charset="-122"/>
              </a:rPr>
              <a:t>PPT</a:t>
            </a:r>
            <a:r>
              <a:rPr lang="zh-CN" altLang="en-US" sz="2400" kern="0" dirty="0" smtClean="0">
                <a:solidFill>
                  <a:srgbClr val="000000"/>
                </a:solidFill>
                <a:latin typeface="微软雅黑" panose="020B0503020204020204" pitchFamily="34" charset="-122"/>
                <a:ea typeface="微软雅黑" panose="020B0503020204020204" pitchFamily="34" charset="-122"/>
              </a:rPr>
              <a:t>模板网</a:t>
            </a:r>
            <a:r>
              <a:rPr lang="en-US" altLang="zh-CN" sz="2400" kern="0" dirty="0" smtClean="0">
                <a:solidFill>
                  <a:srgbClr val="000000"/>
                </a:solidFill>
                <a:latin typeface="微软雅黑" panose="020B0503020204020204" pitchFamily="34" charset="-122"/>
                <a:ea typeface="微软雅黑" panose="020B0503020204020204" pitchFamily="34" charset="-122"/>
              </a:rPr>
              <a:t>-WWW.1PPT.COM</a:t>
            </a:r>
            <a:endParaRPr lang="en-US" altLang="zh-CN" sz="2400" kern="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latin typeface="阿里巴巴普惠体"/>
                <a:ea typeface="微软雅黑"/>
                <a:cs typeface="+mn-ea"/>
                <a:sym typeface="阿里巴巴普惠体"/>
              </a:rPr>
              <a:t>内容索引</a:t>
            </a:r>
            <a:endParaRPr kumimoji="1" lang="zh-CN" altLang="en-US" sz="4800" dirty="0">
              <a:solidFill>
                <a:srgbClr val="2C3814"/>
              </a:solidFill>
              <a:latin typeface="阿里巴巴普惠体"/>
              <a:ea typeface="微软雅黑"/>
              <a:cs typeface="+mn-ea"/>
              <a:sym typeface="阿里巴巴普惠体"/>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阿里巴巴普惠体"/>
                <a:ea typeface="微软雅黑"/>
                <a:sym typeface="阿里巴巴普惠体"/>
              </a:endParaRPr>
            </a:p>
          </p:txBody>
        </p:sp>
        <p:sp>
          <p:nvSpPr>
            <p:cNvPr id="45" name="TextBox 7"/>
            <p:cNvSpPr txBox="1"/>
            <p:nvPr/>
          </p:nvSpPr>
          <p:spPr>
            <a:xfrm>
              <a:off x="3717320" y="687170"/>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阿里巴巴普惠体"/>
                <a:ea typeface="微软雅黑"/>
                <a:sym typeface="阿里巴巴普惠体"/>
              </a:endParaRPr>
            </a:p>
          </p:txBody>
        </p:sp>
        <p:sp>
          <p:nvSpPr>
            <p:cNvPr id="48" name="TextBox 10"/>
            <p:cNvSpPr txBox="1"/>
            <p:nvPr/>
          </p:nvSpPr>
          <p:spPr>
            <a:xfrm>
              <a:off x="3717321" y="1736701"/>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sp>
        <p:nvSpPr>
          <p:cNvPr id="52" name="矩形 51">
            <a:hlinkClick r:id="rId2" action="ppaction://hlinksldjump"/>
          </p:cNvPr>
          <p:cNvSpPr/>
          <p:nvPr/>
        </p:nvSpPr>
        <p:spPr>
          <a:xfrm>
            <a:off x="5678538" y="1764727"/>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
        <p:nvSpPr>
          <p:cNvPr id="53" name="矩形 52">
            <a:hlinkClick r:id="rId3" action="ppaction://hlinksldjump"/>
          </p:cNvPr>
          <p:cNvSpPr/>
          <p:nvPr/>
        </p:nvSpPr>
        <p:spPr>
          <a:xfrm>
            <a:off x="5678538" y="3349585"/>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609403"/>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课标阐释</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sp>
        <p:nvSpPr>
          <p:cNvPr id="2" name="矩形 1"/>
          <p:cNvSpPr>
            <a:spLocks noChangeAspect="1"/>
          </p:cNvSpPr>
          <p:nvPr/>
        </p:nvSpPr>
        <p:spPr>
          <a:xfrm>
            <a:off x="381000" y="235710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阿里巴巴普惠体"/>
                <a:ea typeface="微软雅黑"/>
                <a:cs typeface="Times New Roman" panose="02020603050405020304" pitchFamily="18" charset="0"/>
                <a:sym typeface="阿里巴巴普惠体"/>
              </a:rPr>
              <a:t>1</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能从两角差的余弦公式推导出两角和与差的正弦、余弦、正切公式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了解它们的内在联系</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逻辑推理</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pPr>
            <a:r>
              <a:rPr lang="en-US" altLang="zh-CN" sz="2800" b="1" dirty="0">
                <a:solidFill>
                  <a:srgbClr val="000000"/>
                </a:solidFill>
                <a:latin typeface="阿里巴巴普惠体"/>
                <a:ea typeface="微软雅黑"/>
                <a:sym typeface="阿里巴巴普惠体"/>
              </a:rPr>
              <a:t>2</a:t>
            </a:r>
            <a:r>
              <a:rPr lang="en-US" altLang="zh-CN" sz="2800" i="1"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能运用两角和与差的正弦、余弦、正切公式进行简单的化简、求值</a:t>
            </a:r>
            <a:r>
              <a:rPr lang="en-US" altLang="zh-CN" sz="2800" i="1" dirty="0">
                <a:solidFill>
                  <a:srgbClr val="000000"/>
                </a:solidFill>
                <a:latin typeface="阿里巴巴普惠体"/>
                <a:ea typeface="微软雅黑"/>
                <a:sym typeface="阿里巴巴普惠体"/>
              </a:rPr>
              <a:t>.</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数学运算</a:t>
            </a:r>
            <a:r>
              <a:rPr lang="en-US" altLang="zh-CN" sz="2800"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spTree>
    <p:extLst>
      <p:ext uri="{BB962C8B-B14F-4D97-AF65-F5344CB8AC3E}">
        <p14:creationId xmlns:p14="http://schemas.microsoft.com/office/powerpoint/2010/main" val="4274255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14193"/>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思维脉络</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pic>
        <p:nvPicPr>
          <p:cNvPr id="3" name="H126.ep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943967" y="1893764"/>
            <a:ext cx="5768518" cy="3412418"/>
          </a:xfrm>
          <a:prstGeom prst="rect">
            <a:avLst/>
          </a:prstGeom>
        </p:spPr>
      </p:pic>
    </p:spTree>
    <p:extLst>
      <p:ext uri="{BB962C8B-B14F-4D97-AF65-F5344CB8AC3E}">
        <p14:creationId xmlns:p14="http://schemas.microsoft.com/office/powerpoint/2010/main" val="1906863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940601"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879736"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55261"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96218"/>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CF5B1B"/>
                </a:solidFill>
                <a:latin typeface="阿里巴巴普惠体"/>
                <a:ea typeface="微软雅黑"/>
                <a:cs typeface="Times New Roman" panose="02020603050405020304" pitchFamily="18" charset="0"/>
                <a:sym typeface="阿里巴巴普惠体"/>
              </a:rPr>
              <a:t>[</a:t>
            </a:r>
            <a:r>
              <a:rPr lang="zh-CN" altLang="zh-CN" sz="2800">
                <a:solidFill>
                  <a:srgbClr val="CF5B1B"/>
                </a:solidFill>
                <a:latin typeface="阿里巴巴普惠体"/>
                <a:ea typeface="微软雅黑"/>
                <a:cs typeface="Times New Roman" panose="02020603050405020304" pitchFamily="18" charset="0"/>
                <a:sym typeface="阿里巴巴普惠体"/>
              </a:rPr>
              <a:t>激趣诱思</a:t>
            </a:r>
            <a:r>
              <a:rPr lang="en-US" altLang="zh-CN" sz="2800" smtClean="0">
                <a:solidFill>
                  <a:srgbClr val="CF5B1B"/>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endParaRPr lang="en-US" altLang="zh-CN" sz="2800">
              <a:solidFill>
                <a:srgbClr val="CF5B1B"/>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在实际生活中</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smtClean="0">
                <a:solidFill>
                  <a:srgbClr val="000000"/>
                </a:solidFill>
                <a:latin typeface="阿里巴巴普惠体"/>
                <a:ea typeface="微软雅黑"/>
                <a:cs typeface="Times New Roman" panose="02020603050405020304" pitchFamily="18" charset="0"/>
                <a:sym typeface="阿里巴巴普惠体"/>
              </a:rPr>
              <a:t>很多的</a:t>
            </a:r>
            <a:r>
              <a:rPr lang="zh-CN" altLang="zh-CN" sz="2800">
                <a:solidFill>
                  <a:srgbClr val="000000"/>
                </a:solidFill>
                <a:latin typeface="阿里巴巴普惠体"/>
                <a:ea typeface="微软雅黑"/>
                <a:cs typeface="Times New Roman" panose="02020603050405020304" pitchFamily="18" charset="0"/>
                <a:sym typeface="阿里巴巴普惠体"/>
              </a:rPr>
              <a:t>最优化问题都可以转化为三角函数来解决</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如停车场的设计、通信电缆的铺设、航海、测量等都有三角函数的影子</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求解三角函数问题</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都需要三角函数公式转化</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今天我们学习两角和与差的正弦、正切公式及其应用</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感受三角函数公式的魅力</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pic>
        <p:nvPicPr>
          <p:cNvPr id="3" name="21M30.eps" descr="id:2147516516;FounderCE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75207" y="1328355"/>
            <a:ext cx="3079350" cy="1568958"/>
          </a:xfrm>
          <a:prstGeom prst="rect">
            <a:avLst/>
          </a:prstGeom>
        </p:spPr>
      </p:pic>
    </p:spTree>
    <p:extLst>
      <p:ext uri="{BB962C8B-B14F-4D97-AF65-F5344CB8AC3E}">
        <p14:creationId xmlns:p14="http://schemas.microsoft.com/office/powerpoint/2010/main" val="2195372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94495"/>
            <a:ext cx="192552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CF5B1B"/>
                </a:solidFill>
                <a:latin typeface="阿里巴巴普惠体"/>
                <a:ea typeface="微软雅黑"/>
                <a:cs typeface="Times New Roman" panose="02020603050405020304" pitchFamily="18" charset="0"/>
                <a:sym typeface="阿里巴巴普惠体"/>
              </a:rPr>
              <a:t>[</a:t>
            </a:r>
            <a:r>
              <a:rPr lang="zh-CN" altLang="zh-CN" sz="2800">
                <a:solidFill>
                  <a:srgbClr val="CF5B1B"/>
                </a:solidFill>
                <a:latin typeface="阿里巴巴普惠体"/>
                <a:ea typeface="微软雅黑"/>
                <a:cs typeface="Times New Roman" panose="02020603050405020304" pitchFamily="18" charset="0"/>
                <a:sym typeface="阿里巴巴普惠体"/>
              </a:rPr>
              <a:t>知识点拨</a:t>
            </a:r>
            <a:r>
              <a:rPr lang="en-US" altLang="zh-CN" sz="2800" smtClean="0">
                <a:solidFill>
                  <a:srgbClr val="CF5B1B"/>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
        <p:nvSpPr>
          <p:cNvPr id="3" name="矩形 2"/>
          <p:cNvSpPr>
            <a:spLocks noChangeAspect="1"/>
          </p:cNvSpPr>
          <p:nvPr/>
        </p:nvSpPr>
        <p:spPr>
          <a:xfrm>
            <a:off x="381000" y="911582"/>
            <a:ext cx="6518131"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知识点一</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两角和与差的正弦和</a:t>
            </a:r>
            <a:r>
              <a:rPr lang="zh-CN" altLang="zh-CN" sz="2800" dirty="0" smtClean="0">
                <a:solidFill>
                  <a:srgbClr val="000000"/>
                </a:solidFill>
                <a:latin typeface="阿里巴巴普惠体"/>
                <a:ea typeface="微软雅黑"/>
                <a:cs typeface="Times New Roman" panose="02020603050405020304" pitchFamily="18" charset="0"/>
                <a:sym typeface="阿里巴巴普惠体"/>
              </a:rPr>
              <a:t>余弦公式</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表格 3"/>
          <p:cNvGraphicFramePr>
            <a:graphicFrameLocks noGrp="1" noChangeAspect="1"/>
          </p:cNvGraphicFramePr>
          <p:nvPr>
            <p:extLst>
              <p:ext uri="{D42A27DB-BD31-4B8C-83A1-F6EECF244321}">
                <p14:modId xmlns:p14="http://schemas.microsoft.com/office/powerpoint/2010/main" val="68540234"/>
              </p:ext>
            </p:extLst>
          </p:nvPr>
        </p:nvGraphicFramePr>
        <p:xfrm>
          <a:off x="381000" y="1508121"/>
          <a:ext cx="11430000" cy="1986280"/>
        </p:xfrm>
        <a:graphic>
          <a:graphicData uri="http://schemas.openxmlformats.org/drawingml/2006/table">
            <a:tbl>
              <a:tblPr firstRow="1" firstCol="1" bandRow="1"/>
              <a:tblGrid>
                <a:gridCol w="2968375"/>
                <a:gridCol w="4633645"/>
                <a:gridCol w="1674688"/>
                <a:gridCol w="2153292"/>
              </a:tblGrid>
              <a:tr h="175260">
                <a:tc>
                  <a:txBody>
                    <a:bodyPr/>
                    <a:lstStyle/>
                    <a:p>
                      <a:pPr>
                        <a:lnSpc>
                          <a:spcPct val="150000"/>
                        </a:lnSpc>
                        <a:spcAft>
                          <a:spcPts val="0"/>
                        </a:spcAft>
                        <a:tabLst>
                          <a:tab pos="1188085" algn="l"/>
                          <a:tab pos="2163445" algn="l"/>
                          <a:tab pos="3142615" algn="l"/>
                          <a:tab pos="4190365" algn="l"/>
                        </a:tabLst>
                      </a:pPr>
                      <a:r>
                        <a:rPr lang="zh-CN" sz="2400" dirty="0">
                          <a:solidFill>
                            <a:srgbClr val="000000"/>
                          </a:solidFill>
                          <a:effectLst/>
                          <a:latin typeface="阿里巴巴普惠体"/>
                          <a:ea typeface="微软雅黑"/>
                          <a:cs typeface="Times New Roman" panose="02020603050405020304" pitchFamily="18" charset="0"/>
                          <a:sym typeface="阿里巴巴普惠体"/>
                        </a:rPr>
                        <a:t>名称</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zh-CN" sz="2400">
                          <a:solidFill>
                            <a:srgbClr val="000000"/>
                          </a:solidFill>
                          <a:effectLst/>
                          <a:latin typeface="阿里巴巴普惠体"/>
                          <a:ea typeface="微软雅黑"/>
                          <a:cs typeface="Times New Roman" panose="02020603050405020304" pitchFamily="18" charset="0"/>
                          <a:sym typeface="阿里巴巴普惠体"/>
                        </a:rPr>
                        <a:t>公式</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zh-CN" sz="2400">
                          <a:solidFill>
                            <a:srgbClr val="000000"/>
                          </a:solidFill>
                          <a:effectLst/>
                          <a:latin typeface="阿里巴巴普惠体"/>
                          <a:ea typeface="微软雅黑"/>
                          <a:cs typeface="Times New Roman" panose="02020603050405020304" pitchFamily="18" charset="0"/>
                          <a:sym typeface="阿里巴巴普惠体"/>
                        </a:rPr>
                        <a:t>简记符号</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zh-CN" sz="2400">
                          <a:solidFill>
                            <a:srgbClr val="000000"/>
                          </a:solidFill>
                          <a:effectLst/>
                          <a:latin typeface="阿里巴巴普惠体"/>
                          <a:ea typeface="微软雅黑"/>
                          <a:cs typeface="Times New Roman" panose="02020603050405020304" pitchFamily="18" charset="0"/>
                          <a:sym typeface="阿里巴巴普惠体"/>
                        </a:rPr>
                        <a:t>使用条件</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5260">
                <a:tc>
                  <a:txBody>
                    <a:bodyPr/>
                    <a:lstStyle/>
                    <a:p>
                      <a:pPr>
                        <a:lnSpc>
                          <a:spcPct val="150000"/>
                        </a:lnSpc>
                        <a:spcAft>
                          <a:spcPts val="0"/>
                        </a:spcAft>
                        <a:tabLst>
                          <a:tab pos="1188085" algn="l"/>
                          <a:tab pos="2163445" algn="l"/>
                          <a:tab pos="3142615" algn="l"/>
                          <a:tab pos="4190365" algn="l"/>
                        </a:tabLst>
                      </a:pPr>
                      <a:r>
                        <a:rPr lang="zh-CN" sz="2400" dirty="0">
                          <a:solidFill>
                            <a:srgbClr val="000000"/>
                          </a:solidFill>
                          <a:effectLst/>
                          <a:latin typeface="阿里巴巴普惠体"/>
                          <a:ea typeface="微软雅黑"/>
                          <a:cs typeface="Times New Roman" panose="02020603050405020304" pitchFamily="18" charset="0"/>
                          <a:sym typeface="阿里巴巴普惠体"/>
                        </a:rPr>
                        <a:t>两角和的余弦公式</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cos(α+β)=cos αcos β-sin αsin 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C</a:t>
                      </a:r>
                      <a:r>
                        <a:rPr lang="en-US" sz="2400" baseline="-25000">
                          <a:solidFill>
                            <a:srgbClr val="000000"/>
                          </a:solidFill>
                          <a:effectLst/>
                          <a:latin typeface="阿里巴巴普惠体"/>
                          <a:ea typeface="微软雅黑"/>
                          <a:cs typeface="Times New Roman" panose="02020603050405020304" pitchFamily="18" charset="0"/>
                          <a:sym typeface="阿里巴巴普惠体"/>
                        </a:rPr>
                        <a:t>(α+β)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α,β</a:t>
                      </a:r>
                      <a:r>
                        <a:rPr lang="zh-CN" sz="2400">
                          <a:solidFill>
                            <a:srgbClr val="000000"/>
                          </a:solidFill>
                          <a:effectLst/>
                          <a:latin typeface="阿里巴巴普惠体"/>
                          <a:ea typeface="微软雅黑"/>
                          <a:cs typeface="宋体" panose="02010600030101010101" pitchFamily="2" charset="-122"/>
                          <a:sym typeface="阿里巴巴普惠体"/>
                        </a:rPr>
                        <a:t>∈</a:t>
                      </a:r>
                      <a:r>
                        <a:rPr lang="en-US" sz="2400">
                          <a:solidFill>
                            <a:srgbClr val="000000"/>
                          </a:solidFill>
                          <a:effectLst/>
                          <a:latin typeface="阿里巴巴普惠体"/>
                          <a:ea typeface="微软雅黑"/>
                          <a:cs typeface="Times New Roman" panose="02020603050405020304" pitchFamily="18" charset="0"/>
                          <a:sym typeface="阿里巴巴普惠体"/>
                        </a:rPr>
                        <a:t>R</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5260">
                <a:tc>
                  <a:txBody>
                    <a:bodyPr/>
                    <a:lstStyle/>
                    <a:p>
                      <a:pPr>
                        <a:lnSpc>
                          <a:spcPct val="150000"/>
                        </a:lnSpc>
                        <a:spcAft>
                          <a:spcPts val="0"/>
                        </a:spcAft>
                        <a:tabLst>
                          <a:tab pos="1188085" algn="l"/>
                          <a:tab pos="2163445" algn="l"/>
                          <a:tab pos="3142615" algn="l"/>
                          <a:tab pos="4190365" algn="l"/>
                        </a:tabLst>
                      </a:pPr>
                      <a:r>
                        <a:rPr lang="zh-CN" sz="2400">
                          <a:solidFill>
                            <a:srgbClr val="000000"/>
                          </a:solidFill>
                          <a:effectLst/>
                          <a:latin typeface="阿里巴巴普惠体"/>
                          <a:ea typeface="微软雅黑"/>
                          <a:cs typeface="Times New Roman" panose="02020603050405020304" pitchFamily="18" charset="0"/>
                          <a:sym typeface="阿里巴巴普惠体"/>
                        </a:rPr>
                        <a:t>两角和的正弦公式</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sin(α+β)=sin αcos β+cos αsin 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S</a:t>
                      </a:r>
                      <a:r>
                        <a:rPr lang="en-US" sz="2400" baseline="-25000">
                          <a:solidFill>
                            <a:srgbClr val="000000"/>
                          </a:solidFill>
                          <a:effectLst/>
                          <a:latin typeface="阿里巴巴普惠体"/>
                          <a:ea typeface="微软雅黑"/>
                          <a:cs typeface="Times New Roman" panose="02020603050405020304" pitchFamily="18" charset="0"/>
                          <a:sym typeface="阿里巴巴普惠体"/>
                        </a:rPr>
                        <a:t>(α+β)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α,β</a:t>
                      </a:r>
                      <a:r>
                        <a:rPr lang="zh-CN" sz="2400">
                          <a:solidFill>
                            <a:srgbClr val="000000"/>
                          </a:solidFill>
                          <a:effectLst/>
                          <a:latin typeface="阿里巴巴普惠体"/>
                          <a:ea typeface="微软雅黑"/>
                          <a:cs typeface="宋体" panose="02010600030101010101" pitchFamily="2" charset="-122"/>
                          <a:sym typeface="阿里巴巴普惠体"/>
                        </a:rPr>
                        <a:t>∈</a:t>
                      </a:r>
                      <a:r>
                        <a:rPr lang="en-US" sz="2400">
                          <a:solidFill>
                            <a:srgbClr val="000000"/>
                          </a:solidFill>
                          <a:effectLst/>
                          <a:latin typeface="阿里巴巴普惠体"/>
                          <a:ea typeface="微软雅黑"/>
                          <a:cs typeface="Times New Roman" panose="02020603050405020304" pitchFamily="18" charset="0"/>
                          <a:sym typeface="阿里巴巴普惠体"/>
                        </a:rPr>
                        <a:t>R</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5260">
                <a:tc>
                  <a:txBody>
                    <a:bodyPr/>
                    <a:lstStyle/>
                    <a:p>
                      <a:pPr>
                        <a:lnSpc>
                          <a:spcPct val="150000"/>
                        </a:lnSpc>
                        <a:spcAft>
                          <a:spcPts val="0"/>
                        </a:spcAft>
                        <a:tabLst>
                          <a:tab pos="1188085" algn="l"/>
                          <a:tab pos="2163445" algn="l"/>
                          <a:tab pos="3142615" algn="l"/>
                          <a:tab pos="4190365" algn="l"/>
                        </a:tabLst>
                      </a:pPr>
                      <a:r>
                        <a:rPr lang="zh-CN" sz="2400">
                          <a:solidFill>
                            <a:srgbClr val="000000"/>
                          </a:solidFill>
                          <a:effectLst/>
                          <a:latin typeface="阿里巴巴普惠体"/>
                          <a:ea typeface="微软雅黑"/>
                          <a:cs typeface="Times New Roman" panose="02020603050405020304" pitchFamily="18" charset="0"/>
                          <a:sym typeface="阿里巴巴普惠体"/>
                        </a:rPr>
                        <a:t>两角差的正弦公式</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sin(α-β)=sin αcos β-cos αsin 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a:solidFill>
                            <a:srgbClr val="000000"/>
                          </a:solidFill>
                          <a:effectLst/>
                          <a:latin typeface="阿里巴巴普惠体"/>
                          <a:ea typeface="微软雅黑"/>
                          <a:cs typeface="Times New Roman" panose="02020603050405020304" pitchFamily="18" charset="0"/>
                          <a:sym typeface="阿里巴巴普惠体"/>
                        </a:rPr>
                        <a:t>S</a:t>
                      </a:r>
                      <a:r>
                        <a:rPr lang="en-US" sz="2400" baseline="-25000">
                          <a:solidFill>
                            <a:srgbClr val="000000"/>
                          </a:solidFill>
                          <a:effectLst/>
                          <a:latin typeface="阿里巴巴普惠体"/>
                          <a:ea typeface="微软雅黑"/>
                          <a:cs typeface="Times New Roman" panose="02020603050405020304" pitchFamily="18" charset="0"/>
                          <a:sym typeface="阿里巴巴普惠体"/>
                        </a:rPr>
                        <a:t>(α-β)</a:t>
                      </a:r>
                      <a:endParaRPr lang="zh-CN" sz="24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400" dirty="0">
                          <a:solidFill>
                            <a:srgbClr val="000000"/>
                          </a:solidFill>
                          <a:effectLst/>
                          <a:latin typeface="阿里巴巴普惠体"/>
                          <a:ea typeface="微软雅黑"/>
                          <a:cs typeface="Times New Roman" panose="02020603050405020304" pitchFamily="18" charset="0"/>
                          <a:sym typeface="阿里巴巴普惠体"/>
                        </a:rPr>
                        <a:t>α,β</a:t>
                      </a:r>
                      <a:r>
                        <a:rPr lang="zh-CN" sz="2400" dirty="0">
                          <a:solidFill>
                            <a:srgbClr val="000000"/>
                          </a:solidFill>
                          <a:effectLst/>
                          <a:latin typeface="阿里巴巴普惠体"/>
                          <a:ea typeface="微软雅黑"/>
                          <a:cs typeface="宋体" panose="02010600030101010101" pitchFamily="2" charset="-122"/>
                          <a:sym typeface="阿里巴巴普惠体"/>
                        </a:rPr>
                        <a:t>∈</a:t>
                      </a:r>
                      <a:r>
                        <a:rPr lang="en-US" sz="2400" dirty="0">
                          <a:solidFill>
                            <a:srgbClr val="000000"/>
                          </a:solidFill>
                          <a:effectLst/>
                          <a:latin typeface="阿里巴巴普惠体"/>
                          <a:ea typeface="微软雅黑"/>
                          <a:cs typeface="Times New Roman" panose="02020603050405020304" pitchFamily="18" charset="0"/>
                          <a:sym typeface="阿里巴巴普惠体"/>
                        </a:rPr>
                        <a:t>R</a:t>
                      </a:r>
                      <a:endParaRPr lang="zh-CN" sz="2400" dirty="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矩形 4"/>
          <p:cNvSpPr>
            <a:spLocks noChangeAspect="1"/>
          </p:cNvSpPr>
          <p:nvPr/>
        </p:nvSpPr>
        <p:spPr>
          <a:xfrm>
            <a:off x="381000" y="4059678"/>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要点笔记 两角和与差的正弦公式的记忆方法</a:t>
            </a:r>
          </a:p>
          <a:p>
            <a:pPr>
              <a:lnSpc>
                <a:spcPct val="130000"/>
              </a:lnSpc>
            </a:pPr>
            <a:r>
              <a:rPr lang="zh-CN" altLang="zh-CN" sz="2800" dirty="0">
                <a:solidFill>
                  <a:srgbClr val="000000"/>
                </a:solidFill>
                <a:latin typeface="阿里巴巴普惠体"/>
                <a:ea typeface="微软雅黑"/>
                <a:cs typeface="Times New Roman" panose="02020603050405020304" pitchFamily="18" charset="0"/>
                <a:sym typeface="阿里巴巴普惠体"/>
              </a:rPr>
              <a:t>记忆口诀</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正余余正</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符号相同</a:t>
            </a:r>
            <a:r>
              <a:rPr lang="en-US" altLang="zh-CN" sz="2800" i="1"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正余余正表示展开后的两项分别是两角的正弦乘余弦、余弦乘正弦</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符号相同表示展开后两项之间的连接符号与展开前两角之间的连接符号相同</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即两角和时用</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两角差时用</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spTree>
    <p:extLst>
      <p:ext uri="{BB962C8B-B14F-4D97-AF65-F5344CB8AC3E}">
        <p14:creationId xmlns:p14="http://schemas.microsoft.com/office/powerpoint/2010/main" val="3062666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95759"/>
            <a:ext cx="11430000" cy="344748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微判断</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(1)sin(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(2)sin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(3)sin(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15</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15</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15</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(4)sin 15</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15</a:t>
            </a:r>
            <a:r>
              <a:rPr lang="en-US" altLang="zh-CN" sz="2800" smtClean="0">
                <a:solidFill>
                  <a:srgbClr val="000000"/>
                </a:solidFill>
                <a:effectLst/>
                <a:latin typeface="阿里巴巴普惠体"/>
                <a:ea typeface="微软雅黑"/>
                <a:cs typeface="Times New Roman" panose="02020603050405020304" pitchFamily="18" charset="0"/>
                <a:sym typeface="阿里巴巴普惠体"/>
              </a:rPr>
              <a:t>°</a:t>
            </a:r>
            <a:r>
              <a:rPr lang="en-US" altLang="zh-CN" sz="2800" i="1" smtClean="0">
                <a:solidFill>
                  <a:srgbClr val="000000"/>
                </a:solidFill>
                <a:latin typeface="阿里巴巴普惠体"/>
                <a:ea typeface="微软雅黑"/>
                <a:cs typeface="Times New Roman" panose="02020603050405020304" pitchFamily="18" charset="0"/>
                <a:sym typeface="阿里巴巴普惠体"/>
              </a:rPr>
              <a:t>=      </a:t>
            </a:r>
            <a:r>
              <a:rPr lang="en-US" altLang="zh-CN" sz="2800" smtClean="0">
                <a:solidFill>
                  <a:srgbClr val="000000"/>
                </a:solidFill>
                <a:latin typeface="阿里巴巴普惠体"/>
                <a:ea typeface="微软雅黑"/>
                <a:cs typeface="Times New Roman" panose="02020603050405020304" pitchFamily="18" charset="0"/>
                <a:sym typeface="阿里巴巴普惠体"/>
              </a:rPr>
              <a:t>sin </a:t>
            </a:r>
            <a:r>
              <a:rPr lang="en-US" altLang="zh-CN" sz="2800">
                <a:solidFill>
                  <a:srgbClr val="000000"/>
                </a:solidFill>
                <a:latin typeface="阿里巴巴普惠体"/>
                <a:ea typeface="微软雅黑"/>
                <a:cs typeface="Times New Roman" panose="02020603050405020304" pitchFamily="18" charset="0"/>
                <a:sym typeface="阿里巴巴普惠体"/>
              </a:rPr>
              <a:t>60</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4040C8"/>
                </a:solidFill>
                <a:effectLst/>
                <a:latin typeface="阿里巴巴普惠体"/>
                <a:ea typeface="微软雅黑"/>
                <a:cs typeface="Times New Roman" panose="02020603050405020304" pitchFamily="18" charset="0"/>
                <a:sym typeface="阿里巴巴普惠体"/>
              </a:rPr>
              <a:t>答案 </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(3)</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(4)</a:t>
            </a:r>
            <a:r>
              <a:rPr lang="en-US" altLang="zh-CN" sz="2800">
                <a:solidFill>
                  <a:srgbClr val="000000"/>
                </a:solidFill>
                <a:effectLst/>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21464862"/>
              </p:ext>
            </p:extLst>
          </p:nvPr>
        </p:nvGraphicFramePr>
        <p:xfrm>
          <a:off x="3934842" y="4171148"/>
          <a:ext cx="596900" cy="503237"/>
        </p:xfrm>
        <a:graphic>
          <a:graphicData uri="http://schemas.openxmlformats.org/presentationml/2006/ole">
            <mc:AlternateContent xmlns:mc="http://schemas.openxmlformats.org/markup-compatibility/2006">
              <mc:Choice xmlns:v="urn:schemas-microsoft-com:vml" Requires="v">
                <p:oleObj spid="_x0000_s3078" name="文档" r:id="rId3" imgW="235009" imgH="198583" progId="Word.Document.12">
                  <p:embed/>
                </p:oleObj>
              </mc:Choice>
              <mc:Fallback>
                <p:oleObj name="文档" r:id="rId3" imgW="235009" imgH="198583" progId="Word.Document.12">
                  <p:embed/>
                  <p:pic>
                    <p:nvPicPr>
                      <p:cNvPr id="0" name=""/>
                      <p:cNvPicPr>
                        <a:picLocks noChangeAspect="1" noChangeArrowheads="1"/>
                      </p:cNvPicPr>
                      <p:nvPr/>
                    </p:nvPicPr>
                    <p:blipFill>
                      <a:blip r:embed="rId4"/>
                      <a:srcRect/>
                      <a:stretch>
                        <a:fillRect/>
                      </a:stretch>
                    </p:blipFill>
                    <p:spPr bwMode="auto">
                      <a:xfrm>
                        <a:off x="3934842" y="4171148"/>
                        <a:ext cx="596900" cy="503237"/>
                      </a:xfrm>
                      <a:prstGeom prst="rect">
                        <a:avLst/>
                      </a:prstGeom>
                      <a:noFill/>
                    </p:spPr>
                  </p:pic>
                </p:oleObj>
              </mc:Fallback>
            </mc:AlternateContent>
          </a:graphicData>
        </a:graphic>
      </p:graphicFrame>
    </p:spTree>
    <p:extLst>
      <p:ext uri="{BB962C8B-B14F-4D97-AF65-F5344CB8AC3E}">
        <p14:creationId xmlns:p14="http://schemas.microsoft.com/office/powerpoint/2010/main" val="1990303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95811"/>
            <a:ext cx="11430000" cy="117019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微练习</a:t>
            </a: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cos 75°</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i="1" u="sng">
                <a:solidFill>
                  <a:srgbClr val="FF0000"/>
                </a:solidFill>
                <a:uFill>
                  <a:solidFill>
                    <a:srgbClr val="000000"/>
                  </a:solidFill>
                </a:uFill>
                <a:latin typeface="阿里巴巴普惠体"/>
                <a:ea typeface="微软雅黑"/>
                <a:cs typeface="Times New Roman" panose="02020603050405020304" pitchFamily="18" charset="0"/>
                <a:sym typeface="阿里巴巴普惠体"/>
              </a:rPr>
              <a:t>　　　</a:t>
            </a:r>
            <a:r>
              <a:rPr lang="en-US" altLang="zh-CN" sz="2800" i="1">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31300948"/>
              </p:ext>
            </p:extLst>
          </p:nvPr>
        </p:nvGraphicFramePr>
        <p:xfrm>
          <a:off x="458424" y="2534249"/>
          <a:ext cx="11275153" cy="687313"/>
        </p:xfrm>
        <a:graphic>
          <a:graphicData uri="http://schemas.openxmlformats.org/presentationml/2006/ole">
            <mc:AlternateContent xmlns:mc="http://schemas.openxmlformats.org/markup-compatibility/2006">
              <mc:Choice xmlns:v="urn:schemas-microsoft-com:vml" Requires="v">
                <p:oleObj spid="_x0000_s4108" name="文档" r:id="rId3" imgW="4510061" imgH="274925" progId="Word.Document.12">
                  <p:embed/>
                </p:oleObj>
              </mc:Choice>
              <mc:Fallback>
                <p:oleObj name="文档" r:id="rId3" imgW="4510061" imgH="274925" progId="Word.Document.12">
                  <p:embed/>
                  <p:pic>
                    <p:nvPicPr>
                      <p:cNvPr id="0" name=""/>
                      <p:cNvPicPr/>
                      <p:nvPr/>
                    </p:nvPicPr>
                    <p:blipFill>
                      <a:blip r:embed="rId4"/>
                      <a:stretch>
                        <a:fillRect/>
                      </a:stretch>
                    </p:blipFill>
                    <p:spPr>
                      <a:xfrm>
                        <a:off x="458424" y="2534249"/>
                        <a:ext cx="11275153" cy="68731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11372097"/>
              </p:ext>
            </p:extLst>
          </p:nvPr>
        </p:nvGraphicFramePr>
        <p:xfrm>
          <a:off x="458424" y="3390769"/>
          <a:ext cx="11275153" cy="687313"/>
        </p:xfrm>
        <a:graphic>
          <a:graphicData uri="http://schemas.openxmlformats.org/presentationml/2006/ole">
            <mc:AlternateContent xmlns:mc="http://schemas.openxmlformats.org/markup-compatibility/2006">
              <mc:Choice xmlns:v="urn:schemas-microsoft-com:vml" Requires="v">
                <p:oleObj spid="_x0000_s4109" name="文档" r:id="rId5" imgW="4510061" imgH="274925" progId="Word.Document.12">
                  <p:embed/>
                </p:oleObj>
              </mc:Choice>
              <mc:Fallback>
                <p:oleObj name="文档" r:id="rId5" imgW="4510061" imgH="274925" progId="Word.Document.12">
                  <p:embed/>
                  <p:pic>
                    <p:nvPicPr>
                      <p:cNvPr id="0" name=""/>
                      <p:cNvPicPr/>
                      <p:nvPr/>
                    </p:nvPicPr>
                    <p:blipFill>
                      <a:blip r:embed="rId6"/>
                      <a:stretch>
                        <a:fillRect/>
                      </a:stretch>
                    </p:blipFill>
                    <p:spPr>
                      <a:xfrm>
                        <a:off x="458424" y="3390769"/>
                        <a:ext cx="11275153" cy="687313"/>
                      </a:xfrm>
                      <a:prstGeom prst="rect">
                        <a:avLst/>
                      </a:prstGeom>
                    </p:spPr>
                  </p:pic>
                </p:oleObj>
              </mc:Fallback>
            </mc:AlternateContent>
          </a:graphicData>
        </a:graphic>
      </p:graphicFrame>
    </p:spTree>
    <p:extLst>
      <p:ext uri="{BB962C8B-B14F-4D97-AF65-F5344CB8AC3E}">
        <p14:creationId xmlns:p14="http://schemas.microsoft.com/office/powerpoint/2010/main" val="1876605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34947"/>
            <a:ext cx="5440913"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知识点二</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两角和与差的正切</a:t>
            </a:r>
            <a:r>
              <a:rPr lang="zh-CN" altLang="zh-CN" sz="2800" dirty="0" smtClean="0">
                <a:solidFill>
                  <a:srgbClr val="000000"/>
                </a:solidFill>
                <a:latin typeface="阿里巴巴普惠体"/>
                <a:ea typeface="微软雅黑"/>
                <a:cs typeface="Times New Roman" panose="02020603050405020304" pitchFamily="18" charset="0"/>
                <a:sym typeface="阿里巴巴普惠体"/>
              </a:rPr>
              <a:t>公式</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pic>
        <p:nvPicPr>
          <p:cNvPr id="4" name="图片 3"/>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81000" y="1487476"/>
            <a:ext cx="11430000" cy="3770894"/>
          </a:xfrm>
          <a:prstGeom prst="rect">
            <a:avLst/>
          </a:prstGeom>
        </p:spPr>
      </p:pic>
    </p:spTree>
    <p:extLst>
      <p:ext uri="{BB962C8B-B14F-4D97-AF65-F5344CB8AC3E}">
        <p14:creationId xmlns:p14="http://schemas.microsoft.com/office/powerpoint/2010/main" val="1883084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20733"/>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名师点析 公式的右边为分式形式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其中分子为</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的和或差</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分母为</a:t>
            </a: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与</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的差或和</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公式中左边的加减号与右边分子上的加减号相同</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与分母上的加减号相反</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pic>
        <p:nvPicPr>
          <p:cNvPr id="3" name="h128B.ep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572845" y="2269338"/>
            <a:ext cx="3249249" cy="1982895"/>
          </a:xfrm>
          <a:prstGeom prst="rect">
            <a:avLst/>
          </a:prstGeom>
        </p:spPr>
      </p:pic>
      <p:pic>
        <p:nvPicPr>
          <p:cNvPr id="4" name="h128A.eps"/>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514553" y="2176870"/>
            <a:ext cx="3249249" cy="1982895"/>
          </a:xfrm>
          <a:prstGeom prst="rect">
            <a:avLst/>
          </a:prstGeom>
        </p:spPr>
      </p:pic>
      <p:sp>
        <p:nvSpPr>
          <p:cNvPr id="5" name="矩形 4"/>
          <p:cNvSpPr>
            <a:spLocks noChangeAspect="1"/>
          </p:cNvSpPr>
          <p:nvPr/>
        </p:nvSpPr>
        <p:spPr>
          <a:xfrm>
            <a:off x="381000" y="4159765"/>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符号变化规律可简记为</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分子同</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分母反</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pPr>
            <a:r>
              <a:rPr lang="zh-CN" altLang="zh-CN" sz="2800" dirty="0">
                <a:solidFill>
                  <a:srgbClr val="000000"/>
                </a:solidFill>
                <a:latin typeface="阿里巴巴普惠体"/>
                <a:ea typeface="微软雅黑"/>
                <a:cs typeface="Times New Roman" panose="02020603050405020304" pitchFamily="18" charset="0"/>
                <a:sym typeface="阿里巴巴普惠体"/>
              </a:rPr>
              <a:t>当</a:t>
            </a:r>
            <a:r>
              <a:rPr lang="en-US" altLang="zh-CN" sz="2800" i="1" dirty="0">
                <a:solidFill>
                  <a:srgbClr val="000000"/>
                </a:solidFill>
                <a:latin typeface="阿里巴巴普惠体"/>
                <a:ea typeface="微软雅黑"/>
                <a:sym typeface="阿里巴巴普惠体"/>
              </a:rPr>
              <a:t>α</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β</a:t>
            </a:r>
            <a:r>
              <a:rPr lang="en-US" altLang="zh-CN" sz="2800" dirty="0">
                <a:solidFill>
                  <a:srgbClr val="000000"/>
                </a:solidFill>
                <a:latin typeface="阿里巴巴普惠体"/>
                <a:ea typeface="微软雅黑"/>
                <a:sym typeface="阿里巴巴普惠体"/>
              </a:rPr>
              <a:t>,</a:t>
            </a:r>
            <a:r>
              <a:rPr lang="en-US" altLang="zh-CN" sz="2800" i="1" dirty="0">
                <a:solidFill>
                  <a:srgbClr val="000000"/>
                </a:solidFill>
                <a:latin typeface="阿里巴巴普惠体"/>
                <a:ea typeface="微软雅黑"/>
                <a:sym typeface="阿里巴巴普惠体"/>
              </a:rPr>
              <a:t>α</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sym typeface="阿里巴巴普惠体"/>
              </a:rPr>
              <a:t>β</a:t>
            </a:r>
            <a:r>
              <a:rPr lang="zh-CN" altLang="zh-CN" sz="2800" dirty="0">
                <a:solidFill>
                  <a:srgbClr val="000000"/>
                </a:solidFill>
                <a:latin typeface="阿里巴巴普惠体"/>
                <a:ea typeface="微软雅黑"/>
                <a:cs typeface="Times New Roman" panose="02020603050405020304" pitchFamily="18" charset="0"/>
                <a:sym typeface="阿里巴巴普惠体"/>
              </a:rPr>
              <a:t>角的正切值不存在时</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不能使用上述公式</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但可以用诱导公式或其他方法解题</a:t>
            </a:r>
            <a:r>
              <a:rPr lang="en-US" altLang="zh-CN" sz="2800" i="1"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spTree>
    <p:extLst>
      <p:ext uri="{BB962C8B-B14F-4D97-AF65-F5344CB8AC3E}">
        <p14:creationId xmlns:p14="http://schemas.microsoft.com/office/powerpoint/2010/main" val="831727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60404"/>
            <a:ext cx="11430000" cy="117019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微思考</a:t>
            </a: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你能写出和角、差角这</a:t>
            </a:r>
            <a:r>
              <a:rPr lang="en-US" altLang="zh-CN" sz="2800">
                <a:solidFill>
                  <a:srgbClr val="000000"/>
                </a:solidFill>
                <a:latin typeface="阿里巴巴普惠体"/>
                <a:ea typeface="微软雅黑"/>
                <a:cs typeface="Times New Roman" panose="02020603050405020304" pitchFamily="18" charset="0"/>
                <a:sym typeface="阿里巴巴普惠体"/>
              </a:rPr>
              <a:t>6</a:t>
            </a:r>
            <a:r>
              <a:rPr lang="zh-CN" altLang="zh-CN" sz="2800">
                <a:solidFill>
                  <a:srgbClr val="000000"/>
                </a:solidFill>
                <a:latin typeface="阿里巴巴普惠体"/>
                <a:ea typeface="微软雅黑"/>
                <a:cs typeface="Times New Roman" panose="02020603050405020304" pitchFamily="18" charset="0"/>
                <a:sym typeface="阿里巴巴普惠体"/>
              </a:rPr>
              <a:t>个公式的逻辑联系框图吗</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
        <p:nvSpPr>
          <p:cNvPr id="3" name="矩形 2"/>
          <p:cNvSpPr>
            <a:spLocks noChangeAspect="1"/>
          </p:cNvSpPr>
          <p:nvPr/>
        </p:nvSpPr>
        <p:spPr>
          <a:xfrm>
            <a:off x="381000" y="2381435"/>
            <a:ext cx="1088760"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提示 </a:t>
            </a:r>
            <a:r>
              <a:rPr lang="en-US" altLang="zh-CN" sz="2800" smtClean="0">
                <a:solidFill>
                  <a:srgbClr val="4040C8"/>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pic>
        <p:nvPicPr>
          <p:cNvPr id="4" name="H128.eps"/>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547435" y="2590694"/>
            <a:ext cx="7097131" cy="3105575"/>
          </a:xfrm>
          <a:prstGeom prst="rect">
            <a:avLst/>
          </a:prstGeom>
        </p:spPr>
      </p:pic>
    </p:spTree>
    <p:extLst>
      <p:ext uri="{BB962C8B-B14F-4D97-AF65-F5344CB8AC3E}">
        <p14:creationId xmlns:p14="http://schemas.microsoft.com/office/powerpoint/2010/main" val="331859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24918"/>
            <a:ext cx="1354858"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微</a:t>
            </a:r>
            <a:r>
              <a:rPr lang="zh-CN" altLang="zh-CN" sz="2800" smtClean="0">
                <a:solidFill>
                  <a:srgbClr val="000000"/>
                </a:solidFill>
                <a:latin typeface="阿里巴巴普惠体"/>
                <a:ea typeface="微软雅黑"/>
                <a:cs typeface="Times New Roman" panose="02020603050405020304" pitchFamily="18" charset="0"/>
                <a:sym typeface="阿里巴巴普惠体"/>
              </a:rPr>
              <a:t>练习</a:t>
            </a:r>
            <a:r>
              <a:rPr lang="en-US" altLang="zh-CN" sz="280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68892385"/>
              </p:ext>
            </p:extLst>
          </p:nvPr>
        </p:nvGraphicFramePr>
        <p:xfrm>
          <a:off x="458424" y="2077404"/>
          <a:ext cx="11275153" cy="654968"/>
        </p:xfrm>
        <a:graphic>
          <a:graphicData uri="http://schemas.openxmlformats.org/presentationml/2006/ole">
            <mc:AlternateContent xmlns:mc="http://schemas.openxmlformats.org/markup-compatibility/2006">
              <mc:Choice xmlns:v="urn:schemas-microsoft-com:vml" Requires="v">
                <p:oleObj spid="_x0000_s5132" name="文档" r:id="rId3" imgW="4510061" imgH="261987" progId="Word.Document.12">
                  <p:embed/>
                </p:oleObj>
              </mc:Choice>
              <mc:Fallback>
                <p:oleObj name="文档" r:id="rId3" imgW="4510061" imgH="261987" progId="Word.Document.12">
                  <p:embed/>
                  <p:pic>
                    <p:nvPicPr>
                      <p:cNvPr id="0" name=""/>
                      <p:cNvPicPr/>
                      <p:nvPr/>
                    </p:nvPicPr>
                    <p:blipFill>
                      <a:blip r:embed="rId4"/>
                      <a:stretch>
                        <a:fillRect/>
                      </a:stretch>
                    </p:blipFill>
                    <p:spPr>
                      <a:xfrm>
                        <a:off x="458424" y="2077404"/>
                        <a:ext cx="11275153" cy="654968"/>
                      </a:xfrm>
                      <a:prstGeom prst="rect">
                        <a:avLst/>
                      </a:prstGeom>
                    </p:spPr>
                  </p:pic>
                </p:oleObj>
              </mc:Fallback>
            </mc:AlternateContent>
          </a:graphicData>
        </a:graphic>
      </p:graphicFrame>
      <p:sp>
        <p:nvSpPr>
          <p:cNvPr id="4" name="矩形 3"/>
          <p:cNvSpPr>
            <a:spLocks noChangeAspect="1"/>
          </p:cNvSpPr>
          <p:nvPr/>
        </p:nvSpPr>
        <p:spPr>
          <a:xfrm>
            <a:off x="381000" y="2889491"/>
            <a:ext cx="129554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3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167354494"/>
              </p:ext>
            </p:extLst>
          </p:nvPr>
        </p:nvGraphicFramePr>
        <p:xfrm>
          <a:off x="458424" y="3638823"/>
          <a:ext cx="11275153" cy="923605"/>
        </p:xfrm>
        <a:graphic>
          <a:graphicData uri="http://schemas.openxmlformats.org/presentationml/2006/ole">
            <mc:AlternateContent xmlns:mc="http://schemas.openxmlformats.org/markup-compatibility/2006">
              <mc:Choice xmlns:v="urn:schemas-microsoft-com:vml" Requires="v">
                <p:oleObj spid="_x0000_s5133" name="文档" r:id="rId5" imgW="4510061" imgH="369442" progId="Word.Document.12">
                  <p:embed/>
                </p:oleObj>
              </mc:Choice>
              <mc:Fallback>
                <p:oleObj name="文档" r:id="rId5" imgW="4510061" imgH="369442" progId="Word.Document.12">
                  <p:embed/>
                  <p:pic>
                    <p:nvPicPr>
                      <p:cNvPr id="0" name=""/>
                      <p:cNvPicPr/>
                      <p:nvPr/>
                    </p:nvPicPr>
                    <p:blipFill>
                      <a:blip r:embed="rId6"/>
                      <a:stretch>
                        <a:fillRect/>
                      </a:stretch>
                    </p:blipFill>
                    <p:spPr>
                      <a:xfrm>
                        <a:off x="458424" y="3638823"/>
                        <a:ext cx="11275153" cy="923605"/>
                      </a:xfrm>
                      <a:prstGeom prst="rect">
                        <a:avLst/>
                      </a:prstGeom>
                    </p:spPr>
                  </p:pic>
                </p:oleObj>
              </mc:Fallback>
            </mc:AlternateContent>
          </a:graphicData>
        </a:graphic>
      </p:graphicFrame>
    </p:spTree>
    <p:extLst>
      <p:ext uri="{BB962C8B-B14F-4D97-AF65-F5344CB8AC3E}">
        <p14:creationId xmlns:p14="http://schemas.microsoft.com/office/powerpoint/2010/main" val="638319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940601" y="2636520"/>
            <a:ext cx="1105802" cy="815646"/>
            <a:chOff x="-1604504" y="2147667"/>
            <a:chExt cx="3687215" cy="2719712"/>
          </a:xfrm>
        </p:grpSpPr>
        <p:cxnSp>
          <p:nvCxnSpPr>
            <p:cNvPr id="14" name="直接连接符 13"/>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15" name="直接连接符 14"/>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16" name="组合 15"/>
          <p:cNvGrpSpPr/>
          <p:nvPr/>
        </p:nvGrpSpPr>
        <p:grpSpPr>
          <a:xfrm flipH="1" flipV="1">
            <a:off x="8879736" y="2665586"/>
            <a:ext cx="1105803" cy="815646"/>
            <a:chOff x="-1604504" y="2147667"/>
            <a:chExt cx="3687215" cy="2719712"/>
          </a:xfrm>
        </p:grpSpPr>
        <p:cxnSp>
          <p:nvCxnSpPr>
            <p:cNvPr id="17" name="直接连接符 16"/>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8" name="直接连接符 17"/>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9" name="文本框 18"/>
          <p:cNvSpPr txBox="1"/>
          <p:nvPr/>
        </p:nvSpPr>
        <p:spPr>
          <a:xfrm>
            <a:off x="2918208"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探究一</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化简与求值</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4133493257"/>
              </p:ext>
            </p:extLst>
          </p:nvPr>
        </p:nvGraphicFramePr>
        <p:xfrm>
          <a:off x="458424" y="1192275"/>
          <a:ext cx="11275153" cy="3967163"/>
        </p:xfrm>
        <a:graphic>
          <a:graphicData uri="http://schemas.openxmlformats.org/presentationml/2006/ole">
            <mc:AlternateContent xmlns:mc="http://schemas.openxmlformats.org/markup-compatibility/2006">
              <mc:Choice xmlns:v="urn:schemas-microsoft-com:vml" Requires="v">
                <p:oleObj spid="_x0000_s6151" name="文档" r:id="rId3" imgW="4510061" imgH="1586865" progId="Word.Document.12">
                  <p:embed/>
                </p:oleObj>
              </mc:Choice>
              <mc:Fallback>
                <p:oleObj name="文档" r:id="rId3" imgW="4510061" imgH="1586865" progId="Word.Document.12">
                  <p:embed/>
                  <p:pic>
                    <p:nvPicPr>
                      <p:cNvPr id="0" name=""/>
                      <p:cNvPicPr/>
                      <p:nvPr/>
                    </p:nvPicPr>
                    <p:blipFill>
                      <a:blip r:embed="rId4"/>
                      <a:stretch>
                        <a:fillRect/>
                      </a:stretch>
                    </p:blipFill>
                    <p:spPr>
                      <a:xfrm>
                        <a:off x="458424" y="1192275"/>
                        <a:ext cx="11275153" cy="396716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88493955"/>
              </p:ext>
            </p:extLst>
          </p:nvPr>
        </p:nvGraphicFramePr>
        <p:xfrm>
          <a:off x="458424" y="354821"/>
          <a:ext cx="11275153" cy="5950293"/>
        </p:xfrm>
        <a:graphic>
          <a:graphicData uri="http://schemas.openxmlformats.org/presentationml/2006/ole">
            <mc:AlternateContent xmlns:mc="http://schemas.openxmlformats.org/markup-compatibility/2006">
              <mc:Choice xmlns:v="urn:schemas-microsoft-com:vml" Requires="v">
                <p:oleObj spid="_x0000_s7175" name="文档" r:id="rId3" imgW="4510061" imgH="2380117" progId="Word.Document.12">
                  <p:embed/>
                </p:oleObj>
              </mc:Choice>
              <mc:Fallback>
                <p:oleObj name="文档" r:id="rId3" imgW="4510061" imgH="2380117" progId="Word.Document.12">
                  <p:embed/>
                  <p:pic>
                    <p:nvPicPr>
                      <p:cNvPr id="0" name=""/>
                      <p:cNvPicPr/>
                      <p:nvPr/>
                    </p:nvPicPr>
                    <p:blipFill>
                      <a:blip r:embed="rId4"/>
                      <a:stretch>
                        <a:fillRect/>
                      </a:stretch>
                    </p:blipFill>
                    <p:spPr>
                      <a:xfrm>
                        <a:off x="458424" y="354821"/>
                        <a:ext cx="11275153" cy="5950293"/>
                      </a:xfrm>
                      <a:prstGeom prst="rect">
                        <a:avLst/>
                      </a:prstGeom>
                    </p:spPr>
                  </p:pic>
                </p:oleObj>
              </mc:Fallback>
            </mc:AlternateContent>
          </a:graphicData>
        </a:graphic>
      </p:graphicFrame>
    </p:spTree>
    <p:extLst>
      <p:ext uri="{BB962C8B-B14F-4D97-AF65-F5344CB8AC3E}">
        <p14:creationId xmlns:p14="http://schemas.microsoft.com/office/powerpoint/2010/main" val="15018859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24510612"/>
              </p:ext>
            </p:extLst>
          </p:nvPr>
        </p:nvGraphicFramePr>
        <p:xfrm>
          <a:off x="458424" y="1076861"/>
          <a:ext cx="11275153" cy="4958278"/>
        </p:xfrm>
        <a:graphic>
          <a:graphicData uri="http://schemas.openxmlformats.org/presentationml/2006/ole">
            <mc:AlternateContent xmlns:mc="http://schemas.openxmlformats.org/markup-compatibility/2006">
              <mc:Choice xmlns:v="urn:schemas-microsoft-com:vml" Requires="v">
                <p:oleObj spid="_x0000_s8199" name="文档" r:id="rId3" imgW="4510061" imgH="1983311" progId="Word.Document.12">
                  <p:embed/>
                </p:oleObj>
              </mc:Choice>
              <mc:Fallback>
                <p:oleObj name="文档" r:id="rId3" imgW="4510061" imgH="1983311" progId="Word.Document.12">
                  <p:embed/>
                  <p:pic>
                    <p:nvPicPr>
                      <p:cNvPr id="0" name=""/>
                      <p:cNvPicPr/>
                      <p:nvPr/>
                    </p:nvPicPr>
                    <p:blipFill>
                      <a:blip r:embed="rId4"/>
                      <a:stretch>
                        <a:fillRect/>
                      </a:stretch>
                    </p:blipFill>
                    <p:spPr>
                      <a:xfrm>
                        <a:off x="458424" y="1076861"/>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2774900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(5)</a:t>
            </a:r>
            <a:r>
              <a:rPr lang="zh-CN" altLang="zh-CN" sz="2800">
                <a:solidFill>
                  <a:srgbClr val="000000"/>
                </a:solidFill>
                <a:latin typeface="阿里巴巴普惠体"/>
                <a:ea typeface="微软雅黑"/>
                <a:cs typeface="宋体" panose="02010600030101010101" pitchFamily="2" charset="-122"/>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tan(21°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24°)(1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24°)tan 45°</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21°tan 24°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同理可得</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22°)(1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23°)</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宋体" panose="02010600030101010101" pitchFamily="2" charset="-122"/>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原式</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2×2</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4</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2477499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360585"/>
            <a:ext cx="11430000" cy="6294608"/>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dirty="0">
                <a:solidFill>
                  <a:srgbClr val="000000"/>
                </a:solidFill>
                <a:latin typeface="阿里巴巴普惠体"/>
                <a:ea typeface="微软雅黑"/>
                <a:cs typeface="Times New Roman" panose="02020603050405020304" pitchFamily="18" charset="0"/>
                <a:sym typeface="阿里巴巴普惠体"/>
              </a:rPr>
              <a:t>反思感悟 </a:t>
            </a:r>
            <a:r>
              <a:rPr lang="en-US" altLang="zh-CN" sz="2600" b="1"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公式的巧妙运用</a:t>
            </a:r>
          </a:p>
          <a:p>
            <a:pPr>
              <a:lnSpc>
                <a:spcPct val="130000"/>
              </a:lnSpc>
              <a:spcAft>
                <a:spcPts val="0"/>
              </a:spcAft>
              <a:tabLst>
                <a:tab pos="1188085" algn="l"/>
                <a:tab pos="2163445" algn="l"/>
                <a:tab pos="3142615" algn="l"/>
                <a:tab pos="4190365" algn="l"/>
              </a:tabLst>
            </a:pPr>
            <a:r>
              <a:rPr lang="zh-CN" altLang="zh-CN" sz="2600" dirty="0">
                <a:solidFill>
                  <a:srgbClr val="000000"/>
                </a:solidFill>
                <a:latin typeface="阿里巴巴普惠体"/>
                <a:ea typeface="微软雅黑"/>
                <a:cs typeface="宋体" panose="02010600030101010101" pitchFamily="2" charset="-122"/>
                <a:sym typeface="阿里巴巴普惠体"/>
              </a:rPr>
              <a:t>①</a:t>
            </a:r>
            <a:r>
              <a:rPr lang="zh-CN" altLang="zh-CN" sz="2600" dirty="0">
                <a:solidFill>
                  <a:srgbClr val="000000"/>
                </a:solidFill>
                <a:latin typeface="阿里巴巴普惠体"/>
                <a:ea typeface="微软雅黑"/>
                <a:cs typeface="Times New Roman" panose="02020603050405020304" pitchFamily="18" charset="0"/>
                <a:sym typeface="阿里巴巴普惠体"/>
              </a:rPr>
              <a:t>顺用</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如本题中的</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zh-CN" altLang="zh-CN" sz="2600" dirty="0">
                <a:solidFill>
                  <a:srgbClr val="000000"/>
                </a:solidFill>
                <a:latin typeface="阿里巴巴普惠体"/>
                <a:ea typeface="微软雅黑"/>
                <a:cs typeface="宋体" panose="02010600030101010101" pitchFamily="2" charset="-122"/>
                <a:sym typeface="阿里巴巴普惠体"/>
              </a:rPr>
              <a:t>②</a:t>
            </a:r>
            <a:r>
              <a:rPr lang="zh-CN" altLang="zh-CN" sz="2600" dirty="0">
                <a:solidFill>
                  <a:srgbClr val="000000"/>
                </a:solidFill>
                <a:latin typeface="阿里巴巴普惠体"/>
                <a:ea typeface="微软雅黑"/>
                <a:cs typeface="Times New Roman" panose="02020603050405020304" pitchFamily="18" charset="0"/>
                <a:sym typeface="阿里巴巴普惠体"/>
              </a:rPr>
              <a:t>逆用</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如本题中的</a:t>
            </a:r>
            <a:r>
              <a:rPr lang="en-US" altLang="zh-CN" sz="2600" dirty="0">
                <a:solidFill>
                  <a:srgbClr val="000000"/>
                </a:solidFill>
                <a:latin typeface="阿里巴巴普惠体"/>
                <a:ea typeface="微软雅黑"/>
                <a:cs typeface="Times New Roman" panose="02020603050405020304" pitchFamily="18" charset="0"/>
                <a:sym typeface="阿里巴巴普惠体"/>
              </a:rPr>
              <a:t>(2);</a:t>
            </a:r>
            <a:r>
              <a:rPr lang="zh-CN" altLang="zh-CN" sz="2600" dirty="0">
                <a:solidFill>
                  <a:srgbClr val="000000"/>
                </a:solidFill>
                <a:latin typeface="阿里巴巴普惠体"/>
                <a:ea typeface="微软雅黑"/>
                <a:cs typeface="宋体" panose="02010600030101010101" pitchFamily="2" charset="-122"/>
                <a:sym typeface="阿里巴巴普惠体"/>
              </a:rPr>
              <a:t>③</a:t>
            </a:r>
            <a:r>
              <a:rPr lang="zh-CN" altLang="zh-CN" sz="2600" dirty="0">
                <a:solidFill>
                  <a:srgbClr val="000000"/>
                </a:solidFill>
                <a:latin typeface="阿里巴巴普惠体"/>
                <a:ea typeface="微软雅黑"/>
                <a:cs typeface="Times New Roman" panose="02020603050405020304" pitchFamily="18" charset="0"/>
                <a:sym typeface="阿里巴巴普惠体"/>
              </a:rPr>
              <a:t>变用</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变用涉及两个方面</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一个是公式本身的变用</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sin </a:t>
            </a:r>
            <a:r>
              <a:rPr lang="en-US" altLang="zh-CN" sz="2600" i="1" dirty="0">
                <a:solidFill>
                  <a:srgbClr val="000000"/>
                </a:solidFill>
                <a:latin typeface="阿里巴巴普惠体"/>
                <a:ea typeface="微软雅黑"/>
                <a:cs typeface="Times New Roman" panose="02020603050405020304" pitchFamily="18" charset="0"/>
                <a:sym typeface="阿里巴巴普惠体"/>
              </a:rPr>
              <a:t>α</a:t>
            </a:r>
            <a:r>
              <a:rPr lang="en-US" altLang="zh-CN" sz="2600" dirty="0">
                <a:solidFill>
                  <a:srgbClr val="000000"/>
                </a:solidFill>
                <a:latin typeface="阿里巴巴普惠体"/>
                <a:ea typeface="微软雅黑"/>
                <a:cs typeface="Times New Roman" panose="02020603050405020304" pitchFamily="18" charset="0"/>
                <a:sym typeface="阿里巴巴普惠体"/>
              </a:rPr>
              <a:t>sin </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 </a:t>
            </a:r>
            <a:r>
              <a:rPr lang="en-US" altLang="zh-CN" sz="2600" i="1" dirty="0">
                <a:solidFill>
                  <a:srgbClr val="000000"/>
                </a:solidFill>
                <a:latin typeface="阿里巴巴普惠体"/>
                <a:ea typeface="微软雅黑"/>
                <a:cs typeface="Times New Roman" panose="02020603050405020304" pitchFamily="18" charset="0"/>
                <a:sym typeface="阿里巴巴普惠体"/>
              </a:rPr>
              <a:t>α</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 </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一个是角的变用</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也称为角的拆分变换</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a:t>
            </a:r>
            <a:r>
              <a:rPr lang="en-US" altLang="zh-CN" sz="2600" i="1" dirty="0">
                <a:solidFill>
                  <a:srgbClr val="000000"/>
                </a:solidFill>
                <a:latin typeface="阿里巴巴普惠体"/>
                <a:ea typeface="微软雅黑"/>
                <a:cs typeface="Times New Roman" panose="02020603050405020304" pitchFamily="18" charset="0"/>
                <a:sym typeface="阿里巴巴普惠体"/>
              </a:rPr>
              <a:t>α=</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a:solidFill>
                  <a:srgbClr val="000000"/>
                </a:solidFill>
                <a:latin typeface="阿里巴巴普惠体"/>
                <a:ea typeface="微软雅黑"/>
                <a:cs typeface="Times New Roman" panose="02020603050405020304" pitchFamily="18" charset="0"/>
                <a:sym typeface="阿里巴巴普惠体"/>
              </a:rPr>
              <a:t>,2</a:t>
            </a:r>
            <a:r>
              <a:rPr lang="en-US" altLang="zh-CN" sz="2600" i="1" dirty="0">
                <a:solidFill>
                  <a:srgbClr val="000000"/>
                </a:solidFill>
                <a:latin typeface="阿里巴巴普惠体"/>
                <a:ea typeface="微软雅黑"/>
                <a:cs typeface="Times New Roman" panose="02020603050405020304" pitchFamily="18" charset="0"/>
                <a:sym typeface="阿里巴巴普惠体"/>
              </a:rPr>
              <a:t>α=</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等</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从某种意义上来说</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是一种整体思想的体现</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 </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a:solidFill>
                  <a:srgbClr val="000000"/>
                </a:solidFill>
                <a:latin typeface="阿里巴巴普惠体"/>
                <a:ea typeface="微软雅黑"/>
                <a:cs typeface="Times New Roman" panose="02020603050405020304" pitchFamily="18" charset="0"/>
                <a:sym typeface="阿里巴巴普惠体"/>
              </a:rPr>
              <a:t>sin(</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)sin </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α+β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-β</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 </a:t>
            </a:r>
            <a:r>
              <a:rPr lang="en-US" altLang="zh-CN" sz="2600" i="1" dirty="0">
                <a:solidFill>
                  <a:srgbClr val="000000"/>
                </a:solidFill>
                <a:latin typeface="阿里巴巴普惠体"/>
                <a:ea typeface="微软雅黑"/>
                <a:cs typeface="Times New Roman" panose="02020603050405020304" pitchFamily="18" charset="0"/>
                <a:sym typeface="阿里巴巴普惠体"/>
              </a:rPr>
              <a:t>α.</a:t>
            </a:r>
            <a:r>
              <a:rPr lang="zh-CN" altLang="zh-CN" sz="2600" dirty="0">
                <a:solidFill>
                  <a:srgbClr val="000000"/>
                </a:solidFill>
                <a:latin typeface="阿里巴巴普惠体"/>
                <a:ea typeface="微软雅黑"/>
                <a:cs typeface="Times New Roman" panose="02020603050405020304" pitchFamily="18" charset="0"/>
                <a:sym typeface="阿里巴巴普惠体"/>
              </a:rPr>
              <a:t>这些需要在平时的解题中多总结、多研究、多留心</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唯其如此才能在解题中知道如何选择公式</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选择哪一个公式会更好</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需要说明的是</a:t>
            </a:r>
            <a:r>
              <a:rPr lang="en-US" altLang="zh-CN" sz="2600" dirty="0">
                <a:solidFill>
                  <a:srgbClr val="000000"/>
                </a:solidFill>
                <a:latin typeface="阿里巴巴普惠体"/>
                <a:ea typeface="微软雅黑"/>
                <a:cs typeface="Times New Roman" panose="02020603050405020304" pitchFamily="18" charset="0"/>
                <a:sym typeface="阿里巴巴普惠体"/>
              </a:rPr>
              <a:t>,(4)</a:t>
            </a:r>
            <a:r>
              <a:rPr lang="zh-CN" altLang="zh-CN" sz="2600" dirty="0">
                <a:solidFill>
                  <a:srgbClr val="000000"/>
                </a:solidFill>
                <a:latin typeface="阿里巴巴普惠体"/>
                <a:ea typeface="微软雅黑"/>
                <a:cs typeface="Times New Roman" panose="02020603050405020304" pitchFamily="18" charset="0"/>
                <a:sym typeface="阿里巴巴普惠体"/>
              </a:rPr>
              <a:t>运用到了切化弦</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将特殊</a:t>
            </a:r>
            <a:r>
              <a:rPr lang="zh-CN" altLang="zh-CN" sz="2600" dirty="0" smtClean="0">
                <a:solidFill>
                  <a:srgbClr val="000000"/>
                </a:solidFill>
                <a:latin typeface="阿里巴巴普惠体"/>
                <a:ea typeface="微软雅黑"/>
                <a:cs typeface="Times New Roman" panose="02020603050405020304" pitchFamily="18" charset="0"/>
                <a:sym typeface="阿里巴巴普惠体"/>
              </a:rPr>
              <a:t>值</a:t>
            </a:r>
            <a:r>
              <a:rPr lang="en-US" altLang="zh-CN" sz="2600" dirty="0" smtClean="0">
                <a:solidFill>
                  <a:srgbClr val="000000"/>
                </a:solidFill>
                <a:latin typeface="阿里巴巴普惠体"/>
                <a:ea typeface="微软雅黑"/>
                <a:cs typeface="Times New Roman" panose="02020603050405020304" pitchFamily="18" charset="0"/>
                <a:sym typeface="阿里巴巴普惠体"/>
              </a:rPr>
              <a:t>      </a:t>
            </a:r>
            <a:r>
              <a:rPr lang="zh-CN" altLang="zh-CN" sz="2600" dirty="0" smtClean="0">
                <a:solidFill>
                  <a:srgbClr val="000000"/>
                </a:solidFill>
                <a:latin typeface="阿里巴巴普惠体"/>
                <a:ea typeface="微软雅黑"/>
                <a:cs typeface="Times New Roman" panose="02020603050405020304" pitchFamily="18" charset="0"/>
                <a:sym typeface="阿里巴巴普惠体"/>
              </a:rPr>
              <a:t>化为</a:t>
            </a:r>
            <a:r>
              <a:rPr lang="en-US" altLang="zh-CN" sz="2600" dirty="0">
                <a:solidFill>
                  <a:srgbClr val="000000"/>
                </a:solidFill>
                <a:latin typeface="阿里巴巴普惠体"/>
                <a:ea typeface="微软雅黑"/>
                <a:cs typeface="Times New Roman" panose="02020603050405020304" pitchFamily="18" charset="0"/>
                <a:sym typeface="阿里巴巴普惠体"/>
              </a:rPr>
              <a:t>tan 60°</a:t>
            </a:r>
            <a:r>
              <a:rPr lang="zh-CN" altLang="zh-CN" sz="2600" dirty="0">
                <a:solidFill>
                  <a:srgbClr val="000000"/>
                </a:solidFill>
                <a:latin typeface="阿里巴巴普惠体"/>
                <a:ea typeface="微软雅黑"/>
                <a:cs typeface="Times New Roman" panose="02020603050405020304" pitchFamily="18" charset="0"/>
                <a:sym typeface="阿里巴巴普惠体"/>
              </a:rPr>
              <a:t>等</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为此可以熟记一些常见的特殊角的函数值</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如</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sin 90°</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err="1">
                <a:solidFill>
                  <a:srgbClr val="000000"/>
                </a:solidFill>
                <a:latin typeface="阿里巴巴普惠体"/>
                <a:ea typeface="微软雅黑"/>
                <a:cs typeface="Times New Roman" panose="02020603050405020304" pitchFamily="18" charset="0"/>
                <a:sym typeface="阿里巴巴普惠体"/>
              </a:rPr>
              <a:t>cos</a:t>
            </a:r>
            <a:r>
              <a:rPr lang="en-US" altLang="zh-CN" sz="2600" dirty="0">
                <a:solidFill>
                  <a:srgbClr val="000000"/>
                </a:solidFill>
                <a:latin typeface="阿里巴巴普惠体"/>
                <a:ea typeface="微软雅黑"/>
                <a:cs typeface="Times New Roman" panose="02020603050405020304" pitchFamily="18" charset="0"/>
                <a:sym typeface="阿里巴巴普惠体"/>
              </a:rPr>
              <a:t> 0°</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tan 45°,</a:t>
            </a:r>
            <a:endParaRPr lang="en-US" altLang="zh-CN" sz="2600" i="1" dirty="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600" i="1" dirty="0">
                <a:solidFill>
                  <a:srgbClr val="000000"/>
                </a:solidFill>
                <a:latin typeface="阿里巴巴普惠体"/>
                <a:ea typeface="微软雅黑"/>
                <a:cs typeface="Times New Roman" panose="02020603050405020304" pitchFamily="18" charset="0"/>
                <a:sym typeface="阿里巴巴普惠体"/>
              </a:rPr>
              <a:t> </a:t>
            </a:r>
            <a:r>
              <a:rPr lang="en-US" altLang="zh-CN" sz="2600" i="1" dirty="0" smtClean="0">
                <a:solidFill>
                  <a:srgbClr val="000000"/>
                </a:solidFill>
                <a:latin typeface="阿里巴巴普惠体"/>
                <a:ea typeface="微软雅黑"/>
                <a:cs typeface="Times New Roman" panose="02020603050405020304" pitchFamily="18" charset="0"/>
                <a:sym typeface="阿里巴巴普惠体"/>
              </a:rPr>
              <a:t>      =</a:t>
            </a:r>
            <a:r>
              <a:rPr lang="en-US" altLang="zh-CN" sz="2600" dirty="0">
                <a:solidFill>
                  <a:srgbClr val="000000"/>
                </a:solidFill>
                <a:latin typeface="阿里巴巴普惠体"/>
                <a:ea typeface="微软雅黑"/>
                <a:cs typeface="Times New Roman" panose="02020603050405020304" pitchFamily="18" charset="0"/>
                <a:sym typeface="阿里巴巴普惠体"/>
              </a:rPr>
              <a:t>tan 60°</a:t>
            </a:r>
            <a:r>
              <a:rPr lang="zh-CN" altLang="zh-CN" sz="2600" dirty="0">
                <a:solidFill>
                  <a:srgbClr val="000000"/>
                </a:solidFill>
                <a:latin typeface="阿里巴巴普惠体"/>
                <a:ea typeface="微软雅黑"/>
                <a:cs typeface="Times New Roman" panose="02020603050405020304" pitchFamily="18" charset="0"/>
                <a:sym typeface="阿里巴巴普惠体"/>
              </a:rPr>
              <a:t>等</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endParaRPr lang="zh-CN" altLang="zh-CN" sz="26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600" b="1" dirty="0">
                <a:solidFill>
                  <a:srgbClr val="000000"/>
                </a:solidFill>
                <a:latin typeface="阿里巴巴普惠体"/>
                <a:ea typeface="微软雅黑"/>
                <a:cs typeface="Times New Roman" panose="02020603050405020304" pitchFamily="18" charset="0"/>
                <a:sym typeface="阿里巴巴普惠体"/>
              </a:rPr>
              <a:t>2</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公式的推广</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本例第</a:t>
            </a:r>
            <a:r>
              <a:rPr lang="en-US" altLang="zh-CN" sz="2600" dirty="0">
                <a:solidFill>
                  <a:srgbClr val="000000"/>
                </a:solidFill>
                <a:latin typeface="阿里巴巴普惠体"/>
                <a:ea typeface="微软雅黑"/>
                <a:cs typeface="Times New Roman" panose="02020603050405020304" pitchFamily="18" charset="0"/>
                <a:sym typeface="阿里巴巴普惠体"/>
              </a:rPr>
              <a:t>(5)</a:t>
            </a:r>
            <a:r>
              <a:rPr lang="zh-CN" altLang="zh-CN" sz="2600" dirty="0">
                <a:solidFill>
                  <a:srgbClr val="000000"/>
                </a:solidFill>
                <a:latin typeface="阿里巴巴普惠体"/>
                <a:ea typeface="微软雅黑"/>
                <a:cs typeface="Times New Roman" panose="02020603050405020304" pitchFamily="18" charset="0"/>
                <a:sym typeface="阿里巴巴普惠体"/>
              </a:rPr>
              <a:t>小题所得结论可以推广到一般情形</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zh-CN" altLang="zh-CN" sz="2600" dirty="0">
                <a:solidFill>
                  <a:srgbClr val="000000"/>
                </a:solidFill>
                <a:latin typeface="阿里巴巴普惠体"/>
                <a:ea typeface="微软雅黑"/>
                <a:cs typeface="Times New Roman" panose="02020603050405020304" pitchFamily="18" charset="0"/>
                <a:sym typeface="阿里巴巴普惠体"/>
              </a:rPr>
              <a:t>若</a:t>
            </a:r>
            <a:r>
              <a:rPr lang="en-US" altLang="zh-CN" sz="2600" i="1" dirty="0">
                <a:solidFill>
                  <a:srgbClr val="000000"/>
                </a:solidFill>
                <a:latin typeface="阿里巴巴普惠体"/>
                <a:ea typeface="微软雅黑"/>
                <a:cs typeface="Times New Roman" panose="02020603050405020304" pitchFamily="18" charset="0"/>
                <a:sym typeface="阿里巴巴普惠体"/>
              </a:rPr>
              <a:t>A+B</a:t>
            </a:r>
            <a:r>
              <a:rPr lang="en-US" altLang="zh-CN" sz="2600" i="1" dirty="0" smtClean="0">
                <a:solidFill>
                  <a:srgbClr val="000000"/>
                </a:solidFill>
                <a:latin typeface="阿里巴巴普惠体"/>
                <a:ea typeface="微软雅黑"/>
                <a:cs typeface="Times New Roman" panose="02020603050405020304" pitchFamily="18" charset="0"/>
                <a:sym typeface="阿里巴巴普惠体"/>
              </a:rPr>
              <a:t>=    </a:t>
            </a:r>
            <a:r>
              <a:rPr lang="en-US" altLang="zh-CN" sz="2600" dirty="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r>
              <a:rPr lang="zh-CN" altLang="zh-CN" sz="2600" dirty="0" smtClean="0">
                <a:solidFill>
                  <a:srgbClr val="000000"/>
                </a:solidFill>
                <a:latin typeface="阿里巴巴普惠体"/>
                <a:ea typeface="微软雅黑"/>
                <a:cs typeface="Times New Roman" panose="02020603050405020304" pitchFamily="18" charset="0"/>
                <a:sym typeface="阿里巴巴普惠体"/>
              </a:rPr>
              <a:t>则</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tan </a:t>
            </a:r>
            <a:r>
              <a:rPr lang="en-US" altLang="zh-CN" sz="2600" i="1" dirty="0">
                <a:solidFill>
                  <a:srgbClr val="000000"/>
                </a:solidFill>
                <a:latin typeface="阿里巴巴普惠体"/>
                <a:ea typeface="微软雅黑"/>
                <a:cs typeface="Times New Roman" panose="02020603050405020304" pitchFamily="18" charset="0"/>
                <a:sym typeface="阿里巴巴普惠体"/>
              </a:rPr>
              <a:t>A</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tan </a:t>
            </a:r>
            <a:r>
              <a:rPr lang="en-US" altLang="zh-CN" sz="2600" i="1" dirty="0">
                <a:solidFill>
                  <a:srgbClr val="000000"/>
                </a:solidFill>
                <a:latin typeface="阿里巴巴普惠体"/>
                <a:ea typeface="微软雅黑"/>
                <a:cs typeface="Times New Roman" panose="02020603050405020304" pitchFamily="18" charset="0"/>
                <a:sym typeface="阿里巴巴普惠体"/>
              </a:rPr>
              <a:t>B</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2;</a:t>
            </a:r>
            <a:r>
              <a:rPr lang="zh-CN" altLang="zh-CN" sz="2600" dirty="0">
                <a:solidFill>
                  <a:srgbClr val="000000"/>
                </a:solidFill>
                <a:latin typeface="阿里巴巴普惠体"/>
                <a:ea typeface="微软雅黑"/>
                <a:cs typeface="Times New Roman" panose="02020603050405020304" pitchFamily="18" charset="0"/>
                <a:sym typeface="阿里巴巴普惠体"/>
              </a:rPr>
              <a:t>若</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tan </a:t>
            </a:r>
            <a:r>
              <a:rPr lang="en-US" altLang="zh-CN" sz="2600" i="1" dirty="0">
                <a:solidFill>
                  <a:srgbClr val="000000"/>
                </a:solidFill>
                <a:latin typeface="阿里巴巴普惠体"/>
                <a:ea typeface="微软雅黑"/>
                <a:cs typeface="Times New Roman" panose="02020603050405020304" pitchFamily="18" charset="0"/>
                <a:sym typeface="阿里巴巴普惠体"/>
              </a:rPr>
              <a:t>A</a:t>
            </a:r>
            <a:r>
              <a:rPr lang="en-US" altLang="zh-CN" sz="2600" dirty="0">
                <a:solidFill>
                  <a:srgbClr val="000000"/>
                </a:solidFill>
                <a:latin typeface="阿里巴巴普惠体"/>
                <a:ea typeface="微软雅黑"/>
                <a:cs typeface="Times New Roman" panose="02020603050405020304" pitchFamily="18" charset="0"/>
                <a:sym typeface="阿里巴巴普惠体"/>
              </a:rPr>
              <a:t>)(1</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tan </a:t>
            </a:r>
            <a:r>
              <a:rPr lang="en-US" altLang="zh-CN" sz="2600" i="1" dirty="0">
                <a:solidFill>
                  <a:srgbClr val="000000"/>
                </a:solidFill>
                <a:latin typeface="阿里巴巴普惠体"/>
                <a:ea typeface="微软雅黑"/>
                <a:cs typeface="Times New Roman" panose="02020603050405020304" pitchFamily="18" charset="0"/>
                <a:sym typeface="阿里巴巴普惠体"/>
              </a:rPr>
              <a:t>B</a:t>
            </a:r>
            <a:r>
              <a:rPr lang="en-US" altLang="zh-CN" sz="2600" dirty="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r>
              <a:rPr lang="en-US" altLang="zh-CN" sz="2600" dirty="0">
                <a:solidFill>
                  <a:srgbClr val="000000"/>
                </a:solidFill>
                <a:latin typeface="阿里巴巴普惠体"/>
                <a:ea typeface="微软雅黑"/>
                <a:cs typeface="Times New Roman" panose="02020603050405020304" pitchFamily="18" charset="0"/>
                <a:sym typeface="阿里巴巴普惠体"/>
              </a:rPr>
              <a:t>2,</a:t>
            </a:r>
            <a:r>
              <a:rPr lang="zh-CN" altLang="zh-CN" sz="2600" dirty="0">
                <a:solidFill>
                  <a:srgbClr val="000000"/>
                </a:solidFill>
                <a:latin typeface="阿里巴巴普惠体"/>
                <a:ea typeface="微软雅黑"/>
                <a:cs typeface="Times New Roman" panose="02020603050405020304" pitchFamily="18" charset="0"/>
                <a:sym typeface="阿里巴巴普惠体"/>
              </a:rPr>
              <a:t>则</a:t>
            </a:r>
            <a:r>
              <a:rPr lang="en-US" altLang="zh-CN" sz="2600" i="1" dirty="0">
                <a:solidFill>
                  <a:srgbClr val="000000"/>
                </a:solidFill>
                <a:latin typeface="阿里巴巴普惠体"/>
                <a:ea typeface="微软雅黑"/>
                <a:cs typeface="Times New Roman" panose="02020603050405020304" pitchFamily="18" charset="0"/>
                <a:sym typeface="阿里巴巴普惠体"/>
              </a:rPr>
              <a:t>A+B=k</a:t>
            </a:r>
            <a:r>
              <a:rPr lang="en-US" altLang="zh-CN" sz="2600" dirty="0">
                <a:solidFill>
                  <a:srgbClr val="000000"/>
                </a:solidFill>
                <a:latin typeface="阿里巴巴普惠体"/>
                <a:ea typeface="微软雅黑"/>
                <a:cs typeface="Times New Roman" panose="02020603050405020304" pitchFamily="18" charset="0"/>
                <a:sym typeface="阿里巴巴普惠体"/>
              </a:rPr>
              <a:t>π</a:t>
            </a:r>
            <a:r>
              <a:rPr lang="en-US" altLang="zh-CN" sz="2600" i="1" dirty="0" smtClean="0">
                <a:solidFill>
                  <a:srgbClr val="000000"/>
                </a:solidFill>
                <a:latin typeface="阿里巴巴普惠体"/>
                <a:ea typeface="微软雅黑"/>
                <a:cs typeface="Times New Roman" panose="02020603050405020304" pitchFamily="18" charset="0"/>
                <a:sym typeface="阿里巴巴普惠体"/>
              </a:rPr>
              <a:t>+    </a:t>
            </a:r>
            <a:r>
              <a:rPr lang="en-US" altLang="zh-CN" sz="2600" dirty="0" smtClean="0">
                <a:solidFill>
                  <a:srgbClr val="000000"/>
                </a:solidFill>
                <a:latin typeface="阿里巴巴普惠体"/>
                <a:ea typeface="微软雅黑"/>
                <a:cs typeface="Times New Roman" panose="02020603050405020304" pitchFamily="18" charset="0"/>
                <a:sym typeface="阿里巴巴普惠体"/>
              </a:rPr>
              <a:t>,</a:t>
            </a:r>
            <a:r>
              <a:rPr lang="en-US" altLang="zh-CN" sz="2600" i="1" dirty="0">
                <a:solidFill>
                  <a:srgbClr val="000000"/>
                </a:solidFill>
                <a:latin typeface="阿里巴巴普惠体"/>
                <a:ea typeface="微软雅黑"/>
                <a:cs typeface="Times New Roman" panose="02020603050405020304" pitchFamily="18" charset="0"/>
                <a:sym typeface="阿里巴巴普惠体"/>
              </a:rPr>
              <a:t>k</a:t>
            </a:r>
            <a:r>
              <a:rPr lang="zh-CN" altLang="zh-CN" sz="2600" dirty="0">
                <a:solidFill>
                  <a:srgbClr val="000000"/>
                </a:solidFill>
                <a:latin typeface="阿里巴巴普惠体"/>
                <a:ea typeface="微软雅黑"/>
                <a:cs typeface="宋体" panose="02010600030101010101" pitchFamily="2" charset="-122"/>
                <a:sym typeface="阿里巴巴普惠体"/>
              </a:rPr>
              <a:t>∈</a:t>
            </a:r>
            <a:r>
              <a:rPr lang="en-US" altLang="zh-CN" sz="2600" b="1" dirty="0">
                <a:solidFill>
                  <a:srgbClr val="000000"/>
                </a:solidFill>
                <a:latin typeface="阿里巴巴普惠体"/>
                <a:ea typeface="微软雅黑"/>
                <a:cs typeface="Times New Roman" panose="02020603050405020304" pitchFamily="18" charset="0"/>
                <a:sym typeface="阿里巴巴普惠体"/>
              </a:rPr>
              <a:t>Z</a:t>
            </a:r>
            <a:r>
              <a:rPr lang="en-US" altLang="zh-CN" sz="2600" i="1" dirty="0">
                <a:solidFill>
                  <a:srgbClr val="000000"/>
                </a:solidFill>
                <a:latin typeface="阿里巴巴普惠体"/>
                <a:ea typeface="微软雅黑"/>
                <a:cs typeface="Times New Roman" panose="02020603050405020304" pitchFamily="18" charset="0"/>
                <a:sym typeface="阿里巴巴普惠体"/>
              </a:rPr>
              <a:t>.</a:t>
            </a:r>
            <a:endParaRPr lang="zh-CN" altLang="zh-CN" sz="2600" dirty="0">
              <a:solidFill>
                <a:srgbClr val="000000"/>
              </a:solidFill>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677816672"/>
              </p:ext>
            </p:extLst>
          </p:nvPr>
        </p:nvGraphicFramePr>
        <p:xfrm>
          <a:off x="503774" y="4601462"/>
          <a:ext cx="480641" cy="524518"/>
        </p:xfrm>
        <a:graphic>
          <a:graphicData uri="http://schemas.openxmlformats.org/presentationml/2006/ole">
            <mc:AlternateContent xmlns:mc="http://schemas.openxmlformats.org/markup-compatibility/2006">
              <mc:Choice xmlns:v="urn:schemas-microsoft-com:vml" Requires="v">
                <p:oleObj spid="_x0000_s9235" name="文档" r:id="rId3" imgW="184987" imgH="198230" progId="Word.Document.12">
                  <p:embed/>
                </p:oleObj>
              </mc:Choice>
              <mc:Fallback>
                <p:oleObj name="文档" r:id="rId3" imgW="184987" imgH="19823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774" y="4601462"/>
                        <a:ext cx="480641" cy="524518"/>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13135192"/>
              </p:ext>
            </p:extLst>
          </p:nvPr>
        </p:nvGraphicFramePr>
        <p:xfrm>
          <a:off x="10050110" y="5028008"/>
          <a:ext cx="293688" cy="598487"/>
        </p:xfrm>
        <a:graphic>
          <a:graphicData uri="http://schemas.openxmlformats.org/presentationml/2006/ole">
            <mc:AlternateContent xmlns:mc="http://schemas.openxmlformats.org/markup-compatibility/2006">
              <mc:Choice xmlns:v="urn:schemas-microsoft-com:vml" Requires="v">
                <p:oleObj spid="_x0000_s9236" name="文档" r:id="rId5" imgW="133799" imgH="275644" progId="Word.Document.12">
                  <p:embed/>
                </p:oleObj>
              </mc:Choice>
              <mc:Fallback>
                <p:oleObj name="文档" r:id="rId5" imgW="133799" imgH="275644" progId="Word.Document.12">
                  <p:embed/>
                  <p:pic>
                    <p:nvPicPr>
                      <p:cNvPr id="0" name=""/>
                      <p:cNvPicPr>
                        <a:picLocks noChangeAspect="1" noChangeArrowheads="1"/>
                      </p:cNvPicPr>
                      <p:nvPr/>
                    </p:nvPicPr>
                    <p:blipFill>
                      <a:blip r:embed="rId6"/>
                      <a:srcRect/>
                      <a:stretch>
                        <a:fillRect/>
                      </a:stretch>
                    </p:blipFill>
                    <p:spPr bwMode="auto">
                      <a:xfrm>
                        <a:off x="10050110" y="5028008"/>
                        <a:ext cx="293688" cy="598487"/>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02499662"/>
              </p:ext>
            </p:extLst>
          </p:nvPr>
        </p:nvGraphicFramePr>
        <p:xfrm>
          <a:off x="8981598" y="5524837"/>
          <a:ext cx="293688" cy="598487"/>
        </p:xfrm>
        <a:graphic>
          <a:graphicData uri="http://schemas.openxmlformats.org/presentationml/2006/ole">
            <mc:AlternateContent xmlns:mc="http://schemas.openxmlformats.org/markup-compatibility/2006">
              <mc:Choice xmlns:v="urn:schemas-microsoft-com:vml" Requires="v">
                <p:oleObj spid="_x0000_s9237" name="文档" r:id="rId7" imgW="133799" imgH="275644" progId="Word.Document.12">
                  <p:embed/>
                </p:oleObj>
              </mc:Choice>
              <mc:Fallback>
                <p:oleObj name="文档" r:id="rId7" imgW="133799" imgH="275644" progId="Word.Document.12">
                  <p:embed/>
                  <p:pic>
                    <p:nvPicPr>
                      <p:cNvPr id="0" name=""/>
                      <p:cNvPicPr>
                        <a:picLocks noChangeAspect="1" noChangeArrowheads="1"/>
                      </p:cNvPicPr>
                      <p:nvPr/>
                    </p:nvPicPr>
                    <p:blipFill>
                      <a:blip r:embed="rId6"/>
                      <a:srcRect/>
                      <a:stretch>
                        <a:fillRect/>
                      </a:stretch>
                    </p:blipFill>
                    <p:spPr bwMode="auto">
                      <a:xfrm>
                        <a:off x="8981598" y="5524837"/>
                        <a:ext cx="293688" cy="59848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36865596"/>
              </p:ext>
            </p:extLst>
          </p:nvPr>
        </p:nvGraphicFramePr>
        <p:xfrm>
          <a:off x="9351488" y="3490116"/>
          <a:ext cx="480641" cy="524518"/>
        </p:xfrm>
        <a:graphic>
          <a:graphicData uri="http://schemas.openxmlformats.org/presentationml/2006/ole">
            <mc:AlternateContent xmlns:mc="http://schemas.openxmlformats.org/markup-compatibility/2006">
              <mc:Choice xmlns:v="urn:schemas-microsoft-com:vml" Requires="v">
                <p:oleObj spid="_x0000_s9238" name="文档" r:id="rId8" imgW="184987" imgH="198230" progId="Word.Document.12">
                  <p:embed/>
                </p:oleObj>
              </mc:Choice>
              <mc:Fallback>
                <p:oleObj name="文档" r:id="rId8" imgW="184987" imgH="19823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1488" y="3490116"/>
                        <a:ext cx="480641" cy="524518"/>
                      </a:xfrm>
                      <a:prstGeom prst="rect">
                        <a:avLst/>
                      </a:prstGeom>
                      <a:noFill/>
                    </p:spPr>
                  </p:pic>
                </p:oleObj>
              </mc:Fallback>
            </mc:AlternateContent>
          </a:graphicData>
        </a:graphic>
      </p:graphicFrame>
    </p:spTree>
    <p:extLst>
      <p:ext uri="{BB962C8B-B14F-4D97-AF65-F5344CB8AC3E}">
        <p14:creationId xmlns:p14="http://schemas.microsoft.com/office/powerpoint/2010/main" val="3207137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06759960"/>
              </p:ext>
            </p:extLst>
          </p:nvPr>
        </p:nvGraphicFramePr>
        <p:xfrm>
          <a:off x="458424" y="2564435"/>
          <a:ext cx="11275153" cy="1983130"/>
        </p:xfrm>
        <a:graphic>
          <a:graphicData uri="http://schemas.openxmlformats.org/presentationml/2006/ole">
            <mc:AlternateContent xmlns:mc="http://schemas.openxmlformats.org/markup-compatibility/2006">
              <mc:Choice xmlns:v="urn:schemas-microsoft-com:vml" Requires="v">
                <p:oleObj spid="_x0000_s10247" name="文档" r:id="rId3" imgW="4510061" imgH="793252" progId="Word.Document.12">
                  <p:embed/>
                </p:oleObj>
              </mc:Choice>
              <mc:Fallback>
                <p:oleObj name="文档" r:id="rId3" imgW="4510061" imgH="793252" progId="Word.Document.12">
                  <p:embed/>
                  <p:pic>
                    <p:nvPicPr>
                      <p:cNvPr id="0" name=""/>
                      <p:cNvPicPr/>
                      <p:nvPr/>
                    </p:nvPicPr>
                    <p:blipFill>
                      <a:blip r:embed="rId4"/>
                      <a:stretch>
                        <a:fillRect/>
                      </a:stretch>
                    </p:blipFill>
                    <p:spPr>
                      <a:xfrm>
                        <a:off x="458424" y="2564435"/>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217925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493161799"/>
              </p:ext>
            </p:extLst>
          </p:nvPr>
        </p:nvGraphicFramePr>
        <p:xfrm>
          <a:off x="458424" y="840553"/>
          <a:ext cx="11275153" cy="4958278"/>
        </p:xfrm>
        <a:graphic>
          <a:graphicData uri="http://schemas.openxmlformats.org/presentationml/2006/ole">
            <mc:AlternateContent xmlns:mc="http://schemas.openxmlformats.org/markup-compatibility/2006">
              <mc:Choice xmlns:v="urn:schemas-microsoft-com:vml" Requires="v">
                <p:oleObj spid="_x0000_s11271" name="文档" r:id="rId3" imgW="4510061" imgH="1983311" progId="Word.Document.12">
                  <p:embed/>
                </p:oleObj>
              </mc:Choice>
              <mc:Fallback>
                <p:oleObj name="文档" r:id="rId3" imgW="4510061" imgH="1983311" progId="Word.Document.12">
                  <p:embed/>
                  <p:pic>
                    <p:nvPicPr>
                      <p:cNvPr id="0" name=""/>
                      <p:cNvPicPr/>
                      <p:nvPr/>
                    </p:nvPicPr>
                    <p:blipFill>
                      <a:blip r:embed="rId4"/>
                      <a:stretch>
                        <a:fillRect/>
                      </a:stretch>
                    </p:blipFill>
                    <p:spPr>
                      <a:xfrm>
                        <a:off x="458424" y="840553"/>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3762408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1810998" cy="433754"/>
            <a:chOff x="381000" y="205656"/>
            <a:chExt cx="1181099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1810998" cy="433754"/>
              <a:chOff x="3048000" y="2286000"/>
              <a:chExt cx="5015133" cy="457200"/>
            </a:xfrm>
          </p:grpSpPr>
          <p:sp>
            <p:nvSpPr>
              <p:cNvPr id="12" name="矩形 11"/>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探究二</a:t>
                </a:r>
              </a:p>
            </p:txBody>
          </p:sp>
          <p:sp>
            <p:nvSpPr>
              <p:cNvPr id="13" name="矩形 12"/>
              <p:cNvSpPr/>
              <p:nvPr/>
            </p:nvSpPr>
            <p:spPr>
              <a:xfrm>
                <a:off x="3803112" y="2286000"/>
                <a:ext cx="4260021" cy="457200"/>
              </a:xfrm>
              <a:prstGeom prst="rect">
                <a:avLst/>
              </a:prstGeom>
              <a:gradFill flip="none" rotWithShape="1">
                <a:gsLst>
                  <a:gs pos="0">
                    <a:srgbClr val="DCDCDC">
                      <a:shade val="30000"/>
                      <a:satMod val="115000"/>
                    </a:srgbClr>
                  </a:gs>
                  <a:gs pos="68000">
                    <a:srgbClr val="DCDCDC">
                      <a:shade val="67500"/>
                      <a:satMod val="115000"/>
                    </a:srgbClr>
                  </a:gs>
                  <a:gs pos="87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利用两角和与差的三角函数公式解决给值求值问题</a:t>
                </a:r>
                <a:endParaRPr lang="en-US" altLang="zh-CN" sz="2800" b="1">
                  <a:solidFill>
                    <a:schemeClr val="bg1"/>
                  </a:solidFill>
                  <a:latin typeface="阿里巴巴普惠体"/>
                  <a:ea typeface="微软雅黑"/>
                  <a:sym typeface="阿里巴巴普惠体"/>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1999176439"/>
              </p:ext>
            </p:extLst>
          </p:nvPr>
        </p:nvGraphicFramePr>
        <p:xfrm>
          <a:off x="535845" y="1778192"/>
          <a:ext cx="11275153" cy="992015"/>
        </p:xfrm>
        <a:graphic>
          <a:graphicData uri="http://schemas.openxmlformats.org/presentationml/2006/ole">
            <mc:AlternateContent xmlns:mc="http://schemas.openxmlformats.org/markup-compatibility/2006">
              <mc:Choice xmlns:v="urn:schemas-microsoft-com:vml" Requires="v">
                <p:oleObj spid="_x0000_s12295" name="文档" r:id="rId3" imgW="4510061" imgH="396806" progId="Word.Document.12">
                  <p:embed/>
                </p:oleObj>
              </mc:Choice>
              <mc:Fallback>
                <p:oleObj name="文档" r:id="rId3" imgW="4510061" imgH="396806" progId="Word.Document.12">
                  <p:embed/>
                  <p:pic>
                    <p:nvPicPr>
                      <p:cNvPr id="0" name=""/>
                      <p:cNvPicPr/>
                      <p:nvPr/>
                    </p:nvPicPr>
                    <p:blipFill>
                      <a:blip r:embed="rId4"/>
                      <a:stretch>
                        <a:fillRect/>
                      </a:stretch>
                    </p:blipFill>
                    <p:spPr>
                      <a:xfrm>
                        <a:off x="535845" y="1778192"/>
                        <a:ext cx="11275153" cy="992015"/>
                      </a:xfrm>
                      <a:prstGeom prst="rect">
                        <a:avLst/>
                      </a:prstGeom>
                    </p:spPr>
                  </p:pic>
                </p:oleObj>
              </mc:Fallback>
            </mc:AlternateContent>
          </a:graphicData>
        </a:graphic>
      </p:graphicFrame>
      <p:sp>
        <p:nvSpPr>
          <p:cNvPr id="3" name="矩形 2"/>
          <p:cNvSpPr>
            <a:spLocks noChangeAspect="1"/>
          </p:cNvSpPr>
          <p:nvPr/>
        </p:nvSpPr>
        <p:spPr>
          <a:xfrm>
            <a:off x="381000" y="2763240"/>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求</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的值</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a:solidFill>
                  <a:srgbClr val="000000"/>
                </a:solidFill>
                <a:latin typeface="阿里巴巴普惠体"/>
                <a:ea typeface="微软雅黑"/>
                <a:cs typeface="Times New Roman" panose="02020603050405020304" pitchFamily="18" charset="0"/>
                <a:sym typeface="阿里巴巴普惠体"/>
              </a:rPr>
              <a:t>求</a:t>
            </a:r>
            <a:r>
              <a:rPr lang="en-US" altLang="zh-CN" sz="2800">
                <a:solidFill>
                  <a:srgbClr val="000000"/>
                </a:solidFill>
                <a:latin typeface="阿里巴巴普惠体"/>
                <a:ea typeface="微软雅黑"/>
                <a:cs typeface="Times New Roman" panose="02020603050405020304" pitchFamily="18" charset="0"/>
                <a:sym typeface="阿里巴巴普惠体"/>
              </a:rPr>
              <a:t>cos(</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的值</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(3)</a:t>
            </a:r>
            <a:r>
              <a:rPr lang="zh-CN" altLang="zh-CN" sz="2800">
                <a:solidFill>
                  <a:srgbClr val="000000"/>
                </a:solidFill>
                <a:latin typeface="阿里巴巴普惠体"/>
                <a:ea typeface="微软雅黑"/>
                <a:cs typeface="Times New Roman" panose="02020603050405020304" pitchFamily="18" charset="0"/>
                <a:sym typeface="阿里巴巴普惠体"/>
              </a:rPr>
              <a:t>求</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α</a:t>
            </a:r>
            <a:r>
              <a:rPr lang="zh-CN" altLang="zh-CN" sz="2800">
                <a:solidFill>
                  <a:srgbClr val="000000"/>
                </a:solidFill>
                <a:latin typeface="阿里巴巴普惠体"/>
                <a:ea typeface="微软雅黑"/>
                <a:cs typeface="Times New Roman" panose="02020603050405020304" pitchFamily="18" charset="0"/>
                <a:sym typeface="阿里巴巴普惠体"/>
              </a:rPr>
              <a:t>的值</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87368285"/>
              </p:ext>
            </p:extLst>
          </p:nvPr>
        </p:nvGraphicFramePr>
        <p:xfrm>
          <a:off x="458424" y="676169"/>
          <a:ext cx="11275153" cy="4958278"/>
        </p:xfrm>
        <a:graphic>
          <a:graphicData uri="http://schemas.openxmlformats.org/presentationml/2006/ole">
            <mc:AlternateContent xmlns:mc="http://schemas.openxmlformats.org/markup-compatibility/2006">
              <mc:Choice xmlns:v="urn:schemas-microsoft-com:vml" Requires="v">
                <p:oleObj spid="_x0000_s13319" name="文档" r:id="rId3" imgW="4510061" imgH="1983311" progId="Word.Document.12">
                  <p:embed/>
                </p:oleObj>
              </mc:Choice>
              <mc:Fallback>
                <p:oleObj name="文档" r:id="rId3" imgW="4510061" imgH="1983311" progId="Word.Document.12">
                  <p:embed/>
                  <p:pic>
                    <p:nvPicPr>
                      <p:cNvPr id="0" name=""/>
                      <p:cNvPicPr/>
                      <p:nvPr/>
                    </p:nvPicPr>
                    <p:blipFill>
                      <a:blip r:embed="rId4"/>
                      <a:stretch>
                        <a:fillRect/>
                      </a:stretch>
                    </p:blipFill>
                    <p:spPr>
                      <a:xfrm>
                        <a:off x="458424" y="676169"/>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4031097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096187782"/>
              </p:ext>
            </p:extLst>
          </p:nvPr>
        </p:nvGraphicFramePr>
        <p:xfrm>
          <a:off x="458424" y="447289"/>
          <a:ext cx="11275153" cy="5950293"/>
        </p:xfrm>
        <a:graphic>
          <a:graphicData uri="http://schemas.openxmlformats.org/presentationml/2006/ole">
            <mc:AlternateContent xmlns:mc="http://schemas.openxmlformats.org/markup-compatibility/2006">
              <mc:Choice xmlns:v="urn:schemas-microsoft-com:vml" Requires="v">
                <p:oleObj spid="_x0000_s14343" name="文档" r:id="rId3" imgW="4510061" imgH="2380117" progId="Word.Document.12">
                  <p:embed/>
                </p:oleObj>
              </mc:Choice>
              <mc:Fallback>
                <p:oleObj name="文档" r:id="rId3" imgW="4510061" imgH="2380117" progId="Word.Document.12">
                  <p:embed/>
                  <p:pic>
                    <p:nvPicPr>
                      <p:cNvPr id="0" name=""/>
                      <p:cNvPicPr/>
                      <p:nvPr/>
                    </p:nvPicPr>
                    <p:blipFill>
                      <a:blip r:embed="rId4"/>
                      <a:stretch>
                        <a:fillRect/>
                      </a:stretch>
                    </p:blipFill>
                    <p:spPr>
                      <a:xfrm>
                        <a:off x="458424" y="447289"/>
                        <a:ext cx="11275153" cy="5950293"/>
                      </a:xfrm>
                      <a:prstGeom prst="rect">
                        <a:avLst/>
                      </a:prstGeom>
                    </p:spPr>
                  </p:pic>
                </p:oleObj>
              </mc:Fallback>
            </mc:AlternateContent>
          </a:graphicData>
        </a:graphic>
      </p:graphicFrame>
    </p:spTree>
    <p:extLst>
      <p:ext uri="{BB962C8B-B14F-4D97-AF65-F5344CB8AC3E}">
        <p14:creationId xmlns:p14="http://schemas.microsoft.com/office/powerpoint/2010/main" val="2640116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5600257"/>
              </p:ext>
            </p:extLst>
          </p:nvPr>
        </p:nvGraphicFramePr>
        <p:xfrm>
          <a:off x="458424" y="1675829"/>
          <a:ext cx="11275153" cy="2975148"/>
        </p:xfrm>
        <a:graphic>
          <a:graphicData uri="http://schemas.openxmlformats.org/presentationml/2006/ole">
            <mc:AlternateContent xmlns:mc="http://schemas.openxmlformats.org/markup-compatibility/2006">
              <mc:Choice xmlns:v="urn:schemas-microsoft-com:vml" Requires="v">
                <p:oleObj spid="_x0000_s15367" name="文档" r:id="rId3" imgW="4510061" imgH="1190059" progId="Word.Document.12">
                  <p:embed/>
                </p:oleObj>
              </mc:Choice>
              <mc:Fallback>
                <p:oleObj name="文档" r:id="rId3" imgW="4510061" imgH="1190059" progId="Word.Document.12">
                  <p:embed/>
                  <p:pic>
                    <p:nvPicPr>
                      <p:cNvPr id="0" name=""/>
                      <p:cNvPicPr/>
                      <p:nvPr/>
                    </p:nvPicPr>
                    <p:blipFill>
                      <a:blip r:embed="rId4"/>
                      <a:stretch>
                        <a:fillRect/>
                      </a:stretch>
                    </p:blipFill>
                    <p:spPr>
                      <a:xfrm>
                        <a:off x="458424" y="1675829"/>
                        <a:ext cx="11275153" cy="2975148"/>
                      </a:xfrm>
                      <a:prstGeom prst="rect">
                        <a:avLst/>
                      </a:prstGeom>
                    </p:spPr>
                  </p:pic>
                </p:oleObj>
              </mc:Fallback>
            </mc:AlternateContent>
          </a:graphicData>
        </a:graphic>
      </p:graphicFrame>
    </p:spTree>
    <p:extLst>
      <p:ext uri="{BB962C8B-B14F-4D97-AF65-F5344CB8AC3E}">
        <p14:creationId xmlns:p14="http://schemas.microsoft.com/office/powerpoint/2010/main" val="2804562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反思感悟 给值求值的解题策略</a:t>
            </a: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在解决此类题目时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一定要注意已知角与所求角之间的关系</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恰当地运用拆角、拼角技巧</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同时分析角之间的关系</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利用角的代换化异角为同角</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具体做法是</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当条件中有两角时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一般把</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所求角</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表示为已知两角的和或差</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当已知角有一个时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可利用诱导公式把所求角转化为已知角</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25173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57738132"/>
              </p:ext>
            </p:extLst>
          </p:nvPr>
        </p:nvGraphicFramePr>
        <p:xfrm>
          <a:off x="458424" y="446308"/>
          <a:ext cx="11275153" cy="2479590"/>
        </p:xfrm>
        <a:graphic>
          <a:graphicData uri="http://schemas.openxmlformats.org/presentationml/2006/ole">
            <mc:AlternateContent xmlns:mc="http://schemas.openxmlformats.org/markup-compatibility/2006">
              <mc:Choice xmlns:v="urn:schemas-microsoft-com:vml" Requires="v">
                <p:oleObj spid="_x0000_s16396" name="文档" r:id="rId3" imgW="4510061" imgH="993277" progId="Word.Document.12">
                  <p:embed/>
                </p:oleObj>
              </mc:Choice>
              <mc:Fallback>
                <p:oleObj name="文档" r:id="rId3" imgW="4510061" imgH="993277" progId="Word.Document.12">
                  <p:embed/>
                  <p:pic>
                    <p:nvPicPr>
                      <p:cNvPr id="0" name=""/>
                      <p:cNvPicPr/>
                      <p:nvPr/>
                    </p:nvPicPr>
                    <p:blipFill>
                      <a:blip r:embed="rId4"/>
                      <a:stretch>
                        <a:fillRect/>
                      </a:stretch>
                    </p:blipFill>
                    <p:spPr>
                      <a:xfrm>
                        <a:off x="458424" y="446308"/>
                        <a:ext cx="11275153" cy="247959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081004163"/>
              </p:ext>
            </p:extLst>
          </p:nvPr>
        </p:nvGraphicFramePr>
        <p:xfrm>
          <a:off x="458424" y="3015306"/>
          <a:ext cx="11275153" cy="3470705"/>
        </p:xfrm>
        <a:graphic>
          <a:graphicData uri="http://schemas.openxmlformats.org/presentationml/2006/ole">
            <mc:AlternateContent xmlns:mc="http://schemas.openxmlformats.org/markup-compatibility/2006">
              <mc:Choice xmlns:v="urn:schemas-microsoft-com:vml" Requires="v">
                <p:oleObj spid="_x0000_s16397" name="文档" r:id="rId5" imgW="4510061" imgH="1388282" progId="Word.Document.12">
                  <p:embed/>
                </p:oleObj>
              </mc:Choice>
              <mc:Fallback>
                <p:oleObj name="文档" r:id="rId5" imgW="4510061" imgH="1388282" progId="Word.Document.12">
                  <p:embed/>
                  <p:pic>
                    <p:nvPicPr>
                      <p:cNvPr id="0" name=""/>
                      <p:cNvPicPr/>
                      <p:nvPr/>
                    </p:nvPicPr>
                    <p:blipFill>
                      <a:blip r:embed="rId6"/>
                      <a:stretch>
                        <a:fillRect/>
                      </a:stretch>
                    </p:blipFill>
                    <p:spPr>
                      <a:xfrm>
                        <a:off x="458424" y="3015306"/>
                        <a:ext cx="11275153" cy="3470705"/>
                      </a:xfrm>
                      <a:prstGeom prst="rect">
                        <a:avLst/>
                      </a:prstGeom>
                    </p:spPr>
                  </p:pic>
                </p:oleObj>
              </mc:Fallback>
            </mc:AlternateContent>
          </a:graphicData>
        </a:graphic>
      </p:graphicFrame>
    </p:spTree>
    <p:extLst>
      <p:ext uri="{BB962C8B-B14F-4D97-AF65-F5344CB8AC3E}">
        <p14:creationId xmlns:p14="http://schemas.microsoft.com/office/powerpoint/2010/main" val="261491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32811103"/>
              </p:ext>
            </p:extLst>
          </p:nvPr>
        </p:nvGraphicFramePr>
        <p:xfrm>
          <a:off x="458424" y="612876"/>
          <a:ext cx="11275153" cy="5454735"/>
        </p:xfrm>
        <a:graphic>
          <a:graphicData uri="http://schemas.openxmlformats.org/presentationml/2006/ole">
            <mc:AlternateContent xmlns:mc="http://schemas.openxmlformats.org/markup-compatibility/2006">
              <mc:Choice xmlns:v="urn:schemas-microsoft-com:vml" Requires="v">
                <p:oleObj spid="_x0000_s17415" name="文档" r:id="rId3" imgW="4510061" imgH="2181894" progId="Word.Document.12">
                  <p:embed/>
                </p:oleObj>
              </mc:Choice>
              <mc:Fallback>
                <p:oleObj name="文档" r:id="rId3" imgW="4510061" imgH="2181894" progId="Word.Document.12">
                  <p:embed/>
                  <p:pic>
                    <p:nvPicPr>
                      <p:cNvPr id="0" name=""/>
                      <p:cNvPicPr/>
                      <p:nvPr/>
                    </p:nvPicPr>
                    <p:blipFill>
                      <a:blip r:embed="rId4"/>
                      <a:stretch>
                        <a:fillRect/>
                      </a:stretch>
                    </p:blipFill>
                    <p:spPr>
                      <a:xfrm>
                        <a:off x="458424" y="612876"/>
                        <a:ext cx="11275153" cy="5454735"/>
                      </a:xfrm>
                      <a:prstGeom prst="rect">
                        <a:avLst/>
                      </a:prstGeom>
                    </p:spPr>
                  </p:pic>
                </p:oleObj>
              </mc:Fallback>
            </mc:AlternateContent>
          </a:graphicData>
        </a:graphic>
      </p:graphicFrame>
    </p:spTree>
    <p:extLst>
      <p:ext uri="{BB962C8B-B14F-4D97-AF65-F5344CB8AC3E}">
        <p14:creationId xmlns:p14="http://schemas.microsoft.com/office/powerpoint/2010/main" val="1168739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探究三</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71000">
                    <a:srgbClr val="DCDCDC">
                      <a:shade val="67500"/>
                      <a:satMod val="115000"/>
                    </a:srgbClr>
                  </a:gs>
                  <a:gs pos="88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利用两角和与差的三角函数公式解决给值求角问题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850369790"/>
              </p:ext>
            </p:extLst>
          </p:nvPr>
        </p:nvGraphicFramePr>
        <p:xfrm>
          <a:off x="458424" y="871734"/>
          <a:ext cx="11275153" cy="992015"/>
        </p:xfrm>
        <a:graphic>
          <a:graphicData uri="http://schemas.openxmlformats.org/presentationml/2006/ole">
            <mc:AlternateContent xmlns:mc="http://schemas.openxmlformats.org/markup-compatibility/2006">
              <mc:Choice xmlns:v="urn:schemas-microsoft-com:vml" Requires="v">
                <p:oleObj spid="_x0000_s18444" name="文档" r:id="rId3" imgW="4510061" imgH="396806" progId="Word.Document.12">
                  <p:embed/>
                </p:oleObj>
              </mc:Choice>
              <mc:Fallback>
                <p:oleObj name="文档" r:id="rId3" imgW="4510061" imgH="396806" progId="Word.Document.12">
                  <p:embed/>
                  <p:pic>
                    <p:nvPicPr>
                      <p:cNvPr id="0" name=""/>
                      <p:cNvPicPr/>
                      <p:nvPr/>
                    </p:nvPicPr>
                    <p:blipFill>
                      <a:blip r:embed="rId4"/>
                      <a:stretch>
                        <a:fillRect/>
                      </a:stretch>
                    </p:blipFill>
                    <p:spPr>
                      <a:xfrm>
                        <a:off x="458424" y="871734"/>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990451309"/>
              </p:ext>
            </p:extLst>
          </p:nvPr>
        </p:nvGraphicFramePr>
        <p:xfrm>
          <a:off x="463550" y="1870716"/>
          <a:ext cx="11261725" cy="4062413"/>
        </p:xfrm>
        <a:graphic>
          <a:graphicData uri="http://schemas.openxmlformats.org/presentationml/2006/ole">
            <mc:AlternateContent xmlns:mc="http://schemas.openxmlformats.org/markup-compatibility/2006">
              <mc:Choice xmlns:v="urn:schemas-microsoft-com:vml" Requires="v">
                <p:oleObj spid="_x0000_s18445" name="文档" r:id="rId5" imgW="4510061" imgH="1632276" progId="Word.Document.12">
                  <p:embed/>
                </p:oleObj>
              </mc:Choice>
              <mc:Fallback>
                <p:oleObj name="文档" r:id="rId5" imgW="4510061" imgH="1632276" progId="Word.Document.12">
                  <p:embed/>
                  <p:pic>
                    <p:nvPicPr>
                      <p:cNvPr id="0" name=""/>
                      <p:cNvPicPr/>
                      <p:nvPr/>
                    </p:nvPicPr>
                    <p:blipFill>
                      <a:blip r:embed="rId6"/>
                      <a:stretch>
                        <a:fillRect/>
                      </a:stretch>
                    </p:blipFill>
                    <p:spPr>
                      <a:xfrm>
                        <a:off x="463550" y="1870716"/>
                        <a:ext cx="11261725" cy="4062413"/>
                      </a:xfrm>
                      <a:prstGeom prst="rect">
                        <a:avLst/>
                      </a:prstGeom>
                    </p:spPr>
                  </p:pic>
                </p:oleObj>
              </mc:Fallback>
            </mc:AlternateContent>
          </a:graphicData>
        </a:graphic>
      </p:graphicFrame>
    </p:spTree>
    <p:extLst>
      <p:ext uri="{BB962C8B-B14F-4D97-AF65-F5344CB8AC3E}">
        <p14:creationId xmlns:p14="http://schemas.microsoft.com/office/powerpoint/2010/main" val="146571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86444037"/>
              </p:ext>
            </p:extLst>
          </p:nvPr>
        </p:nvGraphicFramePr>
        <p:xfrm>
          <a:off x="458424" y="499330"/>
          <a:ext cx="11275153" cy="1983130"/>
        </p:xfrm>
        <a:graphic>
          <a:graphicData uri="http://schemas.openxmlformats.org/presentationml/2006/ole">
            <mc:AlternateContent xmlns:mc="http://schemas.openxmlformats.org/markup-compatibility/2006">
              <mc:Choice xmlns:v="urn:schemas-microsoft-com:vml" Requires="v">
                <p:oleObj spid="_x0000_s19466" name="文档" r:id="rId3" imgW="4510061" imgH="793252" progId="Word.Document.12">
                  <p:embed/>
                </p:oleObj>
              </mc:Choice>
              <mc:Fallback>
                <p:oleObj name="文档" r:id="rId3" imgW="4510061" imgH="793252" progId="Word.Document.12">
                  <p:embed/>
                  <p:pic>
                    <p:nvPicPr>
                      <p:cNvPr id="0" name=""/>
                      <p:cNvPicPr/>
                      <p:nvPr/>
                    </p:nvPicPr>
                    <p:blipFill>
                      <a:blip r:embed="rId4"/>
                      <a:stretch>
                        <a:fillRect/>
                      </a:stretch>
                    </p:blipFill>
                    <p:spPr>
                      <a:xfrm>
                        <a:off x="458424" y="499330"/>
                        <a:ext cx="11275153" cy="198313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98732283"/>
              </p:ext>
            </p:extLst>
          </p:nvPr>
        </p:nvGraphicFramePr>
        <p:xfrm>
          <a:off x="458424" y="2322433"/>
          <a:ext cx="11275153" cy="3967163"/>
        </p:xfrm>
        <a:graphic>
          <a:graphicData uri="http://schemas.openxmlformats.org/presentationml/2006/ole">
            <mc:AlternateContent xmlns:mc="http://schemas.openxmlformats.org/markup-compatibility/2006">
              <mc:Choice xmlns:v="urn:schemas-microsoft-com:vml" Requires="v">
                <p:oleObj spid="_x0000_s19467" name="文档" r:id="rId5" imgW="4510061" imgH="1586865" progId="Word.Document.12">
                  <p:embed/>
                </p:oleObj>
              </mc:Choice>
              <mc:Fallback>
                <p:oleObj name="文档" r:id="rId5" imgW="4510061" imgH="1586865" progId="Word.Document.12">
                  <p:embed/>
                  <p:pic>
                    <p:nvPicPr>
                      <p:cNvPr id="0" name=""/>
                      <p:cNvPicPr/>
                      <p:nvPr/>
                    </p:nvPicPr>
                    <p:blipFill>
                      <a:blip r:embed="rId6"/>
                      <a:stretch>
                        <a:fillRect/>
                      </a:stretch>
                    </p:blipFill>
                    <p:spPr>
                      <a:xfrm>
                        <a:off x="458424" y="2322433"/>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9793876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latin typeface="阿里巴巴普惠体"/>
                    <a:ea typeface="微软雅黑"/>
                    <a:sym typeface="阿里巴巴普惠体"/>
                  </a:rPr>
                  <a:t> 素养形成</a:t>
                </a:r>
                <a:endParaRPr lang="en-US" altLang="zh-CN" sz="2800" b="1">
                  <a:solidFill>
                    <a:schemeClr val="bg1"/>
                  </a:solidFill>
                  <a:latin typeface="阿里巴巴普惠体"/>
                  <a:ea typeface="微软雅黑"/>
                  <a:sym typeface="阿里巴巴普惠体"/>
                </a:endParaRPr>
              </a:p>
            </p:txBody>
          </p:sp>
        </p:grpSp>
      </p:grpSp>
      <p:sp>
        <p:nvSpPr>
          <p:cNvPr id="2" name="矩形 1"/>
          <p:cNvSpPr>
            <a:spLocks noChangeAspect="1"/>
          </p:cNvSpPr>
          <p:nvPr/>
        </p:nvSpPr>
        <p:spPr>
          <a:xfrm>
            <a:off x="381000" y="706985"/>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b="1">
                <a:solidFill>
                  <a:srgbClr val="000000"/>
                </a:solidFill>
                <a:latin typeface="阿里巴巴普惠体"/>
                <a:ea typeface="微软雅黑"/>
                <a:cs typeface="Times New Roman" panose="02020603050405020304" pitchFamily="18" charset="0"/>
                <a:sym typeface="阿里巴巴普惠体"/>
              </a:rPr>
              <a:t>两角和与差的正切公式的变形及常见结论</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阿里巴巴普惠体"/>
                <a:ea typeface="微软雅黑"/>
                <a:cs typeface="Times New Roman" panose="02020603050405020304" pitchFamily="18" charset="0"/>
                <a:sym typeface="阿里巴巴普惠体"/>
              </a:rPr>
              <a:t>1</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effectLst/>
                <a:latin typeface="阿里巴巴普惠体"/>
                <a:ea typeface="微软雅黑"/>
                <a:cs typeface="Times New Roman" panose="02020603050405020304" pitchFamily="18" charset="0"/>
                <a:sym typeface="阿里巴巴普惠体"/>
              </a:rPr>
              <a:t>公式的变形</a:t>
            </a: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两角和的正切公式的变形</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阿里巴巴普惠体"/>
                <a:ea typeface="微软雅黑"/>
                <a:cs typeface="宋体" panose="02010600030101010101" pitchFamily="2" charset="-122"/>
                <a:sym typeface="阿里巴巴普惠体"/>
              </a:rPr>
              <a:t>③</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tan(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α</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effectLst/>
                <a:latin typeface="阿里巴巴普惠体"/>
                <a:ea typeface="微软雅黑"/>
                <a:cs typeface="Times New Roman" panose="02020603050405020304" pitchFamily="18" charset="0"/>
                <a:sym typeface="阿里巴巴普惠体"/>
              </a:rPr>
              <a:t>β</a:t>
            </a:r>
            <a:r>
              <a:rPr lang="en-US" altLang="zh-CN" sz="2800" smtClean="0">
                <a:solidFill>
                  <a:srgbClr val="000000"/>
                </a:solidFill>
                <a:latin typeface="阿里巴巴普惠体"/>
                <a:ea typeface="微软雅黑"/>
                <a:cs typeface="Times New Roman" panose="02020603050405020304" pitchFamily="18" charset="0"/>
                <a:sym typeface="阿里巴巴普惠体"/>
              </a:rPr>
              <a:t>)</a:t>
            </a:r>
            <a:r>
              <a:rPr lang="en-US" altLang="zh-CN" sz="2800" i="1" smtClean="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91385272"/>
              </p:ext>
            </p:extLst>
          </p:nvPr>
        </p:nvGraphicFramePr>
        <p:xfrm>
          <a:off x="458424" y="2316205"/>
          <a:ext cx="11275153" cy="2479590"/>
        </p:xfrm>
        <a:graphic>
          <a:graphicData uri="http://schemas.openxmlformats.org/presentationml/2006/ole">
            <mc:AlternateContent xmlns:mc="http://schemas.openxmlformats.org/markup-compatibility/2006">
              <mc:Choice xmlns:v="urn:schemas-microsoft-com:vml" Requires="v">
                <p:oleObj spid="_x0000_s20486" name="文档" r:id="rId3" imgW="4510061" imgH="991836" progId="Word.Document.12">
                  <p:embed/>
                </p:oleObj>
              </mc:Choice>
              <mc:Fallback>
                <p:oleObj name="文档" r:id="rId3" imgW="4510061" imgH="991836" progId="Word.Document.12">
                  <p:embed/>
                  <p:pic>
                    <p:nvPicPr>
                      <p:cNvPr id="0" name=""/>
                      <p:cNvPicPr/>
                      <p:nvPr/>
                    </p:nvPicPr>
                    <p:blipFill>
                      <a:blip r:embed="rId4"/>
                      <a:stretch>
                        <a:fillRect/>
                      </a:stretch>
                    </p:blipFill>
                    <p:spPr>
                      <a:xfrm>
                        <a:off x="458424" y="2316205"/>
                        <a:ext cx="11275153" cy="2479590"/>
                      </a:xfrm>
                      <a:prstGeom prst="rect">
                        <a:avLst/>
                      </a:prstGeom>
                    </p:spPr>
                  </p:pic>
                </p:oleObj>
              </mc:Fallback>
            </mc:AlternateContent>
          </a:graphicData>
        </a:graphic>
      </p:graphicFrame>
    </p:spTree>
    <p:extLst>
      <p:ext uri="{BB962C8B-B14F-4D97-AF65-F5344CB8AC3E}">
        <p14:creationId xmlns:p14="http://schemas.microsoft.com/office/powerpoint/2010/main" val="3675190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91050"/>
            <a:ext cx="11430000" cy="6100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a:solidFill>
                  <a:srgbClr val="000000"/>
                </a:solidFill>
                <a:latin typeface="阿里巴巴普惠体"/>
                <a:ea typeface="微软雅黑"/>
                <a:cs typeface="Times New Roman" panose="02020603050405020304" pitchFamily="18" charset="0"/>
                <a:sym typeface="阿里巴巴普惠体"/>
              </a:rPr>
              <a:t>两角差的正切公式的</a:t>
            </a:r>
            <a:r>
              <a:rPr lang="zh-CN" altLang="zh-CN" sz="2800" smtClean="0">
                <a:solidFill>
                  <a:srgbClr val="000000"/>
                </a:solidFill>
                <a:latin typeface="阿里巴巴普惠体"/>
                <a:ea typeface="微软雅黑"/>
                <a:cs typeface="Times New Roman" panose="02020603050405020304" pitchFamily="18" charset="0"/>
                <a:sym typeface="阿里巴巴普惠体"/>
              </a:rPr>
              <a:t>变形</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75744191"/>
              </p:ext>
            </p:extLst>
          </p:nvPr>
        </p:nvGraphicFramePr>
        <p:xfrm>
          <a:off x="458424" y="2383263"/>
          <a:ext cx="11275153" cy="1983130"/>
        </p:xfrm>
        <a:graphic>
          <a:graphicData uri="http://schemas.openxmlformats.org/presentationml/2006/ole">
            <mc:AlternateContent xmlns:mc="http://schemas.openxmlformats.org/markup-compatibility/2006">
              <mc:Choice xmlns:v="urn:schemas-microsoft-com:vml" Requires="v">
                <p:oleObj spid="_x0000_s21510" name="文档" r:id="rId3" imgW="4510061" imgH="793252" progId="Word.Document.12">
                  <p:embed/>
                </p:oleObj>
              </mc:Choice>
              <mc:Fallback>
                <p:oleObj name="文档" r:id="rId3" imgW="4510061" imgH="793252" progId="Word.Document.12">
                  <p:embed/>
                  <p:pic>
                    <p:nvPicPr>
                      <p:cNvPr id="0" name=""/>
                      <p:cNvPicPr/>
                      <p:nvPr/>
                    </p:nvPicPr>
                    <p:blipFill>
                      <a:blip r:embed="rId4"/>
                      <a:stretch>
                        <a:fillRect/>
                      </a:stretch>
                    </p:blipFill>
                    <p:spPr>
                      <a:xfrm>
                        <a:off x="458424" y="2383263"/>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945992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55653"/>
            <a:ext cx="3106941"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阿里巴巴普惠体"/>
                <a:ea typeface="微软雅黑"/>
                <a:cs typeface="Times New Roman" panose="02020603050405020304" pitchFamily="18" charset="0"/>
                <a:sym typeface="阿里巴巴普惠体"/>
              </a:rPr>
              <a:t>2</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公式的相关</a:t>
            </a:r>
            <a:r>
              <a:rPr lang="zh-CN" altLang="zh-CN" sz="2800" smtClean="0">
                <a:solidFill>
                  <a:srgbClr val="000000"/>
                </a:solidFill>
                <a:latin typeface="阿里巴巴普惠体"/>
                <a:ea typeface="微软雅黑"/>
                <a:cs typeface="Times New Roman" panose="02020603050405020304" pitchFamily="18" charset="0"/>
                <a:sym typeface="阿里巴巴普惠体"/>
              </a:rPr>
              <a:t>结论</a:t>
            </a:r>
            <a:r>
              <a:rPr lang="en-US" altLang="zh-CN" sz="280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79612266"/>
              </p:ext>
            </p:extLst>
          </p:nvPr>
        </p:nvGraphicFramePr>
        <p:xfrm>
          <a:off x="458424" y="1592968"/>
          <a:ext cx="11275153" cy="3967163"/>
        </p:xfrm>
        <a:graphic>
          <a:graphicData uri="http://schemas.openxmlformats.org/presentationml/2006/ole">
            <mc:AlternateContent xmlns:mc="http://schemas.openxmlformats.org/markup-compatibility/2006">
              <mc:Choice xmlns:v="urn:schemas-microsoft-com:vml" Requires="v">
                <p:oleObj spid="_x0000_s22534" name="文档" r:id="rId3" imgW="4510061" imgH="1586865" progId="Word.Document.12">
                  <p:embed/>
                </p:oleObj>
              </mc:Choice>
              <mc:Fallback>
                <p:oleObj name="文档" r:id="rId3" imgW="4510061" imgH="1586865" progId="Word.Document.12">
                  <p:embed/>
                  <p:pic>
                    <p:nvPicPr>
                      <p:cNvPr id="0" name=""/>
                      <p:cNvPicPr/>
                      <p:nvPr/>
                    </p:nvPicPr>
                    <p:blipFill>
                      <a:blip r:embed="rId4"/>
                      <a:stretch>
                        <a:fillRect/>
                      </a:stretch>
                    </p:blipFill>
                    <p:spPr>
                      <a:xfrm>
                        <a:off x="458424" y="1592968"/>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1596971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97118485"/>
              </p:ext>
            </p:extLst>
          </p:nvPr>
        </p:nvGraphicFramePr>
        <p:xfrm>
          <a:off x="458424" y="458233"/>
          <a:ext cx="11275153" cy="1983130"/>
        </p:xfrm>
        <a:graphic>
          <a:graphicData uri="http://schemas.openxmlformats.org/presentationml/2006/ole">
            <mc:AlternateContent xmlns:mc="http://schemas.openxmlformats.org/markup-compatibility/2006">
              <mc:Choice xmlns:v="urn:schemas-microsoft-com:vml" Requires="v">
                <p:oleObj spid="_x0000_s23566" name="文档" r:id="rId3" imgW="4510061" imgH="793252" progId="Word.Document.12">
                  <p:embed/>
                </p:oleObj>
              </mc:Choice>
              <mc:Fallback>
                <p:oleObj name="文档" r:id="rId3" imgW="4510061" imgH="793252" progId="Word.Document.12">
                  <p:embed/>
                  <p:pic>
                    <p:nvPicPr>
                      <p:cNvPr id="0" name=""/>
                      <p:cNvPicPr/>
                      <p:nvPr/>
                    </p:nvPicPr>
                    <p:blipFill>
                      <a:blip r:embed="rId4"/>
                      <a:stretch>
                        <a:fillRect/>
                      </a:stretch>
                    </p:blipFill>
                    <p:spPr>
                      <a:xfrm>
                        <a:off x="458424" y="458233"/>
                        <a:ext cx="11275153" cy="198313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39182746"/>
              </p:ext>
            </p:extLst>
          </p:nvPr>
        </p:nvGraphicFramePr>
        <p:xfrm>
          <a:off x="458424" y="2441363"/>
          <a:ext cx="11275153" cy="2479590"/>
        </p:xfrm>
        <a:graphic>
          <a:graphicData uri="http://schemas.openxmlformats.org/presentationml/2006/ole">
            <mc:AlternateContent xmlns:mc="http://schemas.openxmlformats.org/markup-compatibility/2006">
              <mc:Choice xmlns:v="urn:schemas-microsoft-com:vml" Requires="v">
                <p:oleObj spid="_x0000_s23567" name="文档" r:id="rId5" imgW="4510061" imgH="991836" progId="Word.Document.12">
                  <p:embed/>
                </p:oleObj>
              </mc:Choice>
              <mc:Fallback>
                <p:oleObj name="文档" r:id="rId5" imgW="4510061" imgH="991836" progId="Word.Document.12">
                  <p:embed/>
                  <p:pic>
                    <p:nvPicPr>
                      <p:cNvPr id="0" name=""/>
                      <p:cNvPicPr/>
                      <p:nvPr/>
                    </p:nvPicPr>
                    <p:blipFill>
                      <a:blip r:embed="rId6"/>
                      <a:stretch>
                        <a:fillRect/>
                      </a:stretch>
                    </p:blipFill>
                    <p:spPr>
                      <a:xfrm>
                        <a:off x="458424" y="2441363"/>
                        <a:ext cx="11275153" cy="247959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03583405"/>
              </p:ext>
            </p:extLst>
          </p:nvPr>
        </p:nvGraphicFramePr>
        <p:xfrm>
          <a:off x="458424" y="4631938"/>
          <a:ext cx="11275153" cy="992015"/>
        </p:xfrm>
        <a:graphic>
          <a:graphicData uri="http://schemas.openxmlformats.org/presentationml/2006/ole">
            <mc:AlternateContent xmlns:mc="http://schemas.openxmlformats.org/markup-compatibility/2006">
              <mc:Choice xmlns:v="urn:schemas-microsoft-com:vml" Requires="v">
                <p:oleObj spid="_x0000_s23568"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4631938"/>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4233965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034885"/>
            <a:ext cx="11430000" cy="173034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方法点睛  注意整体意识在解题中的应用</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若化简的式子中出现</a:t>
            </a:r>
            <a:r>
              <a:rPr lang="zh-CN" altLang="zh-CN" sz="2800" smtClean="0">
                <a:solidFill>
                  <a:srgbClr val="000000"/>
                </a:solidFill>
                <a:latin typeface="阿里巴巴普惠体"/>
                <a:ea typeface="微软雅黑"/>
                <a:cs typeface="Times New Roman" panose="02020603050405020304" pitchFamily="18" charset="0"/>
                <a:sym typeface="阿里巴巴普惠体"/>
              </a:rPr>
              <a:t>了</a:t>
            </a:r>
            <a:endParaRPr lang="en-US" altLang="zh-CN" sz="280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α</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及</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α</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两个整体</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常考虑</a:t>
            </a:r>
            <a:r>
              <a:rPr lang="en-US" altLang="zh-CN" sz="2800">
                <a:solidFill>
                  <a:srgbClr val="000000"/>
                </a:solidFill>
                <a:latin typeface="阿里巴巴普惠体"/>
                <a:ea typeface="微软雅黑"/>
                <a:cs typeface="Times New Roman" panose="02020603050405020304" pitchFamily="18" charset="0"/>
                <a:sym typeface="阿里巴巴普惠体"/>
              </a:rPr>
              <a:t>tan(</a:t>
            </a:r>
            <a:r>
              <a:rPr lang="en-US" altLang="zh-CN" sz="2800" i="1">
                <a:solidFill>
                  <a:srgbClr val="000000"/>
                </a:solidFill>
                <a:latin typeface="阿里巴巴普惠体"/>
                <a:ea typeface="微软雅黑"/>
                <a:cs typeface="Times New Roman" panose="02020603050405020304" pitchFamily="18" charset="0"/>
                <a:sym typeface="阿里巴巴普惠体"/>
              </a:rPr>
              <a:t>α</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的变形公式</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941647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a:solidFill>
                      <a:schemeClr val="bg1"/>
                    </a:solidFill>
                    <a:latin typeface="阿里巴巴普惠体"/>
                    <a:ea typeface="微软雅黑"/>
                    <a:sym typeface="阿里巴巴普惠体"/>
                  </a:rPr>
                  <a:t> </a:t>
                </a:r>
                <a:r>
                  <a:rPr lang="zh-CN" altLang="en-US" sz="2800" b="1">
                    <a:solidFill>
                      <a:schemeClr val="bg1"/>
                    </a:solidFill>
                    <a:latin typeface="阿里巴巴普惠体"/>
                    <a:ea typeface="微软雅黑"/>
                    <a:sym typeface="阿里巴巴普惠体"/>
                  </a:rPr>
                  <a:t>当堂检测</a:t>
                </a:r>
                <a:endParaRPr lang="en-US" altLang="zh-CN" sz="2800" b="1">
                  <a:solidFill>
                    <a:schemeClr val="bg1"/>
                  </a:solidFill>
                  <a:latin typeface="阿里巴巴普惠体"/>
                  <a:ea typeface="微软雅黑"/>
                  <a:sym typeface="阿里巴巴普惠体"/>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813413529"/>
              </p:ext>
            </p:extLst>
          </p:nvPr>
        </p:nvGraphicFramePr>
        <p:xfrm>
          <a:off x="458424" y="1507396"/>
          <a:ext cx="11275153" cy="1487573"/>
        </p:xfrm>
        <a:graphic>
          <a:graphicData uri="http://schemas.openxmlformats.org/presentationml/2006/ole">
            <mc:AlternateContent xmlns:mc="http://schemas.openxmlformats.org/markup-compatibility/2006">
              <mc:Choice xmlns:v="urn:schemas-microsoft-com:vml" Requires="v">
                <p:oleObj spid="_x0000_s24586" name="文档" r:id="rId3" imgW="4510061" imgH="595029" progId="Word.Document.12">
                  <p:embed/>
                </p:oleObj>
              </mc:Choice>
              <mc:Fallback>
                <p:oleObj name="文档" r:id="rId3" imgW="4510061" imgH="595029" progId="Word.Document.12">
                  <p:embed/>
                  <p:pic>
                    <p:nvPicPr>
                      <p:cNvPr id="0" name=""/>
                      <p:cNvPicPr/>
                      <p:nvPr/>
                    </p:nvPicPr>
                    <p:blipFill>
                      <a:blip r:embed="rId4"/>
                      <a:stretch>
                        <a:fillRect/>
                      </a:stretch>
                    </p:blipFill>
                    <p:spPr>
                      <a:xfrm>
                        <a:off x="458424" y="1507396"/>
                        <a:ext cx="11275153" cy="1487573"/>
                      </a:xfrm>
                      <a:prstGeom prst="rect">
                        <a:avLst/>
                      </a:prstGeom>
                    </p:spPr>
                  </p:pic>
                </p:oleObj>
              </mc:Fallback>
            </mc:AlternateContent>
          </a:graphicData>
        </a:graphic>
      </p:graphicFrame>
      <p:sp>
        <p:nvSpPr>
          <p:cNvPr id="3" name="矩形 2"/>
          <p:cNvSpPr>
            <a:spLocks noChangeAspect="1"/>
          </p:cNvSpPr>
          <p:nvPr/>
        </p:nvSpPr>
        <p:spPr>
          <a:xfrm>
            <a:off x="381000" y="2994969"/>
            <a:ext cx="1340432"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D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6353582"/>
              </p:ext>
            </p:extLst>
          </p:nvPr>
        </p:nvGraphicFramePr>
        <p:xfrm>
          <a:off x="458424" y="3754285"/>
          <a:ext cx="11275153" cy="992015"/>
        </p:xfrm>
        <a:graphic>
          <a:graphicData uri="http://schemas.openxmlformats.org/presentationml/2006/ole">
            <mc:AlternateContent xmlns:mc="http://schemas.openxmlformats.org/markup-compatibility/2006">
              <mc:Choice xmlns:v="urn:schemas-microsoft-com:vml" Requires="v">
                <p:oleObj spid="_x0000_s24587" name="文档" r:id="rId5" imgW="4510061" imgH="396806" progId="Word.Document.12">
                  <p:embed/>
                </p:oleObj>
              </mc:Choice>
              <mc:Fallback>
                <p:oleObj name="文档" r:id="rId5" imgW="4510061" imgH="396806" progId="Word.Document.12">
                  <p:embed/>
                  <p:pic>
                    <p:nvPicPr>
                      <p:cNvPr id="0" name=""/>
                      <p:cNvPicPr/>
                      <p:nvPr/>
                    </p:nvPicPr>
                    <p:blipFill>
                      <a:blip r:embed="rId6"/>
                      <a:stretch>
                        <a:fillRect/>
                      </a:stretch>
                    </p:blipFill>
                    <p:spPr>
                      <a:xfrm>
                        <a:off x="458424" y="3754285"/>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3227328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0546842"/>
              </p:ext>
            </p:extLst>
          </p:nvPr>
        </p:nvGraphicFramePr>
        <p:xfrm>
          <a:off x="458424" y="1209445"/>
          <a:ext cx="11275153" cy="1487573"/>
        </p:xfrm>
        <a:graphic>
          <a:graphicData uri="http://schemas.openxmlformats.org/presentationml/2006/ole">
            <mc:AlternateContent xmlns:mc="http://schemas.openxmlformats.org/markup-compatibility/2006">
              <mc:Choice xmlns:v="urn:schemas-microsoft-com:vml" Requires="v">
                <p:oleObj spid="_x0000_s25610" name="文档" r:id="rId3" imgW="4510061" imgH="595029" progId="Word.Document.12">
                  <p:embed/>
                </p:oleObj>
              </mc:Choice>
              <mc:Fallback>
                <p:oleObj name="文档" r:id="rId3" imgW="4510061" imgH="595029" progId="Word.Document.12">
                  <p:embed/>
                  <p:pic>
                    <p:nvPicPr>
                      <p:cNvPr id="0" name=""/>
                      <p:cNvPicPr/>
                      <p:nvPr/>
                    </p:nvPicPr>
                    <p:blipFill>
                      <a:blip r:embed="rId4"/>
                      <a:stretch>
                        <a:fillRect/>
                      </a:stretch>
                    </p:blipFill>
                    <p:spPr>
                      <a:xfrm>
                        <a:off x="458424" y="1209445"/>
                        <a:ext cx="11275153" cy="1487573"/>
                      </a:xfrm>
                      <a:prstGeom prst="rect">
                        <a:avLst/>
                      </a:prstGeom>
                    </p:spPr>
                  </p:pic>
                </p:oleObj>
              </mc:Fallback>
            </mc:AlternateContent>
          </a:graphicData>
        </a:graphic>
      </p:graphicFrame>
      <p:sp>
        <p:nvSpPr>
          <p:cNvPr id="3" name="矩形 2"/>
          <p:cNvSpPr>
            <a:spLocks noChangeAspect="1"/>
          </p:cNvSpPr>
          <p:nvPr/>
        </p:nvSpPr>
        <p:spPr>
          <a:xfrm>
            <a:off x="381000" y="2940328"/>
            <a:ext cx="1327608"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A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19532716"/>
              </p:ext>
            </p:extLst>
          </p:nvPr>
        </p:nvGraphicFramePr>
        <p:xfrm>
          <a:off x="458424" y="3738086"/>
          <a:ext cx="11275153" cy="992015"/>
        </p:xfrm>
        <a:graphic>
          <a:graphicData uri="http://schemas.openxmlformats.org/presentationml/2006/ole">
            <mc:AlternateContent xmlns:mc="http://schemas.openxmlformats.org/markup-compatibility/2006">
              <mc:Choice xmlns:v="urn:schemas-microsoft-com:vml" Requires="v">
                <p:oleObj spid="_x0000_s25611" name="文档" r:id="rId5" imgW="4510061" imgH="396806" progId="Word.Document.12">
                  <p:embed/>
                </p:oleObj>
              </mc:Choice>
              <mc:Fallback>
                <p:oleObj name="文档" r:id="rId5" imgW="4510061" imgH="396806" progId="Word.Document.12">
                  <p:embed/>
                  <p:pic>
                    <p:nvPicPr>
                      <p:cNvPr id="0" name=""/>
                      <p:cNvPicPr/>
                      <p:nvPr/>
                    </p:nvPicPr>
                    <p:blipFill>
                      <a:blip r:embed="rId6"/>
                      <a:stretch>
                        <a:fillRect/>
                      </a:stretch>
                    </p:blipFill>
                    <p:spPr>
                      <a:xfrm>
                        <a:off x="458424" y="3738086"/>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14768305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66856280"/>
              </p:ext>
            </p:extLst>
          </p:nvPr>
        </p:nvGraphicFramePr>
        <p:xfrm>
          <a:off x="458424" y="518226"/>
          <a:ext cx="11275153" cy="2479590"/>
        </p:xfrm>
        <a:graphic>
          <a:graphicData uri="http://schemas.openxmlformats.org/presentationml/2006/ole">
            <mc:AlternateContent xmlns:mc="http://schemas.openxmlformats.org/markup-compatibility/2006">
              <mc:Choice xmlns:v="urn:schemas-microsoft-com:vml" Requires="v">
                <p:oleObj spid="_x0000_s26634" name="文档" r:id="rId3" imgW="4510061" imgH="991836" progId="Word.Document.12">
                  <p:embed/>
                </p:oleObj>
              </mc:Choice>
              <mc:Fallback>
                <p:oleObj name="文档" r:id="rId3" imgW="4510061" imgH="991836" progId="Word.Document.12">
                  <p:embed/>
                  <p:pic>
                    <p:nvPicPr>
                      <p:cNvPr id="0" name=""/>
                      <p:cNvPicPr/>
                      <p:nvPr/>
                    </p:nvPicPr>
                    <p:blipFill>
                      <a:blip r:embed="rId4"/>
                      <a:stretch>
                        <a:fillRect/>
                      </a:stretch>
                    </p:blipFill>
                    <p:spPr>
                      <a:xfrm>
                        <a:off x="458424" y="518226"/>
                        <a:ext cx="11275153" cy="2479590"/>
                      </a:xfrm>
                      <a:prstGeom prst="rect">
                        <a:avLst/>
                      </a:prstGeom>
                    </p:spPr>
                  </p:pic>
                </p:oleObj>
              </mc:Fallback>
            </mc:AlternateContent>
          </a:graphicData>
        </a:graphic>
      </p:graphicFrame>
      <p:sp>
        <p:nvSpPr>
          <p:cNvPr id="3" name="矩形 2"/>
          <p:cNvSpPr>
            <a:spLocks noChangeAspect="1"/>
          </p:cNvSpPr>
          <p:nvPr/>
        </p:nvSpPr>
        <p:spPr>
          <a:xfrm>
            <a:off x="381000" y="2997816"/>
            <a:ext cx="1327608"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A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63302435"/>
              </p:ext>
            </p:extLst>
          </p:nvPr>
        </p:nvGraphicFramePr>
        <p:xfrm>
          <a:off x="458424" y="3600915"/>
          <a:ext cx="11275153" cy="1487573"/>
        </p:xfrm>
        <a:graphic>
          <a:graphicData uri="http://schemas.openxmlformats.org/presentationml/2006/ole">
            <mc:AlternateContent xmlns:mc="http://schemas.openxmlformats.org/markup-compatibility/2006">
              <mc:Choice xmlns:v="urn:schemas-microsoft-com:vml" Requires="v">
                <p:oleObj spid="_x0000_s26635" name="文档" r:id="rId5" imgW="4510061" imgH="596111" progId="Word.Document.12">
                  <p:embed/>
                </p:oleObj>
              </mc:Choice>
              <mc:Fallback>
                <p:oleObj name="文档" r:id="rId5" imgW="4510061" imgH="596111" progId="Word.Document.12">
                  <p:embed/>
                  <p:pic>
                    <p:nvPicPr>
                      <p:cNvPr id="0" name=""/>
                      <p:cNvPicPr/>
                      <p:nvPr/>
                    </p:nvPicPr>
                    <p:blipFill>
                      <a:blip r:embed="rId6"/>
                      <a:stretch>
                        <a:fillRect/>
                      </a:stretch>
                    </p:blipFill>
                    <p:spPr>
                      <a:xfrm>
                        <a:off x="458424" y="3600915"/>
                        <a:ext cx="11275153" cy="1487573"/>
                      </a:xfrm>
                      <a:prstGeom prst="rect">
                        <a:avLst/>
                      </a:prstGeom>
                    </p:spPr>
                  </p:pic>
                </p:oleObj>
              </mc:Fallback>
            </mc:AlternateContent>
          </a:graphicData>
        </a:graphic>
      </p:graphicFrame>
    </p:spTree>
    <p:extLst>
      <p:ext uri="{BB962C8B-B14F-4D97-AF65-F5344CB8AC3E}">
        <p14:creationId xmlns:p14="http://schemas.microsoft.com/office/powerpoint/2010/main" val="538832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39328"/>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阿里巴巴普惠体"/>
                <a:ea typeface="微软雅黑"/>
                <a:cs typeface="Times New Roman" panose="02020603050405020304" pitchFamily="18" charset="0"/>
                <a:sym typeface="阿里巴巴普惠体"/>
              </a:rPr>
              <a:t>4</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化简</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cos(</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i="1" u="sng">
                <a:solidFill>
                  <a:srgbClr val="FF0000"/>
                </a:solidFill>
                <a:uFill>
                  <a:solidFill>
                    <a:srgbClr val="000000"/>
                  </a:solidFill>
                </a:uFill>
                <a:latin typeface="阿里巴巴普惠体"/>
                <a:ea typeface="微软雅黑"/>
                <a:cs typeface="Times New Roman" panose="02020603050405020304" pitchFamily="18" charset="0"/>
                <a:sym typeface="阿里巴巴普惠体"/>
              </a:rPr>
              <a:t>　　　　　</a:t>
            </a:r>
            <a:r>
              <a:rPr lang="en-US" altLang="zh-CN" sz="2800" i="1">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latin typeface="阿里巴巴普惠体"/>
                <a:ea typeface="微软雅黑"/>
                <a:cs typeface="Times New Roman" panose="02020603050405020304" pitchFamily="18" charset="0"/>
                <a:sym typeface="阿里巴巴普惠体"/>
              </a:rPr>
              <a:t>α</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解析 </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cos(</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a:t>
            </a:r>
            <a:r>
              <a:rPr lang="en-US" altLang="zh-CN" sz="2800" i="1">
                <a:solidFill>
                  <a:srgbClr val="000000"/>
                </a:solidFill>
                <a:latin typeface="阿里巴巴普惠体"/>
                <a:ea typeface="微软雅黑"/>
                <a:cs typeface="Times New Roman" panose="02020603050405020304" pitchFamily="18" charset="0"/>
                <a:sym typeface="阿里巴巴普惠体"/>
              </a:rPr>
              <a:t>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α-β</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cos </a:t>
            </a:r>
            <a:r>
              <a:rPr lang="en-US" altLang="zh-CN" sz="2800" i="1">
                <a:solidFill>
                  <a:srgbClr val="000000"/>
                </a:solidFill>
                <a:latin typeface="阿里巴巴普惠体"/>
                <a:ea typeface="微软雅黑"/>
                <a:cs typeface="Times New Roman" panose="02020603050405020304" pitchFamily="18" charset="0"/>
                <a:sym typeface="阿里巴巴普惠体"/>
              </a:rPr>
              <a:t>α.</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779661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668442340"/>
              </p:ext>
            </p:extLst>
          </p:nvPr>
        </p:nvGraphicFramePr>
        <p:xfrm>
          <a:off x="381000" y="1488372"/>
          <a:ext cx="11430000" cy="995076"/>
        </p:xfrm>
        <a:graphic>
          <a:graphicData uri="http://schemas.openxmlformats.org/presentationml/2006/ole">
            <mc:AlternateContent xmlns:mc="http://schemas.openxmlformats.org/markup-compatibility/2006">
              <mc:Choice xmlns:v="urn:schemas-microsoft-com:vml" Requires="v">
                <p:oleObj spid="_x0000_s27662" name="文档" r:id="rId3" imgW="11268143" imgH="980985" progId="Word.Document.12">
                  <p:embed/>
                </p:oleObj>
              </mc:Choice>
              <mc:Fallback>
                <p:oleObj name="文档" r:id="rId3" imgW="11268143" imgH="980985" progId="Word.Document.12">
                  <p:embed/>
                  <p:pic>
                    <p:nvPicPr>
                      <p:cNvPr id="0" name=""/>
                      <p:cNvPicPr/>
                      <p:nvPr/>
                    </p:nvPicPr>
                    <p:blipFill>
                      <a:blip r:embed="rId4"/>
                      <a:stretch>
                        <a:fillRect/>
                      </a:stretch>
                    </p:blipFill>
                    <p:spPr>
                      <a:xfrm>
                        <a:off x="381000" y="1488372"/>
                        <a:ext cx="11430000" cy="995076"/>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705523735"/>
              </p:ext>
            </p:extLst>
          </p:nvPr>
        </p:nvGraphicFramePr>
        <p:xfrm>
          <a:off x="458424" y="2340802"/>
          <a:ext cx="11275153" cy="992015"/>
        </p:xfrm>
        <a:graphic>
          <a:graphicData uri="http://schemas.openxmlformats.org/presentationml/2006/ole">
            <mc:AlternateContent xmlns:mc="http://schemas.openxmlformats.org/markup-compatibility/2006">
              <mc:Choice xmlns:v="urn:schemas-microsoft-com:vml" Requires="v">
                <p:oleObj spid="_x0000_s27663" name="文档" r:id="rId5" imgW="4510061" imgH="396806" progId="Word.Document.12">
                  <p:embed/>
                </p:oleObj>
              </mc:Choice>
              <mc:Fallback>
                <p:oleObj name="文档" r:id="rId5" imgW="4510061" imgH="396806" progId="Word.Document.12">
                  <p:embed/>
                  <p:pic>
                    <p:nvPicPr>
                      <p:cNvPr id="0" name=""/>
                      <p:cNvPicPr/>
                      <p:nvPr/>
                    </p:nvPicPr>
                    <p:blipFill>
                      <a:blip r:embed="rId6"/>
                      <a:stretch>
                        <a:fillRect/>
                      </a:stretch>
                    </p:blipFill>
                    <p:spPr>
                      <a:xfrm>
                        <a:off x="458424" y="2340802"/>
                        <a:ext cx="11275153" cy="99201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55379348"/>
              </p:ext>
            </p:extLst>
          </p:nvPr>
        </p:nvGraphicFramePr>
        <p:xfrm>
          <a:off x="458424" y="3300159"/>
          <a:ext cx="11275153" cy="1983130"/>
        </p:xfrm>
        <a:graphic>
          <a:graphicData uri="http://schemas.openxmlformats.org/presentationml/2006/ole">
            <mc:AlternateContent xmlns:mc="http://schemas.openxmlformats.org/markup-compatibility/2006">
              <mc:Choice xmlns:v="urn:schemas-microsoft-com:vml" Requires="v">
                <p:oleObj spid="_x0000_s27664" name="文档" r:id="rId7" imgW="4510061" imgH="793252" progId="Word.Document.12">
                  <p:embed/>
                </p:oleObj>
              </mc:Choice>
              <mc:Fallback>
                <p:oleObj name="文档" r:id="rId7" imgW="4510061" imgH="793252" progId="Word.Document.12">
                  <p:embed/>
                  <p:pic>
                    <p:nvPicPr>
                      <p:cNvPr id="0" name=""/>
                      <p:cNvPicPr/>
                      <p:nvPr/>
                    </p:nvPicPr>
                    <p:blipFill>
                      <a:blip r:embed="rId8"/>
                      <a:stretch>
                        <a:fillRect/>
                      </a:stretch>
                    </p:blipFill>
                    <p:spPr>
                      <a:xfrm>
                        <a:off x="458424" y="3300159"/>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3156234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50476944"/>
              </p:ext>
            </p:extLst>
          </p:nvPr>
        </p:nvGraphicFramePr>
        <p:xfrm>
          <a:off x="458424" y="224325"/>
          <a:ext cx="11275153" cy="992015"/>
        </p:xfrm>
        <a:graphic>
          <a:graphicData uri="http://schemas.openxmlformats.org/presentationml/2006/ole">
            <mc:AlternateContent xmlns:mc="http://schemas.openxmlformats.org/markup-compatibility/2006">
              <mc:Choice xmlns:v="urn:schemas-microsoft-com:vml" Requires="v">
                <p:oleObj spid="_x0000_s28682" name="文档" r:id="rId3" imgW="4510061" imgH="396806" progId="Word.Document.12">
                  <p:embed/>
                </p:oleObj>
              </mc:Choice>
              <mc:Fallback>
                <p:oleObj name="文档" r:id="rId3" imgW="4510061" imgH="396806" progId="Word.Document.12">
                  <p:embed/>
                  <p:pic>
                    <p:nvPicPr>
                      <p:cNvPr id="0" name=""/>
                      <p:cNvPicPr/>
                      <p:nvPr/>
                    </p:nvPicPr>
                    <p:blipFill>
                      <a:blip r:embed="rId4"/>
                      <a:stretch>
                        <a:fillRect/>
                      </a:stretch>
                    </p:blipFill>
                    <p:spPr>
                      <a:xfrm>
                        <a:off x="458424" y="224325"/>
                        <a:ext cx="11275153" cy="99201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73849277"/>
              </p:ext>
            </p:extLst>
          </p:nvPr>
        </p:nvGraphicFramePr>
        <p:xfrm>
          <a:off x="458424" y="1216340"/>
          <a:ext cx="11275153" cy="4958278"/>
        </p:xfrm>
        <a:graphic>
          <a:graphicData uri="http://schemas.openxmlformats.org/presentationml/2006/ole">
            <mc:AlternateContent xmlns:mc="http://schemas.openxmlformats.org/markup-compatibility/2006">
              <mc:Choice xmlns:v="urn:schemas-microsoft-com:vml" Requires="v">
                <p:oleObj spid="_x0000_s28683" name="文档" r:id="rId5" imgW="4510061" imgH="1983311" progId="Word.Document.12">
                  <p:embed/>
                </p:oleObj>
              </mc:Choice>
              <mc:Fallback>
                <p:oleObj name="文档" r:id="rId5" imgW="4510061" imgH="1983311" progId="Word.Document.12">
                  <p:embed/>
                  <p:pic>
                    <p:nvPicPr>
                      <p:cNvPr id="0" name=""/>
                      <p:cNvPicPr/>
                      <p:nvPr/>
                    </p:nvPicPr>
                    <p:blipFill>
                      <a:blip r:embed="rId6"/>
                      <a:stretch>
                        <a:fillRect/>
                      </a:stretch>
                    </p:blipFill>
                    <p:spPr>
                      <a:xfrm>
                        <a:off x="458424" y="1216340"/>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2548681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25712" y="1511279"/>
            <a:ext cx="7280625" cy="3396125"/>
          </a:xfrm>
          <a:prstGeom prst="rect">
            <a:avLst/>
          </a:prstGeom>
        </p:spPr>
      </p:pic>
      <p:pic>
        <p:nvPicPr>
          <p:cNvPr id="11" name="图片 10"/>
          <p:cNvPicPr>
            <a:picLocks noChangeAspect="1"/>
          </p:cNvPicPr>
          <p:nvPr/>
        </p:nvPicPr>
        <p:blipFill>
          <a:blip r:embed="rId3" cstate="email">
            <a:clrChange>
              <a:clrFrom>
                <a:srgbClr val="ECECEE"/>
              </a:clrFrom>
              <a:clrTo>
                <a:srgbClr val="ECECEE">
                  <a:alpha val="0"/>
                </a:srgbClr>
              </a:clrTo>
            </a:clrChange>
            <a:extLst>
              <a:ext uri="{28A0092B-C50C-407E-A947-70E740481C1C}">
                <a14:useLocalDpi xmlns:a14="http://schemas.microsoft.com/office/drawing/2010/main"/>
              </a:ext>
            </a:extLst>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pPr algn="ctr"/>
            <a:r>
              <a:rPr lang="zh-CN" altLang="en-US" sz="6000" b="1" dirty="0">
                <a:solidFill>
                  <a:srgbClr val="55463D"/>
                </a:solidFill>
                <a:latin typeface="阿里巴巴普惠体"/>
                <a:ea typeface="微软雅黑"/>
                <a:sym typeface="阿里巴巴普惠体"/>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800" decel="100000"/>
                                        <p:tgtEl>
                                          <p:spTgt spid="11"/>
                                        </p:tgtEl>
                                      </p:cBhvr>
                                    </p:animEffect>
                                    <p:anim calcmode="lin" valueType="num">
                                      <p:cBhvr>
                                        <p:cTn id="8" dur="800" decel="100000" fill="hold"/>
                                        <p:tgtEl>
                                          <p:spTgt spid="11"/>
                                        </p:tgtEl>
                                        <p:attrNameLst>
                                          <p:attrName>style.rotation</p:attrName>
                                        </p:attrNameLst>
                                      </p:cBhvr>
                                      <p:tavLst>
                                        <p:tav tm="0">
                                          <p:val>
                                            <p:fltVal val="-90"/>
                                          </p:val>
                                        </p:tav>
                                        <p:tav tm="100000">
                                          <p:val>
                                            <p:fltVal val="0"/>
                                          </p:val>
                                        </p:tav>
                                      </p:tavLst>
                                    </p:anim>
                                    <p:anim calcmode="lin" valueType="num">
                                      <p:cBhvr>
                                        <p:cTn id="9" dur="800" decel="100000" fill="hold"/>
                                        <p:tgtEl>
                                          <p:spTgt spid="11"/>
                                        </p:tgtEl>
                                        <p:attrNameLst>
                                          <p:attrName>ppt_x</p:attrName>
                                        </p:attrNameLst>
                                      </p:cBhvr>
                                      <p:tavLst>
                                        <p:tav tm="0">
                                          <p:val>
                                            <p:strVal val="#ppt_x+0.4"/>
                                          </p:val>
                                        </p:tav>
                                        <p:tav tm="100000">
                                          <p:val>
                                            <p:strVal val="#ppt_x-0.05"/>
                                          </p:val>
                                        </p:tav>
                                      </p:tavLst>
                                    </p:anim>
                                    <p:anim calcmode="lin" valueType="num">
                                      <p:cBhvr>
                                        <p:cTn id="10" dur="800" decel="100000" fill="hold"/>
                                        <p:tgtEl>
                                          <p:spTgt spid="1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64223" y="4392141"/>
            <a:ext cx="9663556"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板：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2"/>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4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素</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材：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5"/>
              </a:rPr>
              <a:t>www.1ppt.com/sucai</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5"/>
              </a:rPr>
              <a:t>/</a:t>
            </a:r>
            <a:endParaRPr lang="en-US" altLang="zh-CN" sz="14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图</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表：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7"/>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4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Word</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Excel</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400" dirty="0">
                <a:solidFill>
                  <a:srgbClr val="EEECE1">
                    <a:lumMod val="25000"/>
                  </a:srgbClr>
                </a:solidFill>
                <a:latin typeface="微软雅黑" panose="020B0503020204020204" pitchFamily="34" charset="-122"/>
                <a:ea typeface="微软雅黑" panose="020B0503020204020204" pitchFamily="34" charset="-122"/>
              </a:rPr>
              <a:t>个人简历</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课</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件：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00" dirty="0">
                <a:solidFill>
                  <a:srgbClr val="EEECE1">
                    <a:lumMod val="25000"/>
                  </a:srgbClr>
                </a:solidFill>
                <a:latin typeface="微软雅黑" panose="020B0503020204020204" pitchFamily="34" charset="-122"/>
                <a:ea typeface="微软雅黑" panose="020B0503020204020204" pitchFamily="34" charset="-122"/>
                <a:hlinkClick r:id="rId13"/>
              </a:rPr>
              <a:t>/</a:t>
            </a:r>
            <a:r>
              <a:rPr lang="en-US" altLang="zh-CN" sz="14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400" dirty="0">
                <a:solidFill>
                  <a:srgbClr val="EEECE1">
                    <a:lumMod val="25000"/>
                  </a:srgbClr>
                </a:solidFill>
                <a:latin typeface="微软雅黑" panose="020B0503020204020204" pitchFamily="34" charset="-122"/>
                <a:ea typeface="微软雅黑" panose="020B0503020204020204" pitchFamily="34" charset="-122"/>
              </a:rPr>
              <a:t>手抄报</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试</a:t>
            </a:r>
            <a:r>
              <a:rPr lang="zh-CN" altLang="en-US" sz="1400" dirty="0">
                <a:solidFill>
                  <a:srgbClr val="EEECE1">
                    <a:lumMod val="25000"/>
                  </a:srgbClr>
                </a:solidFill>
                <a:latin typeface="微软雅黑" panose="020B0503020204020204" pitchFamily="34" charset="-122"/>
                <a:ea typeface="微软雅黑" panose="020B0503020204020204" pitchFamily="34" charset="-122"/>
              </a:rPr>
              <a:t>题</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a:t>
            </a:r>
          </a:p>
          <a:p>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400" dirty="0" smtClean="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4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528410" y="3097350"/>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a:t>
            </a:r>
            <a:r>
              <a:rPr lang="zh-CN" altLang="en-US" sz="1200" kern="0" dirty="0" smtClean="0">
                <a:solidFill>
                  <a:prstClr val="white"/>
                </a:solidFill>
                <a:latin typeface="微软雅黑" pitchFamily="34" charset="-122"/>
                <a:ea typeface="微软雅黑" pitchFamily="34" charset="-122"/>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50"/>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2149475" y="356250"/>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709387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理科模板.potx" id="{05826FBC-0476-4FCB-B977-CA3F865E7FE8}" vid="{B144E781-9AB7-495A-AD7E-C26B852AA6C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109</TotalTime>
  <Words>1658</Words>
  <Application>Microsoft Office PowerPoint</Application>
  <PresentationFormat>自定义</PresentationFormat>
  <Paragraphs>120</Paragraphs>
  <Slides>43</Slides>
  <Notes>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43</vt:i4>
      </vt:variant>
    </vt:vector>
  </HeadingPairs>
  <TitlesOfParts>
    <vt:vector size="46" baseType="lpstr">
      <vt:lpstr>1_Office 主题</vt:lpstr>
      <vt:lpstr>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lastModifiedBy>123</cp:lastModifiedBy>
  <cp:revision>58</cp:revision>
  <dcterms:created xsi:type="dcterms:W3CDTF">2020-12-30T07:17:36Z</dcterms:created>
  <dcterms:modified xsi:type="dcterms:W3CDTF">2025-07-21T06:23:40Z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