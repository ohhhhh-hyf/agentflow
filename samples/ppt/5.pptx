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</p:sldMasterIdLst>
  <p:notesMasterIdLst>
    <p:notesMasterId r:id="rId41"/>
  </p:notesMasterIdLst>
  <p:sldIdLst>
    <p:sldId id="677" r:id="rId3"/>
    <p:sldId id="488" r:id="rId4"/>
    <p:sldId id="703" r:id="rId5"/>
    <p:sldId id="392" r:id="rId6"/>
    <p:sldId id="704" r:id="rId7"/>
    <p:sldId id="710" r:id="rId8"/>
    <p:sldId id="711" r:id="rId9"/>
    <p:sldId id="712" r:id="rId10"/>
    <p:sldId id="713" r:id="rId11"/>
    <p:sldId id="714" r:id="rId12"/>
    <p:sldId id="407" r:id="rId13"/>
    <p:sldId id="394" r:id="rId14"/>
    <p:sldId id="715" r:id="rId15"/>
    <p:sldId id="716" r:id="rId16"/>
    <p:sldId id="717" r:id="rId17"/>
    <p:sldId id="402" r:id="rId18"/>
    <p:sldId id="718" r:id="rId19"/>
    <p:sldId id="719" r:id="rId20"/>
    <p:sldId id="720" r:id="rId21"/>
    <p:sldId id="721" r:id="rId22"/>
    <p:sldId id="705" r:id="rId23"/>
    <p:sldId id="722" r:id="rId24"/>
    <p:sldId id="723" r:id="rId25"/>
    <p:sldId id="724" r:id="rId26"/>
    <p:sldId id="725" r:id="rId27"/>
    <p:sldId id="726" r:id="rId28"/>
    <p:sldId id="708" r:id="rId29"/>
    <p:sldId id="728" r:id="rId30"/>
    <p:sldId id="729" r:id="rId31"/>
    <p:sldId id="727" r:id="rId32"/>
    <p:sldId id="709" r:id="rId33"/>
    <p:sldId id="730" r:id="rId34"/>
    <p:sldId id="731" r:id="rId35"/>
    <p:sldId id="732" r:id="rId36"/>
    <p:sldId id="733" r:id="rId37"/>
    <p:sldId id="734" r:id="rId38"/>
    <p:sldId id="490" r:id="rId39"/>
    <p:sldId id="735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68">
          <p15:clr>
            <a:srgbClr val="A4A3A4"/>
          </p15:clr>
        </p15:guide>
        <p15:guide id="2" pos="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C8"/>
    <a:srgbClr val="464646"/>
    <a:srgbClr val="DC5B3E"/>
    <a:srgbClr val="7088DB"/>
    <a:srgbClr val="CF5B1B"/>
    <a:srgbClr val="38425D"/>
    <a:srgbClr val="4472C4"/>
    <a:srgbClr val="DFF0F5"/>
    <a:srgbClr val="159470"/>
    <a:srgbClr val="157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100" d="100"/>
          <a:sy n="100" d="100"/>
        </p:scale>
        <p:origin x="-990" y="-432"/>
      </p:cViewPr>
      <p:guideLst>
        <p:guide orient="horz" pos="368"/>
        <p:guide pos="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Relationship Id="rId4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2025/7/21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圆角矩形 2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5733256"/>
            <a:ext cx="12192000" cy="1124744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5157192"/>
            <a:ext cx="12192000" cy="170080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4615840"/>
            <a:ext cx="12192000" cy="2242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4057902"/>
            <a:ext cx="12192000" cy="2800097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3505783"/>
            <a:ext cx="12192000" cy="335221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2953922"/>
            <a:ext cx="12192000" cy="390407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2413194"/>
            <a:ext cx="12192000" cy="444480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1874469"/>
            <a:ext cx="12192000" cy="49835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圆角矩形 2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1287169"/>
            <a:ext cx="12192000" cy="55708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圆角矩形 2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>
            <a:hlinkClick r:id="rId2" action="ppaction://hlinksldjump"/>
          </p:cNvPr>
          <p:cNvSpPr/>
          <p:nvPr userDrawn="1"/>
        </p:nvSpPr>
        <p:spPr>
          <a:xfrm>
            <a:off x="633412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考点一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圆角矩形 3">
            <a:hlinkClick r:id="rId3" action="ppaction://hlinksldjump"/>
          </p:cNvPr>
          <p:cNvSpPr/>
          <p:nvPr userDrawn="1"/>
        </p:nvSpPr>
        <p:spPr>
          <a:xfrm>
            <a:off x="744156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考点二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3" action="ppaction://hlinksldjump"/>
          </p:cNvPr>
          <p:cNvSpPr/>
          <p:nvPr userDrawn="1"/>
        </p:nvSpPr>
        <p:spPr>
          <a:xfrm>
            <a:off x="854900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考点三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" action="ppaction://noaction"/>
          </p:cNvPr>
          <p:cNvSpPr/>
          <p:nvPr userDrawn="1"/>
        </p:nvSpPr>
        <p:spPr>
          <a:xfrm>
            <a:off x="965644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考点四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圆角矩形 6">
            <a:hlinkClick r:id="" action="ppaction://noaction"/>
          </p:cNvPr>
          <p:cNvSpPr/>
          <p:nvPr userDrawn="1"/>
        </p:nvSpPr>
        <p:spPr>
          <a:xfrm>
            <a:off x="10763885" y="65125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考点五</a:t>
            </a:r>
            <a:endParaRPr lang="zh-CN" altLang="en-US" sz="140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5733256"/>
            <a:ext cx="12192000" cy="1124744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5573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5157192"/>
            <a:ext cx="12192000" cy="170080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52971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615840"/>
            <a:ext cx="12192000" cy="22421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083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4057902"/>
            <a:ext cx="12192000" cy="2800097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5169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3505783"/>
            <a:ext cx="12192000" cy="335221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63922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953922"/>
            <a:ext cx="12192000" cy="390407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7034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2413194"/>
            <a:ext cx="12192000" cy="4444806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6536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874469"/>
            <a:ext cx="12192000" cy="49835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02053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287169"/>
            <a:ext cx="12192000" cy="5570829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9339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59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0835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764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0059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5791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5361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8827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3145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3321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3339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899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8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61" r:id="rId2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2025/7/21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21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emf"/><Relationship Id="rId5" Type="http://schemas.openxmlformats.org/officeDocument/2006/relationships/image" Target="../media/image5.emf"/><Relationship Id="rId10" Type="http://schemas.openxmlformats.org/officeDocument/2006/relationships/package" Target="../embeddings/Microsoft_Word___3.docx"/><Relationship Id="rId4" Type="http://schemas.openxmlformats.org/officeDocument/2006/relationships/package" Target="../embeddings/Microsoft_Word___1.docx"/><Relationship Id="rId9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package" Target="../embeddings/Microsoft_Word___7.docx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0.emf"/><Relationship Id="rId5" Type="http://schemas.openxmlformats.org/officeDocument/2006/relationships/image" Target="../media/image8.emf"/><Relationship Id="rId10" Type="http://schemas.openxmlformats.org/officeDocument/2006/relationships/package" Target="../embeddings/Microsoft_Word___6.docx"/><Relationship Id="rId4" Type="http://schemas.openxmlformats.org/officeDocument/2006/relationships/package" Target="../embeddings/Microsoft_Word___4.docx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1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0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8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9.doc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21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2.docx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3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4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5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6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7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8.docx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9.docx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1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3.bin"/><Relationship Id="rId7" Type="http://schemas.openxmlformats.org/officeDocument/2006/relationships/package" Target="../embeddings/Microsoft_Word___34.docx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3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5.bin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41.emf"/><Relationship Id="rId5" Type="http://schemas.openxmlformats.org/officeDocument/2006/relationships/image" Target="../media/image39.emf"/><Relationship Id="rId10" Type="http://schemas.openxmlformats.org/officeDocument/2006/relationships/package" Target="../embeddings/Microsoft_Word___37.docx"/><Relationship Id="rId4" Type="http://schemas.openxmlformats.org/officeDocument/2006/relationships/package" Target="../embeddings/Microsoft_Word___35.docx"/><Relationship Id="rId9" Type="http://schemas.openxmlformats.org/officeDocument/2006/relationships/oleObject" Target="../embeddings/oleObject37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8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9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46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65797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smtClean="0">
                <a:solidFill>
                  <a:srgbClr val="757C82"/>
                </a:solidFill>
                <a:latin typeface="阿里巴巴普惠体"/>
                <a:ea typeface="微软雅黑"/>
                <a:sym typeface="阿里巴巴普惠体"/>
              </a:rPr>
              <a:t>高中同步学案优化</a:t>
            </a:r>
            <a:r>
              <a:rPr lang="zh-CN" altLang="en-US" sz="2400" b="1" spc="600">
                <a:solidFill>
                  <a:srgbClr val="757C82"/>
                </a:solidFill>
                <a:latin typeface="阿里巴巴普惠体"/>
                <a:ea typeface="微软雅黑"/>
                <a:sym typeface="阿里巴巴普惠体"/>
              </a:rPr>
              <a:t>设计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3676091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94482" y="974358"/>
            <a:ext cx="382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400" b="1" spc="-150" dirty="0" smtClean="0">
                <a:solidFill>
                  <a:srgbClr val="757C82"/>
                </a:solidFill>
                <a:latin typeface="阿里巴巴普惠体"/>
                <a:ea typeface="微软雅黑"/>
                <a:sym typeface="阿里巴巴普惠体"/>
              </a:rPr>
              <a:t>GAO ZHONG TONG BU XUE AN YOU HAU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阿里巴巴普惠体"/>
                <a:ea typeface="微软雅黑"/>
                <a:sym typeface="阿里巴巴普惠体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519320" y="3542426"/>
              <a:ext cx="8158783" cy="707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000" b="1" dirty="0" smtClean="0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rPr>
                <a:t>二</a:t>
              </a:r>
              <a:r>
                <a:rPr lang="zh-CN" altLang="en-US" sz="4000" b="1" dirty="0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rPr>
                <a:t>倍角的正弦、余弦、正切公式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smtClean="0">
                <a:solidFill>
                  <a:schemeClr val="bg1"/>
                </a:solidFill>
                <a:latin typeface="阿里巴巴普惠体"/>
                <a:ea typeface="微软雅黑"/>
                <a:cs typeface="Open Sans" panose="020B0606030504020204" pitchFamily="34" charset="0"/>
                <a:sym typeface="阿里巴巴普惠体"/>
              </a:rPr>
              <a:t>第五章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0" y="5784208"/>
            <a:ext cx="12192000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模板网</a:t>
            </a:r>
            <a:r>
              <a:rPr lang="en-US" altLang="zh-CN" sz="2400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-WWW.1PPT.COM</a:t>
            </a:r>
            <a:endParaRPr lang="en-US" altLang="zh-CN" sz="24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latin typeface="阿里巴巴普惠体"/>
                <a:ea typeface="微软雅黑"/>
                <a:cs typeface="+mn-ea"/>
                <a:sym typeface="阿里巴巴普惠体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latin typeface="阿里巴巴普惠体"/>
              <a:ea typeface="微软雅黑"/>
              <a:cs typeface="+mn-ea"/>
              <a:sym typeface="阿里巴巴普惠体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672261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17320" y="687170"/>
              <a:ext cx="676868" cy="6134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阿里巴巴普惠体"/>
                  <a:ea typeface="微软雅黑"/>
                  <a:sym typeface="阿里巴巴普惠体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3238838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17321" y="1736701"/>
              <a:ext cx="676868" cy="61342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阿里巴巴普惠体"/>
                  <a:ea typeface="微软雅黑"/>
                  <a:sym typeface="阿里巴巴普惠体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阿里巴巴普惠体"/>
                <a:ea typeface="微软雅黑"/>
                <a:sym typeface="阿里巴巴普惠体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764727"/>
            <a:ext cx="2759089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课前篇  自主预习</a:t>
            </a:r>
            <a:endParaRPr lang="zh-CN" altLang="en-US" sz="2665" b="1" dirty="0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3349585"/>
            <a:ext cx="2759089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课堂篇  探究学习</a:t>
            </a:r>
            <a:endParaRPr lang="zh-CN" altLang="en-US" sz="2665" b="1" dirty="0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81000" y="407327"/>
            <a:ext cx="162095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smtClean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课标阐释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81000" y="3181348"/>
            <a:ext cx="162095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smtClean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思维脉络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81000" y="980369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能通过两角和的正弦、余弦、正切公式推导出二倍角的正弦、余弦、正切公式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逻辑推理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理解二倍角的正弦、余弦、正切公式的结构形式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并能利用公式进行简单的化简、求值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数学运算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)</a:t>
            </a:r>
            <a:endParaRPr lang="zh-CN" altLang="en-US" sz="2800" dirty="0">
              <a:latin typeface="阿里巴巴普惠体"/>
              <a:ea typeface="微软雅黑"/>
              <a:sym typeface="阿里巴巴普惠体"/>
            </a:endParaRPr>
          </a:p>
        </p:txBody>
      </p:sp>
      <p:pic>
        <p:nvPicPr>
          <p:cNvPr id="6" name="H129.eps"/>
          <p:cNvPicPr/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265" y="3357316"/>
            <a:ext cx="5441205" cy="24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5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940601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879736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55261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课前篇  自主预习</a:t>
            </a:r>
            <a:endParaRPr lang="zh-CN" altLang="en-US" sz="5400" b="1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802704"/>
            <a:ext cx="9060951" cy="2653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6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[</a:t>
            </a:r>
            <a:r>
              <a:rPr lang="zh-CN" altLang="zh-CN" sz="26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激趣诱思</a:t>
            </a:r>
            <a:r>
              <a:rPr lang="en-US" altLang="zh-CN" sz="26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]</a:t>
            </a:r>
            <a:endParaRPr lang="zh-CN" altLang="zh-CN" sz="26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大雁是人们熟知的鸟类之一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在迁徙时总是几十只、数百只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甚至上千只汇集在一起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互相紧接着列队而飞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古人称之为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雁阵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en-US" altLang="zh-CN" sz="26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雁阵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由有经验的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头雁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带领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加速飞行时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队伍排成</a:t>
            </a:r>
            <a:r>
              <a:rPr lang="en-US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人</a:t>
            </a:r>
            <a:r>
              <a:rPr lang="en-US" altLang="zh-CN" sz="26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endParaRPr lang="zh-CN" altLang="zh-CN" sz="26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pic>
        <p:nvPicPr>
          <p:cNvPr id="3" name="H130.eps" descr="id:2147516708;FounderCES"/>
          <p:cNvPicPr/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06553" y="1444639"/>
            <a:ext cx="2072423" cy="135036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81000" y="2862592"/>
            <a:ext cx="11430000" cy="3213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字形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一旦减速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队伍又由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人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字形换成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一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字形</a:t>
            </a:r>
            <a:r>
              <a:rPr lang="en-US" altLang="zh-CN" sz="26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6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当飞在前面的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头雁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的翅膀在空中划过时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翅膀尖上就会产生一股微弱的上升气流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排在它后面的就可以依次利用这股气流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从而节省了体力</a:t>
            </a:r>
            <a:r>
              <a:rPr lang="en-US" altLang="zh-CN" sz="26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研究表明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大雁排成的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人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字队形的每边与前进方向的夹角约为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55°,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那么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人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字队形的夹角就是这个角的两倍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大约为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110°</a:t>
            </a:r>
            <a:r>
              <a:rPr lang="en-US" altLang="zh-CN" sz="26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6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问题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r>
              <a:rPr lang="zh-CN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这两个角的三角函数之间有什么关系</a:t>
            </a:r>
            <a:r>
              <a:rPr lang="en-US" altLang="zh-CN" sz="26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?</a:t>
            </a:r>
            <a:endParaRPr lang="zh-CN" altLang="zh-CN" sz="26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219537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94495"/>
            <a:ext cx="1925527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[</a:t>
            </a:r>
            <a:r>
              <a:rPr lang="zh-CN" altLang="zh-CN" sz="280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知识点拨</a:t>
            </a:r>
            <a:r>
              <a:rPr lang="en-US" altLang="zh-CN" sz="2800" smtClean="0">
                <a:solidFill>
                  <a:srgbClr val="CF5B1B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]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905885"/>
            <a:ext cx="6518131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知识点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二倍角的正弦、余弦、正切</a:t>
            </a:r>
            <a:r>
              <a:rPr lang="zh-CN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公式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546" y="1521207"/>
            <a:ext cx="10390909" cy="493588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049221" y="2574124"/>
            <a:ext cx="2046779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13449" y="3616703"/>
            <a:ext cx="1535151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142250" y="3616703"/>
            <a:ext cx="642522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40907" y="4171875"/>
            <a:ext cx="1208314" cy="380143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70992" y="5268686"/>
            <a:ext cx="1872607" cy="796445"/>
          </a:xfrm>
          <a:prstGeom prst="rect">
            <a:avLst/>
          </a:prstGeom>
          <a:pattFill prst="lgConfetti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阿里巴巴普惠体"/>
              <a:ea typeface="微软雅黑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06266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6931"/>
            <a:ext cx="11430000" cy="60392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名师点析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二倍角的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广义理解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二倍角是相对的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如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的二倍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二倍等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倍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是描述两个数量之间的关系的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这里蕴含着换元思想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对于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</a:t>
            </a:r>
            <a:r>
              <a:rPr lang="en-US" altLang="zh-CN" sz="2800" baseline="-25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</a:t>
            </a:r>
            <a:r>
              <a:rPr lang="en-US" altLang="zh-CN" sz="2800" baseline="-25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但是在使用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</a:t>
            </a:r>
            <a:r>
              <a:rPr lang="en-US" altLang="zh-CN" sz="2800" baseline="-25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baseline="-250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要保证分母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tan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≠0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且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有意义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endParaRPr lang="en-US" altLang="zh-CN" sz="2800" dirty="0" smtClean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5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 smtClean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20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故</a:t>
            </a:r>
            <a:r>
              <a:rPr lang="zh-CN" altLang="en-US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不能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用二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倍角公式求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此时可以利用诱导公式直接求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tan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一般情况下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,sin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≠2sin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≠2cos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,tan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≠2tan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倍角公式的逆用更能拓展思路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我们要熟悉这组公式的逆用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,</a:t>
            </a:r>
          </a:p>
          <a:p>
            <a:pPr>
              <a:lnSpc>
                <a:spcPct val="130000"/>
              </a:lnSpc>
            </a:pPr>
            <a:r>
              <a:rPr lang="zh-CN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如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sin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α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 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α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=   </a:t>
            </a:r>
            <a:r>
              <a:rPr lang="en-US" altLang="zh-CN" sz="2800" dirty="0" smtClean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sin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sym typeface="阿里巴巴普惠体"/>
              </a:rPr>
              <a:t>.</a:t>
            </a:r>
            <a:endParaRPr lang="zh-CN" altLang="en-US" sz="2800" dirty="0">
              <a:latin typeface="阿里巴巴普惠体"/>
              <a:ea typeface="微软雅黑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51309"/>
              </p:ext>
            </p:extLst>
          </p:nvPr>
        </p:nvGraphicFramePr>
        <p:xfrm>
          <a:off x="11034343" y="478814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文档" r:id="rId4" imgW="399226" imgH="398969" progId="Word.Document.12">
                  <p:embed/>
                </p:oleObj>
              </mc:Choice>
              <mc:Fallback>
                <p:oleObj name="文档" r:id="rId4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4343" y="478814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352973"/>
              </p:ext>
            </p:extLst>
          </p:nvPr>
        </p:nvGraphicFramePr>
        <p:xfrm>
          <a:off x="465137" y="2772387"/>
          <a:ext cx="11261725" cy="142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文档" r:id="rId7" imgW="4510061" imgH="570335" progId="Word.Document.12">
                  <p:embed/>
                </p:oleObj>
              </mc:Choice>
              <mc:Fallback>
                <p:oleObj name="文档" r:id="rId7" imgW="4510061" imgH="5703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5137" y="2772387"/>
                        <a:ext cx="11261725" cy="1423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590216"/>
              </p:ext>
            </p:extLst>
          </p:nvPr>
        </p:nvGraphicFramePr>
        <p:xfrm>
          <a:off x="2607856" y="5273215"/>
          <a:ext cx="773232" cy="773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文档" r:id="rId10" imgW="399226" imgH="398969" progId="Word.Document.12">
                  <p:embed/>
                </p:oleObj>
              </mc:Choice>
              <mc:Fallback>
                <p:oleObj name="文档" r:id="rId10" imgW="399226" imgH="398969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856" y="5273215"/>
                        <a:ext cx="773232" cy="773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984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720048" y="757763"/>
            <a:ext cx="1561646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微练习</a:t>
            </a:r>
            <a:r>
              <a:rPr lang="en-US" altLang="zh-CN" sz="2800" b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564582"/>
              </p:ext>
            </p:extLst>
          </p:nvPr>
        </p:nvGraphicFramePr>
        <p:xfrm>
          <a:off x="797472" y="1523122"/>
          <a:ext cx="11275153" cy="6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4" imgW="4510061" imgH="245456" progId="Word.Document.12">
                  <p:embed/>
                </p:oleObj>
              </mc:Choice>
              <mc:Fallback>
                <p:oleObj name="文档" r:id="rId4" imgW="4510061" imgH="2454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7472" y="1523122"/>
                        <a:ext cx="11275153" cy="6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3727942"/>
              </p:ext>
            </p:extLst>
          </p:nvPr>
        </p:nvGraphicFramePr>
        <p:xfrm>
          <a:off x="797472" y="2324507"/>
          <a:ext cx="11275153" cy="61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文档" r:id="rId7" imgW="4510061" imgH="245456" progId="Word.Document.12">
                  <p:embed/>
                </p:oleObj>
              </mc:Choice>
              <mc:Fallback>
                <p:oleObj name="文档" r:id="rId7" imgW="4510061" imgH="2454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97472" y="2324507"/>
                        <a:ext cx="11275153" cy="613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720048" y="3125892"/>
            <a:ext cx="1561646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微练习</a:t>
            </a:r>
            <a:r>
              <a:rPr lang="en-US" altLang="zh-CN" sz="2800" b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337841"/>
              </p:ext>
            </p:extLst>
          </p:nvPr>
        </p:nvGraphicFramePr>
        <p:xfrm>
          <a:off x="797472" y="3875501"/>
          <a:ext cx="11275153" cy="611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文档" r:id="rId10" imgW="4510061" imgH="244737" progId="Word.Document.12">
                  <p:embed/>
                </p:oleObj>
              </mc:Choice>
              <mc:Fallback>
                <p:oleObj name="文档" r:id="rId10" imgW="4510061" imgH="2447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97472" y="3875501"/>
                        <a:ext cx="11275153" cy="611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80530"/>
              </p:ext>
            </p:extLst>
          </p:nvPr>
        </p:nvGraphicFramePr>
        <p:xfrm>
          <a:off x="797472" y="4622705"/>
          <a:ext cx="11275153" cy="610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文档" r:id="rId13" imgW="4510061" imgH="244019" progId="Word.Document.12">
                  <p:embed/>
                </p:oleObj>
              </mc:Choice>
              <mc:Fallback>
                <p:oleObj name="文档" r:id="rId13" imgW="4510061" imgH="2440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97472" y="4622705"/>
                        <a:ext cx="11275153" cy="610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991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49565"/>
            <a:ext cx="1561646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微练习</a:t>
            </a:r>
            <a:r>
              <a:rPr lang="en-US" altLang="zh-CN" sz="2800" b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377201"/>
              </p:ext>
            </p:extLst>
          </p:nvPr>
        </p:nvGraphicFramePr>
        <p:xfrm>
          <a:off x="458424" y="2736821"/>
          <a:ext cx="11275153" cy="6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文档" r:id="rId4" imgW="4510061" imgH="244378" progId="Word.Document.12">
                  <p:embed/>
                </p:oleObj>
              </mc:Choice>
              <mc:Fallback>
                <p:oleObj name="文档" r:id="rId4" imgW="4510061" imgH="2443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736821"/>
                        <a:ext cx="11275153" cy="61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760591"/>
              </p:ext>
            </p:extLst>
          </p:nvPr>
        </p:nvGraphicFramePr>
        <p:xfrm>
          <a:off x="458424" y="3723140"/>
          <a:ext cx="11275153" cy="6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文档" r:id="rId7" imgW="4510061" imgH="244378" progId="Word.Document.12">
                  <p:embed/>
                </p:oleObj>
              </mc:Choice>
              <mc:Fallback>
                <p:oleObj name="文档" r:id="rId7" imgW="4510061" imgH="2443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3723140"/>
                        <a:ext cx="11275153" cy="61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8017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15625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微拓展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二倍角公式的变换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因式分解变换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)·(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配方变换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2sin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(sin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±</a:t>
            </a:r>
            <a:r>
              <a:rPr lang="en-US" altLang="zh-CN" sz="2800" dirty="0" err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升幂缩角变换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2cos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2sin</a:t>
            </a:r>
            <a:r>
              <a:rPr lang="en-US" altLang="zh-CN" sz="2800" baseline="300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降幂扩角变换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029344"/>
              </p:ext>
            </p:extLst>
          </p:nvPr>
        </p:nvGraphicFramePr>
        <p:xfrm>
          <a:off x="458424" y="5577420"/>
          <a:ext cx="11275153" cy="610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文档" r:id="rId4" imgW="4510061" imgH="244019" progId="Word.Document.12">
                  <p:embed/>
                </p:oleObj>
              </mc:Choice>
              <mc:Fallback>
                <p:oleObj name="文档" r:id="rId4" imgW="4510061" imgH="2440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577420"/>
                        <a:ext cx="11275153" cy="610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95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940601" y="2636520"/>
            <a:ext cx="1105802" cy="815646"/>
            <a:chOff x="-1604504" y="2147667"/>
            <a:chExt cx="3687215" cy="2719712"/>
          </a:xfrm>
        </p:grpSpPr>
        <p:cxnSp>
          <p:nvCxnSpPr>
            <p:cNvPr id="14" name="直接连接符 13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16" name="组合 15"/>
          <p:cNvGrpSpPr/>
          <p:nvPr/>
        </p:nvGrpSpPr>
        <p:grpSpPr>
          <a:xfrm flipH="1" flipV="1">
            <a:off x="8879736" y="2665586"/>
            <a:ext cx="1105803" cy="815646"/>
            <a:chOff x="-1604504" y="2147667"/>
            <a:chExt cx="3687215" cy="2719712"/>
          </a:xfrm>
        </p:grpSpPr>
        <p:cxnSp>
          <p:nvCxnSpPr>
            <p:cNvPr id="17" name="直接连接符 1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9" name="文本框 18"/>
          <p:cNvSpPr txBox="1"/>
          <p:nvPr/>
        </p:nvSpPr>
        <p:spPr>
          <a:xfrm>
            <a:off x="2918208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mtClean="0">
                <a:solidFill>
                  <a:srgbClr val="4D4D4D"/>
                </a:solidFill>
                <a:latin typeface="阿里巴巴普惠体"/>
                <a:ea typeface="微软雅黑"/>
                <a:cs typeface="方正姚体" panose="02010601030101010101" charset="-122"/>
                <a:sym typeface="阿里巴巴普惠体"/>
              </a:rPr>
              <a:t>课堂篇  探究学习</a:t>
            </a:r>
            <a:endParaRPr lang="zh-CN" altLang="en-US" sz="5400" b="1">
              <a:solidFill>
                <a:srgbClr val="4D4D4D"/>
              </a:solidFill>
              <a:latin typeface="阿里巴巴普惠体"/>
              <a:ea typeface="微软雅黑"/>
              <a:cs typeface="方正姚体" panose="02010601030101010101" charset="-122"/>
              <a:sym typeface="阿里巴巴普惠体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810998" cy="433754"/>
            <a:chOff x="381000" y="205656"/>
            <a:chExt cx="1181099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810998" cy="433754"/>
              <a:chOff x="3048000" y="2286000"/>
              <a:chExt cx="5015133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694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803112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利用二倍角公式解决给角求值问题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65942"/>
            <a:ext cx="3493264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例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求下列各式的值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183775"/>
              </p:ext>
            </p:extLst>
          </p:nvPr>
        </p:nvGraphicFramePr>
        <p:xfrm>
          <a:off x="458424" y="1367058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文档" r:id="rId4" imgW="4510061" imgH="396806" progId="Word.Document.12">
                  <p:embed/>
                </p:oleObj>
              </mc:Choice>
              <mc:Fallback>
                <p:oleObj name="文档" r:id="rId4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367058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6665022"/>
              </p:ext>
            </p:extLst>
          </p:nvPr>
        </p:nvGraphicFramePr>
        <p:xfrm>
          <a:off x="458424" y="2379621"/>
          <a:ext cx="11275153" cy="396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文档" r:id="rId7" imgW="4510061" imgH="1586865" progId="Word.Document.12">
                  <p:embed/>
                </p:oleObj>
              </mc:Choice>
              <mc:Fallback>
                <p:oleObj name="文档" r:id="rId7" imgW="4510061" imgH="15868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379621"/>
                        <a:ext cx="11275153" cy="396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6880344"/>
              </p:ext>
            </p:extLst>
          </p:nvPr>
        </p:nvGraphicFramePr>
        <p:xfrm>
          <a:off x="458424" y="1233371"/>
          <a:ext cx="11275153" cy="396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文档" r:id="rId4" imgW="4510061" imgH="1586865" progId="Word.Document.12">
                  <p:embed/>
                </p:oleObj>
              </mc:Choice>
              <mc:Fallback>
                <p:oleObj name="文档" r:id="rId4" imgW="4510061" imgH="15868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233371"/>
                        <a:ext cx="11275153" cy="396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85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2301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反思感悟 对于给角求值问题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一般有两类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直接正用或逆用二倍角公式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结合诱导公式和同角三角函数的基本关系对已知角进行转化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一般可以化为特殊角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若形式为几个非特殊角的三角函数式相乘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则一般逆用二倍角的正弦公式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在求解过程中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需利用互余关系配凑出应用二倍角公式的条件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使得问题出现可以连用二倍角的正弦公式的形式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108450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25879"/>
            <a:ext cx="457048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变式训练</a:t>
            </a: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求下列各式的值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880080"/>
              </p:ext>
            </p:extLst>
          </p:nvPr>
        </p:nvGraphicFramePr>
        <p:xfrm>
          <a:off x="458424" y="1508594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文档" r:id="rId4" imgW="4510061" imgH="396806" progId="Word.Document.12">
                  <p:embed/>
                </p:oleObj>
              </mc:Choice>
              <mc:Fallback>
                <p:oleObj name="文档" r:id="rId4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508594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688118"/>
              </p:ext>
            </p:extLst>
          </p:nvPr>
        </p:nvGraphicFramePr>
        <p:xfrm>
          <a:off x="458424" y="2500609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文档" r:id="rId7" imgW="4510061" imgH="1190059" progId="Word.Document.12">
                  <p:embed/>
                </p:oleObj>
              </mc:Choice>
              <mc:Fallback>
                <p:oleObj name="文档" r:id="rId7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500609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070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149939"/>
            <a:ext cx="11810998" cy="433754"/>
            <a:chOff x="381000" y="205656"/>
            <a:chExt cx="1181099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810998" cy="433754"/>
              <a:chOff x="3048000" y="2286000"/>
              <a:chExt cx="5015133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694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803112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利用二倍角公式解决条件求值问题</a:t>
                </a:r>
                <a:endParaRPr lang="en-US" altLang="zh-CN" sz="2800" b="1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endParaRP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331282"/>
              </p:ext>
            </p:extLst>
          </p:nvPr>
        </p:nvGraphicFramePr>
        <p:xfrm>
          <a:off x="458424" y="789404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文档" r:id="rId4" imgW="4510061" imgH="396806" progId="Word.Document.12">
                  <p:embed/>
                </p:oleObj>
              </mc:Choice>
              <mc:Fallback>
                <p:oleObj name="文档" r:id="rId4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789404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093680"/>
              </p:ext>
            </p:extLst>
          </p:nvPr>
        </p:nvGraphicFramePr>
        <p:xfrm>
          <a:off x="458424" y="1911467"/>
          <a:ext cx="11275153" cy="396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文档" r:id="rId7" imgW="4510061" imgH="1586865" progId="Word.Document.12">
                  <p:embed/>
                </p:oleObj>
              </mc:Choice>
              <mc:Fallback>
                <p:oleObj name="文档" r:id="rId7" imgW="4510061" imgH="15868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1911467"/>
                        <a:ext cx="11275153" cy="396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928113"/>
              </p:ext>
            </p:extLst>
          </p:nvPr>
        </p:nvGraphicFramePr>
        <p:xfrm>
          <a:off x="458424" y="457563"/>
          <a:ext cx="11275153" cy="5950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文档" r:id="rId4" imgW="4510061" imgH="2382280" progId="Word.Document.12">
                  <p:embed/>
                </p:oleObj>
              </mc:Choice>
              <mc:Fallback>
                <p:oleObj name="文档" r:id="rId4" imgW="4510061" imgH="23822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57563"/>
                        <a:ext cx="11275153" cy="5950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280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0308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反思感悟 解决条件求值问题的方法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给值求值问题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注意寻找已知式与未知式之间的联系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有两个观察方向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有方向地将已知式或未知式化简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使关系明朗化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寻找角之间的关系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看是否适合相关公式的使用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注意常见角的变换和角之间的二倍关系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86752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337982"/>
              </p:ext>
            </p:extLst>
          </p:nvPr>
        </p:nvGraphicFramePr>
        <p:xfrm>
          <a:off x="458424" y="2068426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文档" r:id="rId4" imgW="4510061" imgH="1190059" progId="Word.Document.12">
                  <p:embed/>
                </p:oleObj>
              </mc:Choice>
              <mc:Fallback>
                <p:oleObj name="文档" r:id="rId4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068426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9288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97584"/>
            <a:ext cx="1327608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A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537337"/>
              </p:ext>
            </p:extLst>
          </p:nvPr>
        </p:nvGraphicFramePr>
        <p:xfrm>
          <a:off x="458424" y="1785729"/>
          <a:ext cx="11275153" cy="396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文档" r:id="rId4" imgW="4510061" imgH="1586865" progId="Word.Document.12">
                  <p:embed/>
                </p:oleObj>
              </mc:Choice>
              <mc:Fallback>
                <p:oleObj name="文档" r:id="rId4" imgW="4510061" imgH="15868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785729"/>
                        <a:ext cx="11275153" cy="396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4443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810998" cy="433754"/>
            <a:chOff x="381000" y="205656"/>
            <a:chExt cx="1181099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810998" cy="433754"/>
              <a:chOff x="3048000" y="2286000"/>
              <a:chExt cx="5015133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694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探究三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803112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利用二倍角公式解决化简与证明问题</a:t>
                </a: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073446"/>
              </p:ext>
            </p:extLst>
          </p:nvPr>
        </p:nvGraphicFramePr>
        <p:xfrm>
          <a:off x="458424" y="1908089"/>
          <a:ext cx="11275153" cy="148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文档" r:id="rId4" imgW="4510061" imgH="595029" progId="Word.Document.12">
                  <p:embed/>
                </p:oleObj>
              </mc:Choice>
              <mc:Fallback>
                <p:oleObj name="文档" r:id="rId4" imgW="4510061" imgH="5950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1908089"/>
                        <a:ext cx="11275153" cy="1487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57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7786"/>
              </p:ext>
            </p:extLst>
          </p:nvPr>
        </p:nvGraphicFramePr>
        <p:xfrm>
          <a:off x="463550" y="333286"/>
          <a:ext cx="11261725" cy="592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文档" r:id="rId4" imgW="4510061" imgH="2382280" progId="Word.Document.12">
                  <p:embed/>
                </p:oleObj>
              </mc:Choice>
              <mc:Fallback>
                <p:oleObj name="文档" r:id="rId4" imgW="4510061" imgH="23822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550" y="333286"/>
                        <a:ext cx="11261725" cy="5926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28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52643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反思感悟 </a:t>
            </a:r>
            <a:r>
              <a:rPr lang="en-US" altLang="zh-CN" sz="2800" b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对于三角函数式的化简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要注意以下两点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三角函数式的化简有四个方向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即分别从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角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函数名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幂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形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着手分析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消除差异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三角函数式的化简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主要有以下几类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①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对三角的和式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基本思路是降幂、消项和逆用公式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对三角的分式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基本思路是分子与分母的约分和逆用公式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最终变成整式或数值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宋体" panose="02010600030101010101" pitchFamily="2" charset="-122"/>
                <a:sym typeface="阿里巴巴普惠体"/>
              </a:rPr>
              <a:t>③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对二次根式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则需要运用倍角公式的变形形式</a:t>
            </a:r>
            <a:r>
              <a:rPr lang="en-US" altLang="zh-CN" sz="2800" i="1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在具体过程中体现的则是化归的思想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是一个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化异为同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的过程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涉及切弦互化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函数名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的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化同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”;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角的变换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单角化倍角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单角化复角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”“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复角化复角</a:t>
            </a:r>
            <a:r>
              <a:rPr lang="en-US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等具体手段</a:t>
            </a:r>
            <a:r>
              <a:rPr lang="en-US" altLang="zh-CN" sz="2800" i="1" dirty="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91517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20308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对于无条件的恒等式证明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常采用的方法有化繁为简和左右归一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关键是分析等式两边三角函数式的特点、角度和函数关系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找出差异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寻找突破口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;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有条件的等式证明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常先观察条件及式中左右两边三角函数式的区别与联系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灵活使用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另外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需注意二倍角公式本身是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升幂公式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其变形是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“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降幂公式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”,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在证明中应灵活选择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353450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50338"/>
              </p:ext>
            </p:extLst>
          </p:nvPr>
        </p:nvGraphicFramePr>
        <p:xfrm>
          <a:off x="458424" y="2812214"/>
          <a:ext cx="11275153" cy="148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文档" r:id="rId4" imgW="4510061" imgH="595029" progId="Word.Document.12">
                  <p:embed/>
                </p:oleObj>
              </mc:Choice>
              <mc:Fallback>
                <p:oleObj name="文档" r:id="rId4" imgW="4510061" imgH="5950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812214"/>
                        <a:ext cx="11275153" cy="1487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62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277356"/>
              </p:ext>
            </p:extLst>
          </p:nvPr>
        </p:nvGraphicFramePr>
        <p:xfrm>
          <a:off x="458424" y="623150"/>
          <a:ext cx="11275153" cy="5454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文档" r:id="rId4" imgW="4510061" imgH="2181894" progId="Word.Document.12">
                  <p:embed/>
                </p:oleObj>
              </mc:Choice>
              <mc:Fallback>
                <p:oleObj name="文档" r:id="rId4" imgW="4510061" imgH="21818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623150"/>
                        <a:ext cx="11275153" cy="54547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628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149939"/>
            <a:ext cx="10685217" cy="433754"/>
            <a:chOff x="381000" y="205656"/>
            <a:chExt cx="10685217" cy="433754"/>
          </a:xfrm>
        </p:grpSpPr>
        <p:sp>
          <p:nvSpPr>
            <p:cNvPr id="10" name="矩形 9"/>
            <p:cNvSpPr/>
            <p:nvPr/>
          </p:nvSpPr>
          <p:spPr>
            <a:xfrm>
              <a:off x="874159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0685217" cy="433754"/>
              <a:chOff x="3048000" y="2286000"/>
              <a:chExt cx="4537109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209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325088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素养形成</a:t>
                </a:r>
                <a:endParaRPr lang="en-US" altLang="zh-CN" sz="2800" b="1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endParaRP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19357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两组拓展公式及应用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三倍角公式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(1)sin 3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sin(2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2sin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2sin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4sin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(2)cos 3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cos(2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+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sin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(2cos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1)cos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2(1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cos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)cos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=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4cos</a:t>
            </a:r>
            <a:r>
              <a:rPr lang="en-US" altLang="zh-CN" sz="2800" baseline="300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-</a:t>
            </a:r>
            <a:r>
              <a:rPr lang="en-US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3cos </a:t>
            </a:r>
            <a:r>
              <a:rPr lang="en-US" altLang="zh-CN" sz="2800" i="1">
                <a:solidFill>
                  <a:srgbClr val="000000"/>
                </a:solidFill>
                <a:effectLst/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α</a:t>
            </a:r>
            <a:r>
              <a:rPr lang="en-US" altLang="zh-CN" sz="2800" i="1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01831"/>
              </p:ext>
            </p:extLst>
          </p:nvPr>
        </p:nvGraphicFramePr>
        <p:xfrm>
          <a:off x="458424" y="4250597"/>
          <a:ext cx="11275153" cy="148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文档" r:id="rId4" imgW="4510061" imgH="595029" progId="Word.Document.12">
                  <p:embed/>
                </p:oleObj>
              </mc:Choice>
              <mc:Fallback>
                <p:oleObj name="文档" r:id="rId4" imgW="4510061" imgH="5950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250597"/>
                        <a:ext cx="11275153" cy="1487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5190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29008"/>
            <a:ext cx="2029723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2</a:t>
            </a:r>
            <a:r>
              <a:rPr lang="en-US" altLang="zh-CN" sz="2800" i="1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.</a:t>
            </a:r>
            <a:r>
              <a:rPr lang="zh-CN" altLang="zh-CN" sz="280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万能</a:t>
            </a:r>
            <a:r>
              <a:rPr lang="zh-CN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公式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3800846"/>
              </p:ext>
            </p:extLst>
          </p:nvPr>
        </p:nvGraphicFramePr>
        <p:xfrm>
          <a:off x="458424" y="2564435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文档" r:id="rId4" imgW="4510061" imgH="793252" progId="Word.Document.12">
                  <p:embed/>
                </p:oleObj>
              </mc:Choice>
              <mc:Fallback>
                <p:oleObj name="文档" r:id="rId4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564435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37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55387"/>
              </p:ext>
            </p:extLst>
          </p:nvPr>
        </p:nvGraphicFramePr>
        <p:xfrm>
          <a:off x="458424" y="2564435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文档" r:id="rId4" imgW="4510061" imgH="793252" progId="Word.Document.12">
                  <p:embed/>
                </p:oleObj>
              </mc:Choice>
              <mc:Fallback>
                <p:oleObj name="文档" r:id="rId4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564435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851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547985"/>
              </p:ext>
            </p:extLst>
          </p:nvPr>
        </p:nvGraphicFramePr>
        <p:xfrm>
          <a:off x="458424" y="501508"/>
          <a:ext cx="11275153" cy="4958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文档" r:id="rId4" imgW="4510061" imgH="1983311" progId="Word.Document.12">
                  <p:embed/>
                </p:oleObj>
              </mc:Choice>
              <mc:Fallback>
                <p:oleObj name="文档" r:id="rId4" imgW="4510061" imgH="1983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01508"/>
                        <a:ext cx="11275153" cy="4958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5163679"/>
            <a:ext cx="134043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D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</p:spTree>
    <p:extLst>
      <p:ext uri="{BB962C8B-B14F-4D97-AF65-F5344CB8AC3E}">
        <p14:creationId xmlns:p14="http://schemas.microsoft.com/office/powerpoint/2010/main" val="92237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0" y="149939"/>
            <a:ext cx="10685217" cy="433754"/>
            <a:chOff x="381000" y="205656"/>
            <a:chExt cx="10685217" cy="433754"/>
          </a:xfrm>
        </p:grpSpPr>
        <p:sp>
          <p:nvSpPr>
            <p:cNvPr id="10" name="矩形 9"/>
            <p:cNvSpPr/>
            <p:nvPr/>
          </p:nvSpPr>
          <p:spPr>
            <a:xfrm>
              <a:off x="874159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阿里巴巴普惠体"/>
                <a:ea typeface="微软雅黑"/>
                <a:sym typeface="阿里巴巴普惠体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0685217" cy="433754"/>
              <a:chOff x="3048000" y="2286000"/>
              <a:chExt cx="4537109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209403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smtClean="0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325088" y="2286000"/>
                <a:ext cx="4260021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 </a:t>
                </a:r>
                <a:r>
                  <a:rPr lang="zh-CN" altLang="en-US" sz="2800" b="1">
                    <a:solidFill>
                      <a:schemeClr val="bg1"/>
                    </a:solidFill>
                    <a:latin typeface="阿里巴巴普惠体"/>
                    <a:ea typeface="微软雅黑"/>
                    <a:sym typeface="阿里巴巴普惠体"/>
                  </a:rPr>
                  <a:t>当堂检测</a:t>
                </a:r>
                <a:endParaRPr lang="en-US" altLang="zh-CN" sz="2800" b="1">
                  <a:solidFill>
                    <a:schemeClr val="bg1"/>
                  </a:solidFill>
                  <a:latin typeface="阿里巴巴普惠体"/>
                  <a:ea typeface="微软雅黑"/>
                  <a:sym typeface="阿里巴巴普惠体"/>
                </a:endParaRPr>
              </a:p>
            </p:txBody>
          </p:sp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11699"/>
              </p:ext>
            </p:extLst>
          </p:nvPr>
        </p:nvGraphicFramePr>
        <p:xfrm>
          <a:off x="458424" y="599224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文档" r:id="rId4" imgW="4510061" imgH="1190059" progId="Word.Document.12">
                  <p:embed/>
                </p:oleObj>
              </mc:Choice>
              <mc:Fallback>
                <p:oleObj name="文档" r:id="rId4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599224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533276"/>
            <a:ext cx="1433406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D 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6063699"/>
              </p:ext>
            </p:extLst>
          </p:nvPr>
        </p:nvGraphicFramePr>
        <p:xfrm>
          <a:off x="458424" y="4023368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文档" r:id="rId7" imgW="4510061" imgH="793252" progId="Word.Document.12">
                  <p:embed/>
                </p:oleObj>
              </mc:Choice>
              <mc:Fallback>
                <p:oleObj name="文档" r:id="rId7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023368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732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074767"/>
              </p:ext>
            </p:extLst>
          </p:nvPr>
        </p:nvGraphicFramePr>
        <p:xfrm>
          <a:off x="540618" y="588949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文档" r:id="rId4" imgW="4510061" imgH="1190059" progId="Word.Document.12">
                  <p:embed/>
                </p:oleObj>
              </mc:Choice>
              <mc:Fallback>
                <p:oleObj name="文档" r:id="rId4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0618" y="588949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463194" y="3461963"/>
            <a:ext cx="1311578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B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86934"/>
              </p:ext>
            </p:extLst>
          </p:nvPr>
        </p:nvGraphicFramePr>
        <p:xfrm>
          <a:off x="540618" y="4019235"/>
          <a:ext cx="11275153" cy="1487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文档" r:id="rId7" imgW="4510061" imgH="595029" progId="Word.Document.12">
                  <p:embed/>
                </p:oleObj>
              </mc:Choice>
              <mc:Fallback>
                <p:oleObj name="文档" r:id="rId7" imgW="4510061" imgH="59502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0618" y="4019235"/>
                        <a:ext cx="11275153" cy="1487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3290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624025"/>
              </p:ext>
            </p:extLst>
          </p:nvPr>
        </p:nvGraphicFramePr>
        <p:xfrm>
          <a:off x="458424" y="465658"/>
          <a:ext cx="11275153" cy="2975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文档" r:id="rId4" imgW="4510061" imgH="1190059" progId="Word.Document.12">
                  <p:embed/>
                </p:oleObj>
              </mc:Choice>
              <mc:Fallback>
                <p:oleObj name="文档" r:id="rId4" imgW="4510061" imgH="11900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465658"/>
                        <a:ext cx="11275153" cy="2975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440806"/>
            <a:ext cx="1303562" cy="6100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>
                <a:solidFill>
                  <a:srgbClr val="4040C8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答案 </a:t>
            </a:r>
            <a:r>
              <a:rPr lang="en-US" altLang="zh-CN" sz="2800" smtClean="0">
                <a:solidFill>
                  <a:srgbClr val="000000"/>
                </a:solidFill>
                <a:latin typeface="阿里巴巴普惠体"/>
                <a:ea typeface="微软雅黑"/>
                <a:cs typeface="Times New Roman" panose="02020603050405020304" pitchFamily="18" charset="0"/>
                <a:sym typeface="阿里巴巴普惠体"/>
              </a:rPr>
              <a:t>C </a:t>
            </a:r>
            <a:endParaRPr lang="zh-CN" altLang="zh-CN" sz="2800">
              <a:solidFill>
                <a:srgbClr val="000000"/>
              </a:solidFill>
              <a:effectLst/>
              <a:latin typeface="阿里巴巴普惠体"/>
              <a:ea typeface="微软雅黑"/>
              <a:cs typeface="Times New Roman" panose="02020603050405020304" pitchFamily="18" charset="0"/>
              <a:sym typeface="阿里巴巴普惠体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800668"/>
              </p:ext>
            </p:extLst>
          </p:nvPr>
        </p:nvGraphicFramePr>
        <p:xfrm>
          <a:off x="458424" y="4033019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文档" r:id="rId7" imgW="4510061" imgH="793252" progId="Word.Document.12">
                  <p:embed/>
                </p:oleObj>
              </mc:Choice>
              <mc:Fallback>
                <p:oleObj name="文档" r:id="rId7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4033019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055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869990"/>
              </p:ext>
            </p:extLst>
          </p:nvPr>
        </p:nvGraphicFramePr>
        <p:xfrm>
          <a:off x="381000" y="1272614"/>
          <a:ext cx="11430000" cy="995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文档" r:id="rId4" imgW="11268143" imgH="980985" progId="Word.Document.12">
                  <p:embed/>
                </p:oleObj>
              </mc:Choice>
              <mc:Fallback>
                <p:oleObj name="文档" r:id="rId4" imgW="11268143" imgH="980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272614"/>
                        <a:ext cx="11430000" cy="995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00087"/>
              </p:ext>
            </p:extLst>
          </p:nvPr>
        </p:nvGraphicFramePr>
        <p:xfrm>
          <a:off x="458424" y="2267690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文档" r:id="rId7" imgW="4510061" imgH="396806" progId="Word.Document.12">
                  <p:embed/>
                </p:oleObj>
              </mc:Choice>
              <mc:Fallback>
                <p:oleObj name="文档" r:id="rId7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8424" y="2267690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959759"/>
              </p:ext>
            </p:extLst>
          </p:nvPr>
        </p:nvGraphicFramePr>
        <p:xfrm>
          <a:off x="458424" y="3259705"/>
          <a:ext cx="11275153" cy="992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文档" r:id="rId10" imgW="4510061" imgH="396806" progId="Word.Document.12">
                  <p:embed/>
                </p:oleObj>
              </mc:Choice>
              <mc:Fallback>
                <p:oleObj name="文档" r:id="rId10" imgW="4510061" imgH="3968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8424" y="3259705"/>
                        <a:ext cx="11275153" cy="992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049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640962"/>
              </p:ext>
            </p:extLst>
          </p:nvPr>
        </p:nvGraphicFramePr>
        <p:xfrm>
          <a:off x="458424" y="2564435"/>
          <a:ext cx="11275153" cy="1983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文档" r:id="rId4" imgW="4510061" imgH="793252" progId="Word.Document.12">
                  <p:embed/>
                </p:oleObj>
              </mc:Choice>
              <mc:Fallback>
                <p:oleObj name="文档" r:id="rId4" imgW="4510061" imgH="7932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2564435"/>
                        <a:ext cx="11275153" cy="1983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247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941572"/>
              </p:ext>
            </p:extLst>
          </p:nvPr>
        </p:nvGraphicFramePr>
        <p:xfrm>
          <a:off x="458424" y="922749"/>
          <a:ext cx="11275153" cy="4958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文档" r:id="rId4" imgW="4510061" imgH="1983311" progId="Word.Document.12">
                  <p:embed/>
                </p:oleObj>
              </mc:Choice>
              <mc:Fallback>
                <p:oleObj name="文档" r:id="rId4" imgW="4510061" imgH="1983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8424" y="922749"/>
                        <a:ext cx="11275153" cy="4958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026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55463D"/>
                </a:solidFill>
                <a:latin typeface="阿里巴巴普惠体"/>
                <a:ea typeface="微软雅黑"/>
                <a:sym typeface="阿里巴巴普惠体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64223" y="4392141"/>
            <a:ext cx="9663556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/</a:t>
            </a:r>
            <a:endParaRPr lang="en-US" altLang="zh-CN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Excel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件：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/</a:t>
            </a:r>
            <a:r>
              <a:rPr lang="en-US" altLang="zh-CN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  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</a:t>
            </a:r>
            <a:r>
              <a:rPr lang="zh-CN" altLang="en-US" sz="16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600" dirty="0" smtClean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6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5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28410" y="3097350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50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buFont typeface="Wingdings" pitchFamily="2" charset="2"/>
              <a:buNone/>
              <a:defRPr/>
            </a:pPr>
            <a:r>
              <a:rPr lang="zh-CN" altLang="en-US" sz="2000" b="1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刻录光碟销售。</a:t>
            </a:r>
            <a:endParaRPr lang="zh-CN" altLang="en-GB" sz="1200" kern="0" dirty="0" smtClea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49476" y="356250"/>
            <a:ext cx="7893049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438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模板网-WWW.1PPT.COM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理科模板.potx" id="{05826FBC-0476-4FCB-B977-CA3F865E7FE8}" vid="{B144E781-9AB7-495A-AD7E-C26B852AA6C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105</TotalTime>
  <Words>1735</Words>
  <Application>Microsoft Office PowerPoint</Application>
  <PresentationFormat>自定义</PresentationFormat>
  <Paragraphs>91</Paragraphs>
  <Slides>38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1" baseType="lpstr">
      <vt:lpstr>第一PPT模板网-WWW.1PPT.COM</vt:lpstr>
      <vt:lpstr>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第一PPT模板网-WWW.1PPT.COM</dc:title>
  <dc:creator>第一PPT模板网-WWW.1PPT.COM</dc:creator>
  <cp:lastModifiedBy>123</cp:lastModifiedBy>
  <cp:revision>57</cp:revision>
  <dcterms:created xsi:type="dcterms:W3CDTF">2020-12-30T07:17:36Z</dcterms:created>
  <dcterms:modified xsi:type="dcterms:W3CDTF">2025-07-21T06:33:01Z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